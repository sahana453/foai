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a7fb424-5612-1445-e7f5-cf54886b12ef}">
          <p14:sldIdLst>
            <p14:sldId id="256"/>
          </p14:sldIdLst>
        </p14:section>
        <p14:section name="Problem and approach" id="{a79cecd4-1493-376a-8165-873d9bd0f4dd}">
          <p14:sldIdLst>
            <p14:sldId id="257"/>
            <p14:sldId id="258"/>
            <p14:sldId id="259"/>
            <p14:sldId id="260"/>
            <p14:sldId id="261"/>
          </p14:sldIdLst>
        </p14:section>
        <p14:section name="System design" id="{931e9c58-39b7-fbd7-d0fe-54e66810b6c8}">
          <p14:sldIdLst>
            <p14:sldId id="262"/>
            <p14:sldId id="263"/>
            <p14:sldId id="264"/>
            <p14:sldId id="265"/>
          </p14:sldIdLst>
        </p14:section>
        <p14:section name="Implementation" id="{fd772f3c-69ca-b48a-4a50-938a13e96c4a}">
          <p14:sldIdLst>
            <p14:sldId id="266"/>
            <p14:sldId id="267"/>
            <p14:sldId id="268"/>
          </p14:sldIdLst>
        </p14:section>
        <p14:section name="Wrap-up" id="{bb32834f-4667-981b-855f-fa058a2be212}">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Introduce yourselves (SAHANA A and SAHANA P), the project title and your guide. Say clearly that EmergencyAI is an educational prototype. The dashboard graphic on the right is a conceptual illustration, not a screenshot of the real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EmergencyAI is a web-based prototype that helps an operator record an emergency, understand how serious it may be, and see which ambulance and hospital options might suit it. Emergency coordination matters because delays and scattered information can slow down decisions. The four functions at the bottom - intake, observation analysis, ambulance support and hospital recommendations - all come together in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challenges one by one. Patient details can be spread across places. It can be hard to see which ambulances are free and how far away they are. Hospitals differ in beds, ICU capacity, ventilators and specialists, so comparing readiness is slow. And operators often review several emergencies at once, under time pressure. This is a general description of the difficulties, not a claim about any one real system. The red panel on the right states the need: a single view to record, score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First, record emergencies in a structured way. Second, monitor emergencies, ambulances and hospitals on a dashboard. Third, give each case a rule-based prototype severity score. Fourth, recommend an ambulance. Fifth, match the case to hospital resources. Sixth, support review with alerts, patient records, analytics and an emergency simulation. Stress the word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here: do not say that all existing systems are manual or ineffective. Many real systems are already well integrated. The left side describes fragmented or manual coordination, which can happen in some settings. The right side shows what this prototype does: one dashboard, structured intake, a rule-based score and ranked suggestions. Then be honest about benefits and limitations: it uses demo data and heuristics, and it is not connected to real emergency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four stages in order. One: the operator enters the emergency details in the React interface. Two: the FastAPI backend receives and validates the request. Three: the rule-based severity engine checks the observations and identifies risk factors. Four: the allocation logic ranks possible ambulances and hospitals. The dashboard then shows the severity result, a recommended ambulance and ranked hospitals. Recommendations support the operator; they do not replace human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from top to bottom. The user or operator uses the React and Vite frontend. The frontend sends REST API requests to the FastAPI backend. The backend does request validation and business logic, which uses two parts: the rule-based severity engine and the resource allocation logic. Data is read and written through SQLAlchemy into a SQLite database. On the right are the seven main data entities: Emergency, Patient, Ambulance, Hospital, Alert, HospitalResource and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boxes. Row one: enter the emergency information, validate it, assess patient observations and context, and calculate a prototype severity score. Row two reads from right to left: assign a category (LOW, MEDIUM, HIGH or CRITICAL), check ambulance availability and travel estimates, rank hospitals using capacity, occupancy, specialists and other resource information, then display the recommendations and store or retrieve records. The coloured pills at the bottom show the four severity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severity engine is rule-based. It looks at indicators such as low oxygen saturation, high heart rate, low systolic blood pressure, rapid breathing, high temperature, severe injury information, chest pain or breathing difficulty, and loss of consciousness. Each rule that applies adds to a cumulative score, which is capped at 100 and then mapped to a category and a suggested action. Important: the exact weights and thresholds are not defined in this presentation, and these are prototype heuristics that have not been clinically validated. Do not claim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recommendation engines work side by side. For ambulances the factors are availability, estimated distance, likely travel time and the urgency of the case. For hospitals the factors are ICU and emergency capacity, ventilator availability, specialist matching, occupancy, and estimated distance and travel time. Emphasise the strip at the bottom: results are based on prototype data and heuristic ranking, not live operational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modules make up the application. Emergency intake and case management records the cases. Rule-based severity analysis scores them. Ambulance operations handles unit availability and suggestions. Hospital operations and resource matching compares hospitals. The dashboard and alerts give the operator an overview. Patient records and analytics show stored data and charts. Emergency simulation lets you run demo emergencies. All of them share the same React front end, FastAPI back end and SQLite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has three layers. Frontend: React with Vite for the interface and build tooling, React Router for navigation, Recharts for charts, and Leaflet for map visualization where it is configured. Backend: Python with FastAPI for the REST API, Pydantic for request validation, and Uvicorn to run the server. Data: SQLAlchemy for database access and SQLite for local persistence. Only these technologies are used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to run the prototype locally. The backend API runs at http://127.0.0.1:8000, and Swagger documentation is at http://127.0.0.1:8000/docs. The frontend usually runs at http://localhost:5173. The database is a local SQLite file. For the demo, follow the six steps: dashboard, emergency intake, severity output, ambulance recommendation, hospital recommendation, then alerts and analytics. Replace the placeholder box with verified screenshots of the real application, if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limitations. The data is local SQLite with demonstration seed data, locations are hard-coded examples, there is no live GPS, no direct integration with hospital systems or emergency services, and the rule-based scoring and allocation have not been clinically or operationally validated. Then present future work: secure backend and authentication, authorized integrations, reliable live location and routes, better monitoring and data protection, systematic testing with qualified professionals, and usability and accessibility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EmergencyAI shows how emergency intake, rule-based severity analysis and resource allocation can be integrated in one web application built with React, FastAPI and SQLite. It is an educational prototype, not a production clinical system, and it makes no accuracy or medical validation claims. The next steps are security, validated rules and authorized integrations.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5943600" cy="86868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1000" dirty="0">
                <a:solidFill>
                  <a:schemeClr val="tx2"/>
                </a:solidFill>
              </a:rPr>
              <a:t>EmergencyAI – AI-Based Emergency Response Coordination and Smart Hospital Resource Allocation System</a:t>
            </a:r>
            <a:endParaRPr lang="en-US" sz="10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3.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731520"/>
            <a:ext cx="59436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COLLEGE PROJECT REVIEW</a:t>
            </a:r>
            <a:endParaRPr lang="en-US" sz="1200" dirty="0"/>
          </a:p>
        </p:txBody>
      </p:sp>
      <p:sp>
        <p:nvSpPr>
          <p:cNvPr id="4" name="Text 0"/>
          <p:cNvSpPr/>
          <p:nvPr>
            <p:ph idx="100" type="title" hasCustomPrompt="1"/>
          </p:nvPr>
        </p:nvSpPr>
        <p:spPr>
          <a:xfrm>
            <a:off x="640080" y="1188720"/>
            <a:ext cx="5943600" cy="868680"/>
          </a:xfrm>
          <a:prstGeom prst="rect">
            <a:avLst/>
          </a:prstGeom>
          <a:noFill/>
          <a:ln/>
        </p:spPr>
        <p:txBody>
          <a:bodyPr wrap="square" lIns="0" tIns="0" rIns="0" bIns="0" rtlCol="0" anchor="ctr"/>
          <a:lstStyle/>
          <a:p>
            <a:pPr algn="l" indent="0" marL="0">
              <a:buNone/>
            </a:pPr>
            <a:r>
              <a:rPr lang="en-US" sz="4800" b="1" dirty="0">
                <a:solidFill>
                  <a:schemeClr val="tx1"/>
                </a:solidFill>
              </a:rPr>
              <a:t>EmergencyAI</a:t>
            </a:r>
            <a:endParaRPr lang="en-US" sz="4800" dirty="0"/>
          </a:p>
        </p:txBody>
      </p:sp>
      <p:sp>
        <p:nvSpPr>
          <p:cNvPr id="5" name="Text 2"/>
          <p:cNvSpPr txBox="1"/>
          <p:nvPr/>
        </p:nvSpPr>
        <p:spPr>
          <a:xfrm>
            <a:off x="640080" y="2148840"/>
            <a:ext cx="5943600" cy="1143000"/>
          </a:xfrm>
          <a:prstGeom prst="rect">
            <a:avLst/>
          </a:prstGeom>
          <a:noFill/>
          <a:ln/>
        </p:spPr>
        <p:txBody>
          <a:bodyPr wrap="square" lIns="0" tIns="0" rIns="0" bIns="0" rtlCol="0" anchor="t"/>
          <a:lstStyle/>
          <a:p>
            <a:pPr indent="0" marL="0">
              <a:buNone/>
            </a:pPr>
            <a:r>
              <a:rPr lang="en-US" sz="2200" b="1" dirty="0">
                <a:solidFill>
                  <a:schemeClr val="tx1"/>
                </a:solidFill>
              </a:rPr>
              <a:t>AI-Based Emergency Response Coordination and Smart Hospital Resource Allocation System</a:t>
            </a:r>
            <a:endParaRPr lang="en-US" sz="2200" dirty="0"/>
          </a:p>
        </p:txBody>
      </p:sp>
      <p:sp>
        <p:nvSpPr>
          <p:cNvPr id="6" name="Text 3"/>
          <p:cNvSpPr txBox="1"/>
          <p:nvPr/>
        </p:nvSpPr>
        <p:spPr>
          <a:xfrm>
            <a:off x="640080" y="3383280"/>
            <a:ext cx="5943600" cy="365760"/>
          </a:xfrm>
          <a:prstGeom prst="rect">
            <a:avLst/>
          </a:prstGeom>
          <a:noFill/>
          <a:ln/>
        </p:spPr>
        <p:txBody>
          <a:bodyPr wrap="square" lIns="0" tIns="0" rIns="0" bIns="0" rtlCol="0" anchor="t"/>
          <a:lstStyle/>
          <a:p>
            <a:pPr indent="0" marL="0">
              <a:buNone/>
            </a:pPr>
            <a:r>
              <a:rPr lang="en-US" sz="1600" i="1" dirty="0">
                <a:solidFill>
                  <a:schemeClr val="accent2"/>
                </a:solidFill>
              </a:rPr>
              <a:t>From emergency intake to smarter resource decisions.</a:t>
            </a:r>
            <a:endParaRPr lang="en-US" sz="1600" dirty="0"/>
          </a:p>
        </p:txBody>
      </p:sp>
      <p:sp>
        <p:nvSpPr>
          <p:cNvPr id="7" name="Text 4"/>
          <p:cNvSpPr txBox="1"/>
          <p:nvPr/>
        </p:nvSpPr>
        <p:spPr>
          <a:xfrm>
            <a:off x="640080" y="4069080"/>
            <a:ext cx="5943600" cy="16459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SAHANA A – 2116240701451</a:t>
            </a:r>
            <a:endParaRPr lang="en-US" sz="1400" dirty="0"/>
          </a:p>
          <a:p>
            <a:pPr indent="0" marL="0">
              <a:spcAft>
                <a:spcPts val="400"/>
              </a:spcAft>
              <a:buNone/>
            </a:pPr>
            <a:r>
              <a:rPr lang="en-US" sz="1400" b="1" dirty="0">
                <a:solidFill>
                  <a:schemeClr val="tx1"/>
                </a:solidFill>
              </a:rPr>
              <a:t>SAHANA P – 2116240701451</a:t>
            </a:r>
            <a:endParaRPr lang="en-US" sz="1400" dirty="0"/>
          </a:p>
          <a:p>
            <a:pPr indent="0" marL="0">
              <a:spcAft>
                <a:spcPts val="400"/>
              </a:spcAft>
              <a:buNone/>
            </a:pPr>
            <a:r>
              <a:rPr lang="en-US" sz="1400" dirty="0">
                <a:solidFill>
                  <a:schemeClr val="tx1"/>
                </a:solidFill>
              </a:rPr>
              <a:t>Department: Computer Science and Engineering</a:t>
            </a:r>
            <a:endParaRPr lang="en-US" sz="1400" dirty="0"/>
          </a:p>
          <a:p>
            <a:pPr indent="0" marL="0">
              <a:spcAft>
                <a:spcPts val="400"/>
              </a:spcAft>
              <a:buNone/>
            </a:pPr>
            <a:r>
              <a:rPr lang="en-US" sz="1400" dirty="0">
                <a:solidFill>
                  <a:schemeClr val="tx1"/>
                </a:solidFill>
              </a:rPr>
              <a:t>College: Rajalakshmi Engineering College</a:t>
            </a:r>
            <a:endParaRPr lang="en-US" sz="1400" dirty="0"/>
          </a:p>
          <a:p>
            <a:pPr indent="0" marL="0">
              <a:spcAft>
                <a:spcPts val="400"/>
              </a:spcAft>
              <a:buNone/>
            </a:pPr>
            <a:r>
              <a:rPr lang="en-US" sz="1400" dirty="0">
                <a:solidFill>
                  <a:schemeClr val="tx1"/>
                </a:solidFill>
              </a:rPr>
              <a:t>Academic year: 2026</a:t>
            </a:r>
            <a:endParaRPr lang="en-US" sz="1400" dirty="0"/>
          </a:p>
        </p:txBody>
      </p:sp>
      <p:sp>
        <p:nvSpPr>
          <p:cNvPr id="8" name="Mockup frame"/>
          <p:cNvSpPr/>
          <p:nvPr/>
        </p:nvSpPr>
        <p:spPr>
          <a:xfrm>
            <a:off x="6949440" y="822960"/>
            <a:ext cx="4663440" cy="4846320"/>
          </a:xfrm>
          <a:prstGeom prst="roundRect">
            <a:avLst>
              <a:gd name="adj" fmla="val 2941"/>
            </a:avLst>
          </a:prstGeom>
          <a:solidFill>
            <a:schemeClr val="bg2"/>
          </a:solidFill>
          <a:ln w="19050">
            <a:solidFill>
              <a:schemeClr val="accent2"/>
            </a:solidFill>
            <a:prstDash val="solid"/>
          </a:ln>
        </p:spPr>
      </p:sp>
      <p:sp>
        <p:nvSpPr>
          <p:cNvPr id="9" name="Window dot"/>
          <p:cNvSpPr/>
          <p:nvPr/>
        </p:nvSpPr>
        <p:spPr>
          <a:xfrm>
            <a:off x="7178040" y="1005840"/>
            <a:ext cx="128016" cy="128016"/>
          </a:xfrm>
          <a:prstGeom prst="ellipse">
            <a:avLst/>
          </a:prstGeom>
          <a:solidFill>
            <a:schemeClr val="accent3"/>
          </a:solidFill>
          <a:ln/>
        </p:spPr>
      </p:sp>
      <p:sp>
        <p:nvSpPr>
          <p:cNvPr id="10" name="Window dot"/>
          <p:cNvSpPr/>
          <p:nvPr/>
        </p:nvSpPr>
        <p:spPr>
          <a:xfrm>
            <a:off x="7379208" y="1005840"/>
            <a:ext cx="128016" cy="128016"/>
          </a:xfrm>
          <a:prstGeom prst="ellipse">
            <a:avLst/>
          </a:prstGeom>
          <a:solidFill>
            <a:schemeClr val="accent4"/>
          </a:solidFill>
          <a:ln/>
        </p:spPr>
      </p:sp>
      <p:sp>
        <p:nvSpPr>
          <p:cNvPr id="11" name="Window dot"/>
          <p:cNvSpPr/>
          <p:nvPr/>
        </p:nvSpPr>
        <p:spPr>
          <a:xfrm>
            <a:off x="7580376" y="1005840"/>
            <a:ext cx="128016" cy="128016"/>
          </a:xfrm>
          <a:prstGeom prst="ellipse">
            <a:avLst/>
          </a:prstGeom>
          <a:solidFill>
            <a:schemeClr val="accent1"/>
          </a:solidFill>
          <a:ln/>
        </p:spPr>
      </p:sp>
      <p:sp>
        <p:nvSpPr>
          <p:cNvPr id="12" name="Text 9"/>
          <p:cNvSpPr txBox="1"/>
          <p:nvPr/>
        </p:nvSpPr>
        <p:spPr>
          <a:xfrm>
            <a:off x="7863840" y="941832"/>
            <a:ext cx="3200400" cy="256032"/>
          </a:xfrm>
          <a:prstGeom prst="rect">
            <a:avLst/>
          </a:prstGeom>
          <a:noFill/>
          <a:ln/>
        </p:spPr>
        <p:txBody>
          <a:bodyPr wrap="square" lIns="0" tIns="0" rIns="0" bIns="0" rtlCol="0" anchor="t"/>
          <a:lstStyle/>
          <a:p>
            <a:pPr indent="0" marL="0">
              <a:buNone/>
            </a:pPr>
            <a:r>
              <a:rPr lang="en-US" sz="1200" b="1" dirty="0">
                <a:solidFill>
                  <a:schemeClr val="tx2"/>
                </a:solidFill>
              </a:rPr>
              <a:t>EmergencyAI Dashboard</a:t>
            </a:r>
            <a:endParaRPr lang="en-US" sz="1200" dirty="0"/>
          </a:p>
        </p:txBody>
      </p:sp>
      <p:sp>
        <p:nvSpPr>
          <p:cNvPr id="13" name="Card 1"/>
          <p:cNvSpPr/>
          <p:nvPr/>
        </p:nvSpPr>
        <p:spPr>
          <a:xfrm>
            <a:off x="7178040" y="1417320"/>
            <a:ext cx="1310640" cy="868680"/>
          </a:xfrm>
          <a:prstGeom prst="roundRect">
            <a:avLst>
              <a:gd name="adj" fmla="val 8421"/>
            </a:avLst>
          </a:prstGeom>
          <a:solidFill>
            <a:schemeClr val="bg1"/>
          </a:solidFill>
          <a:ln w="9525">
            <a:solidFill>
              <a:schemeClr val="accent6"/>
            </a:solidFill>
            <a:prstDash val="solid"/>
          </a:ln>
        </p:spPr>
      </p:sp>
      <p:sp>
        <p:nvSpPr>
          <p:cNvPr id="14" name="Icon badge 2"/>
          <p:cNvSpPr/>
          <p:nvPr/>
        </p:nvSpPr>
        <p:spPr>
          <a:xfrm>
            <a:off x="7287768" y="1508760"/>
            <a:ext cx="384048" cy="384048"/>
          </a:xfrm>
          <a:prstGeom prst="ellipse">
            <a:avLst/>
          </a:prstGeom>
          <a:solidFill>
            <a:schemeClr val="accent3">
              <a:alpha val="22000"/>
            </a:schemeClr>
          </a:solidFill>
          <a:ln w="9525">
            <a:solidFill>
              <a:schemeClr val="accent3"/>
            </a:solidFill>
            <a:prstDash val="solid"/>
          </a:ln>
        </p:spPr>
      </p:sp>
      <p:pic>
        <p:nvPicPr>
          <p:cNvPr id="15" name="Image 0" descr="ExclamationTriangle icon">    </p:cNvPr>
          <p:cNvPicPr>
            <a:picLocks noChangeAspect="1"/>
          </p:cNvPicPr>
          <p:nvPr/>
        </p:nvPicPr>
        <p:blipFill>
          <a:blip r:embed="rId1"/>
          <a:stretch>
            <a:fillRect/>
          </a:stretch>
        </p:blipFill>
        <p:spPr>
          <a:xfrm>
            <a:off x="7383780" y="1604772"/>
            <a:ext cx="192024" cy="192024"/>
          </a:xfrm>
          <a:prstGeom prst="rect">
            <a:avLst/>
          </a:prstGeom>
        </p:spPr>
      </p:pic>
      <p:sp>
        <p:nvSpPr>
          <p:cNvPr id="16" name="Text 12"/>
          <p:cNvSpPr txBox="1"/>
          <p:nvPr/>
        </p:nvSpPr>
        <p:spPr>
          <a:xfrm>
            <a:off x="7287768" y="1965960"/>
            <a:ext cx="1127760" cy="246888"/>
          </a:xfrm>
          <a:prstGeom prst="rect">
            <a:avLst/>
          </a:prstGeom>
          <a:noFill/>
          <a:ln/>
        </p:spPr>
        <p:txBody>
          <a:bodyPr wrap="square" lIns="0" tIns="0" rIns="0" bIns="0" rtlCol="0" anchor="t"/>
          <a:lstStyle/>
          <a:p>
            <a:pPr indent="0" marL="0">
              <a:buNone/>
            </a:pPr>
            <a:r>
              <a:rPr lang="en-US" sz="1100" dirty="0">
                <a:solidFill>
                  <a:schemeClr val="tx2"/>
                </a:solidFill>
              </a:rPr>
              <a:t>Emergencies</a:t>
            </a:r>
            <a:endParaRPr lang="en-US" sz="1100" dirty="0"/>
          </a:p>
        </p:txBody>
      </p:sp>
      <p:sp>
        <p:nvSpPr>
          <p:cNvPr id="17" name="Card 3"/>
          <p:cNvSpPr/>
          <p:nvPr/>
        </p:nvSpPr>
        <p:spPr>
          <a:xfrm>
            <a:off x="8625840" y="1417320"/>
            <a:ext cx="1310640" cy="868680"/>
          </a:xfrm>
          <a:prstGeom prst="roundRect">
            <a:avLst>
              <a:gd name="adj" fmla="val 8421"/>
            </a:avLst>
          </a:prstGeom>
          <a:solidFill>
            <a:schemeClr val="bg1"/>
          </a:solidFill>
          <a:ln w="9525">
            <a:solidFill>
              <a:schemeClr val="accent6"/>
            </a:solidFill>
            <a:prstDash val="solid"/>
          </a:ln>
        </p:spPr>
      </p:sp>
      <p:sp>
        <p:nvSpPr>
          <p:cNvPr id="18" name="Icon badge 4"/>
          <p:cNvSpPr/>
          <p:nvPr/>
        </p:nvSpPr>
        <p:spPr>
          <a:xfrm>
            <a:off x="8735568" y="1508760"/>
            <a:ext cx="384048" cy="384048"/>
          </a:xfrm>
          <a:prstGeom prst="ellipse">
            <a:avLst/>
          </a:prstGeom>
          <a:solidFill>
            <a:schemeClr val="accent2">
              <a:alpha val="22000"/>
            </a:schemeClr>
          </a:solidFill>
          <a:ln w="9525">
            <a:solidFill>
              <a:schemeClr val="accent2"/>
            </a:solidFill>
            <a:prstDash val="solid"/>
          </a:ln>
        </p:spPr>
      </p:sp>
      <p:pic>
        <p:nvPicPr>
          <p:cNvPr id="19" name="Image 1" descr="Ambulance icon">    </p:cNvPr>
          <p:cNvPicPr>
            <a:picLocks noChangeAspect="1"/>
          </p:cNvPicPr>
          <p:nvPr/>
        </p:nvPicPr>
        <p:blipFill>
          <a:blip r:embed="rId2"/>
          <a:stretch>
            <a:fillRect/>
          </a:stretch>
        </p:blipFill>
        <p:spPr>
          <a:xfrm>
            <a:off x="8831580" y="1604772"/>
            <a:ext cx="192024" cy="192024"/>
          </a:xfrm>
          <a:prstGeom prst="rect">
            <a:avLst/>
          </a:prstGeom>
        </p:spPr>
      </p:pic>
      <p:sp>
        <p:nvSpPr>
          <p:cNvPr id="20" name="Text 15"/>
          <p:cNvSpPr txBox="1"/>
          <p:nvPr/>
        </p:nvSpPr>
        <p:spPr>
          <a:xfrm>
            <a:off x="8735568" y="1965960"/>
            <a:ext cx="1127760" cy="246888"/>
          </a:xfrm>
          <a:prstGeom prst="rect">
            <a:avLst/>
          </a:prstGeom>
          <a:noFill/>
          <a:ln/>
        </p:spPr>
        <p:txBody>
          <a:bodyPr wrap="square" lIns="0" tIns="0" rIns="0" bIns="0" rtlCol="0" anchor="t"/>
          <a:lstStyle/>
          <a:p>
            <a:pPr indent="0" marL="0">
              <a:buNone/>
            </a:pPr>
            <a:r>
              <a:rPr lang="en-US" sz="1100" dirty="0">
                <a:solidFill>
                  <a:schemeClr val="tx2"/>
                </a:solidFill>
              </a:rPr>
              <a:t>Ambulances</a:t>
            </a:r>
            <a:endParaRPr lang="en-US" sz="1100" dirty="0"/>
          </a:p>
        </p:txBody>
      </p:sp>
      <p:sp>
        <p:nvSpPr>
          <p:cNvPr id="21" name="Card 5"/>
          <p:cNvSpPr/>
          <p:nvPr/>
        </p:nvSpPr>
        <p:spPr>
          <a:xfrm>
            <a:off x="10073640" y="1417320"/>
            <a:ext cx="1310640" cy="868680"/>
          </a:xfrm>
          <a:prstGeom prst="roundRect">
            <a:avLst>
              <a:gd name="adj" fmla="val 8421"/>
            </a:avLst>
          </a:prstGeom>
          <a:solidFill>
            <a:schemeClr val="bg1"/>
          </a:solidFill>
          <a:ln w="9525">
            <a:solidFill>
              <a:schemeClr val="accent6"/>
            </a:solidFill>
            <a:prstDash val="solid"/>
          </a:ln>
        </p:spPr>
      </p:sp>
      <p:sp>
        <p:nvSpPr>
          <p:cNvPr id="22" name="Icon badge 6"/>
          <p:cNvSpPr/>
          <p:nvPr/>
        </p:nvSpPr>
        <p:spPr>
          <a:xfrm>
            <a:off x="10183368" y="1508760"/>
            <a:ext cx="384048" cy="384048"/>
          </a:xfrm>
          <a:prstGeom prst="ellipse">
            <a:avLst/>
          </a:prstGeom>
          <a:solidFill>
            <a:schemeClr val="accent1">
              <a:alpha val="22000"/>
            </a:schemeClr>
          </a:solidFill>
          <a:ln w="9525">
            <a:solidFill>
              <a:schemeClr val="accent1"/>
            </a:solidFill>
            <a:prstDash val="solid"/>
          </a:ln>
        </p:spPr>
      </p:sp>
      <p:pic>
        <p:nvPicPr>
          <p:cNvPr id="23" name="Image 2" descr="Hospital icon">    </p:cNvPr>
          <p:cNvPicPr>
            <a:picLocks noChangeAspect="1"/>
          </p:cNvPicPr>
          <p:nvPr/>
        </p:nvPicPr>
        <p:blipFill>
          <a:blip r:embed="rId3"/>
          <a:stretch>
            <a:fillRect/>
          </a:stretch>
        </p:blipFill>
        <p:spPr>
          <a:xfrm>
            <a:off x="10279380" y="1604772"/>
            <a:ext cx="192024" cy="192024"/>
          </a:xfrm>
          <a:prstGeom prst="rect">
            <a:avLst/>
          </a:prstGeom>
        </p:spPr>
      </p:pic>
      <p:sp>
        <p:nvSpPr>
          <p:cNvPr id="24" name="Text 18"/>
          <p:cNvSpPr txBox="1"/>
          <p:nvPr/>
        </p:nvSpPr>
        <p:spPr>
          <a:xfrm>
            <a:off x="10183368" y="1965960"/>
            <a:ext cx="1127760" cy="246888"/>
          </a:xfrm>
          <a:prstGeom prst="rect">
            <a:avLst/>
          </a:prstGeom>
          <a:noFill/>
          <a:ln/>
        </p:spPr>
        <p:txBody>
          <a:bodyPr wrap="square" lIns="0" tIns="0" rIns="0" bIns="0" rtlCol="0" anchor="t"/>
          <a:lstStyle/>
          <a:p>
            <a:pPr indent="0" marL="0">
              <a:buNone/>
            </a:pPr>
            <a:r>
              <a:rPr lang="en-US" sz="1100" dirty="0">
                <a:solidFill>
                  <a:schemeClr val="tx2"/>
                </a:solidFill>
              </a:rPr>
              <a:t>Hospitals</a:t>
            </a:r>
            <a:endParaRPr lang="en-US" sz="1100" dirty="0"/>
          </a:p>
        </p:txBody>
      </p:sp>
      <p:sp>
        <p:nvSpPr>
          <p:cNvPr id="25" name="Analytics panel"/>
          <p:cNvSpPr/>
          <p:nvPr/>
        </p:nvSpPr>
        <p:spPr>
          <a:xfrm>
            <a:off x="7178040" y="2468880"/>
            <a:ext cx="2743200" cy="1463040"/>
          </a:xfrm>
          <a:prstGeom prst="roundRect">
            <a:avLst>
              <a:gd name="adj" fmla="val 5000"/>
            </a:avLst>
          </a:prstGeom>
          <a:solidFill>
            <a:schemeClr val="bg1"/>
          </a:solidFill>
          <a:ln w="9525">
            <a:solidFill>
              <a:schemeClr val="accent6"/>
            </a:solidFill>
            <a:prstDash val="solid"/>
          </a:ln>
        </p:spPr>
      </p:sp>
      <p:sp>
        <p:nvSpPr>
          <p:cNvPr id="26" name="Text 20"/>
          <p:cNvSpPr txBox="1"/>
          <p:nvPr/>
        </p:nvSpPr>
        <p:spPr>
          <a:xfrm>
            <a:off x="7315200" y="2542032"/>
            <a:ext cx="1828800" cy="228600"/>
          </a:xfrm>
          <a:prstGeom prst="rect">
            <a:avLst/>
          </a:prstGeom>
          <a:noFill/>
          <a:ln/>
        </p:spPr>
        <p:txBody>
          <a:bodyPr wrap="square" lIns="0" tIns="0" rIns="0" bIns="0" rtlCol="0" anchor="t"/>
          <a:lstStyle/>
          <a:p>
            <a:pPr indent="0" marL="0">
              <a:buNone/>
            </a:pPr>
            <a:r>
              <a:rPr lang="en-US" sz="1100" dirty="0">
                <a:solidFill>
                  <a:schemeClr val="tx2"/>
                </a:solidFill>
              </a:rPr>
              <a:t>Analytics</a:t>
            </a:r>
            <a:endParaRPr lang="en-US" sz="1100" dirty="0"/>
          </a:p>
        </p:txBody>
      </p:sp>
      <p:sp>
        <p:nvSpPr>
          <p:cNvPr id="27" name="Bar"/>
          <p:cNvSpPr/>
          <p:nvPr/>
        </p:nvSpPr>
        <p:spPr>
          <a:xfrm>
            <a:off x="7406640" y="3429000"/>
            <a:ext cx="256032" cy="411480"/>
          </a:xfrm>
          <a:prstGeom prst="rect">
            <a:avLst/>
          </a:prstGeom>
          <a:solidFill>
            <a:schemeClr val="accent1"/>
          </a:solidFill>
          <a:ln w="3175">
            <a:solidFill>
              <a:schemeClr val="accent1"/>
            </a:solidFill>
            <a:prstDash val="solid"/>
          </a:ln>
        </p:spPr>
      </p:sp>
      <p:sp>
        <p:nvSpPr>
          <p:cNvPr id="28" name="Bar"/>
          <p:cNvSpPr/>
          <p:nvPr/>
        </p:nvSpPr>
        <p:spPr>
          <a:xfrm>
            <a:off x="7827264" y="3108960"/>
            <a:ext cx="256032" cy="731520"/>
          </a:xfrm>
          <a:prstGeom prst="rect">
            <a:avLst/>
          </a:prstGeom>
          <a:solidFill>
            <a:schemeClr val="accent1"/>
          </a:solidFill>
          <a:ln w="3175">
            <a:solidFill>
              <a:schemeClr val="accent1"/>
            </a:solidFill>
            <a:prstDash val="solid"/>
          </a:ln>
        </p:spPr>
      </p:sp>
      <p:sp>
        <p:nvSpPr>
          <p:cNvPr id="29" name="Bar"/>
          <p:cNvSpPr/>
          <p:nvPr/>
        </p:nvSpPr>
        <p:spPr>
          <a:xfrm>
            <a:off x="8247888" y="3291840"/>
            <a:ext cx="256032" cy="548640"/>
          </a:xfrm>
          <a:prstGeom prst="rect">
            <a:avLst/>
          </a:prstGeom>
          <a:solidFill>
            <a:schemeClr val="accent1"/>
          </a:solidFill>
          <a:ln w="3175">
            <a:solidFill>
              <a:schemeClr val="accent1"/>
            </a:solidFill>
            <a:prstDash val="solid"/>
          </a:ln>
        </p:spPr>
      </p:sp>
      <p:sp>
        <p:nvSpPr>
          <p:cNvPr id="30" name="Bar"/>
          <p:cNvSpPr/>
          <p:nvPr/>
        </p:nvSpPr>
        <p:spPr>
          <a:xfrm>
            <a:off x="8668512" y="2926080"/>
            <a:ext cx="256032" cy="914400"/>
          </a:xfrm>
          <a:prstGeom prst="rect">
            <a:avLst/>
          </a:prstGeom>
          <a:solidFill>
            <a:schemeClr val="accent3"/>
          </a:solidFill>
          <a:ln w="3175">
            <a:solidFill>
              <a:schemeClr val="accent3"/>
            </a:solidFill>
            <a:prstDash val="solid"/>
          </a:ln>
        </p:spPr>
      </p:sp>
      <p:sp>
        <p:nvSpPr>
          <p:cNvPr id="31" name="Bar"/>
          <p:cNvSpPr/>
          <p:nvPr/>
        </p:nvSpPr>
        <p:spPr>
          <a:xfrm>
            <a:off x="9089136" y="3200400"/>
            <a:ext cx="256032" cy="640080"/>
          </a:xfrm>
          <a:prstGeom prst="rect">
            <a:avLst/>
          </a:prstGeom>
          <a:solidFill>
            <a:schemeClr val="accent1"/>
          </a:solidFill>
          <a:ln w="3175">
            <a:solidFill>
              <a:schemeClr val="accent1"/>
            </a:solidFill>
            <a:prstDash val="solid"/>
          </a:ln>
        </p:spPr>
      </p:sp>
      <p:sp>
        <p:nvSpPr>
          <p:cNvPr id="32" name="Bar"/>
          <p:cNvSpPr/>
          <p:nvPr/>
        </p:nvSpPr>
        <p:spPr>
          <a:xfrm>
            <a:off x="9509760" y="3017520"/>
            <a:ext cx="256032" cy="822960"/>
          </a:xfrm>
          <a:prstGeom prst="rect">
            <a:avLst/>
          </a:prstGeom>
          <a:solidFill>
            <a:schemeClr val="accent1"/>
          </a:solidFill>
          <a:ln w="3175">
            <a:solidFill>
              <a:schemeClr val="accent1"/>
            </a:solidFill>
            <a:prstDash val="solid"/>
          </a:ln>
        </p:spPr>
      </p:sp>
      <p:sp>
        <p:nvSpPr>
          <p:cNvPr id="33" name="Severity panel"/>
          <p:cNvSpPr/>
          <p:nvPr/>
        </p:nvSpPr>
        <p:spPr>
          <a:xfrm>
            <a:off x="10058400" y="2468880"/>
            <a:ext cx="1325880" cy="1463040"/>
          </a:xfrm>
          <a:prstGeom prst="roundRect">
            <a:avLst>
              <a:gd name="adj" fmla="val 5517"/>
            </a:avLst>
          </a:prstGeom>
          <a:solidFill>
            <a:schemeClr val="bg1"/>
          </a:solidFill>
          <a:ln w="9525">
            <a:solidFill>
              <a:schemeClr val="accent6"/>
            </a:solidFill>
            <a:prstDash val="solid"/>
          </a:ln>
        </p:spPr>
      </p:sp>
      <p:sp>
        <p:nvSpPr>
          <p:cNvPr id="34" name="Severity pill LOW"/>
          <p:cNvSpPr/>
          <p:nvPr/>
        </p:nvSpPr>
        <p:spPr>
          <a:xfrm>
            <a:off x="10195560" y="2606040"/>
            <a:ext cx="1051560" cy="265176"/>
          </a:xfrm>
          <a:prstGeom prst="roundRect">
            <a:avLst>
              <a:gd name="adj" fmla="val 27586"/>
            </a:avLst>
          </a:prstGeom>
          <a:solidFill>
            <a:schemeClr val="accent1"/>
          </a:solidFill>
          <a:ln w="3175">
            <a:solidFill>
              <a:schemeClr val="accent1"/>
            </a:solidFill>
            <a:prstDash val="solid"/>
          </a:ln>
        </p:spPr>
      </p:sp>
      <p:sp>
        <p:nvSpPr>
          <p:cNvPr id="35" name="Text 29"/>
          <p:cNvSpPr txBox="1"/>
          <p:nvPr/>
        </p:nvSpPr>
        <p:spPr>
          <a:xfrm>
            <a:off x="10195560" y="2606040"/>
            <a:ext cx="1051560" cy="265176"/>
          </a:xfrm>
          <a:prstGeom prst="rect">
            <a:avLst/>
          </a:prstGeom>
          <a:noFill/>
          <a:ln/>
        </p:spPr>
        <p:txBody>
          <a:bodyPr wrap="square" lIns="0" tIns="0" rIns="0" bIns="0" rtlCol="0" anchor="ctr"/>
          <a:lstStyle/>
          <a:p>
            <a:pPr algn="ctr" indent="0" marL="0">
              <a:buNone/>
            </a:pPr>
            <a:r>
              <a:rPr lang="en-US" sz="1000" b="1" dirty="0">
                <a:solidFill>
                  <a:schemeClr val="bg1"/>
                </a:solidFill>
              </a:rPr>
              <a:t>LOW</a:t>
            </a:r>
            <a:endParaRPr lang="en-US" sz="1000" dirty="0"/>
          </a:p>
        </p:txBody>
      </p:sp>
      <p:sp>
        <p:nvSpPr>
          <p:cNvPr id="36" name="Severity pill MEDIUM"/>
          <p:cNvSpPr/>
          <p:nvPr/>
        </p:nvSpPr>
        <p:spPr>
          <a:xfrm>
            <a:off x="10195560" y="2935224"/>
            <a:ext cx="1051560" cy="265176"/>
          </a:xfrm>
          <a:prstGeom prst="roundRect">
            <a:avLst>
              <a:gd name="adj" fmla="val 27586"/>
            </a:avLst>
          </a:prstGeom>
          <a:solidFill>
            <a:schemeClr val="accent4"/>
          </a:solidFill>
          <a:ln w="3175">
            <a:solidFill>
              <a:schemeClr val="accent4"/>
            </a:solidFill>
            <a:prstDash val="solid"/>
          </a:ln>
        </p:spPr>
      </p:sp>
      <p:sp>
        <p:nvSpPr>
          <p:cNvPr id="37" name="Text 31"/>
          <p:cNvSpPr txBox="1"/>
          <p:nvPr/>
        </p:nvSpPr>
        <p:spPr>
          <a:xfrm>
            <a:off x="10195560" y="2935224"/>
            <a:ext cx="1051560" cy="265176"/>
          </a:xfrm>
          <a:prstGeom prst="rect">
            <a:avLst/>
          </a:prstGeom>
          <a:noFill/>
          <a:ln/>
        </p:spPr>
        <p:txBody>
          <a:bodyPr wrap="square" lIns="0" tIns="0" rIns="0" bIns="0" rtlCol="0" anchor="ctr"/>
          <a:lstStyle/>
          <a:p>
            <a:pPr algn="ctr" indent="0" marL="0">
              <a:buNone/>
            </a:pPr>
            <a:r>
              <a:rPr lang="en-US" sz="1000" b="1" dirty="0">
                <a:solidFill>
                  <a:schemeClr val="bg1"/>
                </a:solidFill>
              </a:rPr>
              <a:t>MEDIUM</a:t>
            </a:r>
            <a:endParaRPr lang="en-US" sz="1000" dirty="0"/>
          </a:p>
        </p:txBody>
      </p:sp>
      <p:sp>
        <p:nvSpPr>
          <p:cNvPr id="38" name="Severity pill HIGH"/>
          <p:cNvSpPr/>
          <p:nvPr/>
        </p:nvSpPr>
        <p:spPr>
          <a:xfrm>
            <a:off x="10195560" y="3264408"/>
            <a:ext cx="1051560" cy="265176"/>
          </a:xfrm>
          <a:prstGeom prst="roundRect">
            <a:avLst>
              <a:gd name="adj" fmla="val 27586"/>
            </a:avLst>
          </a:prstGeom>
          <a:solidFill>
            <a:schemeClr val="accent5"/>
          </a:solidFill>
          <a:ln w="3175">
            <a:solidFill>
              <a:schemeClr val="accent5"/>
            </a:solidFill>
            <a:prstDash val="solid"/>
          </a:ln>
        </p:spPr>
      </p:sp>
      <p:sp>
        <p:nvSpPr>
          <p:cNvPr id="39" name="Text 33"/>
          <p:cNvSpPr txBox="1"/>
          <p:nvPr/>
        </p:nvSpPr>
        <p:spPr>
          <a:xfrm>
            <a:off x="10195560" y="3264408"/>
            <a:ext cx="1051560" cy="265176"/>
          </a:xfrm>
          <a:prstGeom prst="rect">
            <a:avLst/>
          </a:prstGeom>
          <a:noFill/>
          <a:ln/>
        </p:spPr>
        <p:txBody>
          <a:bodyPr wrap="square" lIns="0" tIns="0" rIns="0" bIns="0" rtlCol="0" anchor="ctr"/>
          <a:lstStyle/>
          <a:p>
            <a:pPr algn="ctr" indent="0" marL="0">
              <a:buNone/>
            </a:pPr>
            <a:r>
              <a:rPr lang="en-US" sz="1000" b="1" dirty="0">
                <a:solidFill>
                  <a:schemeClr val="bg1"/>
                </a:solidFill>
              </a:rPr>
              <a:t>HIGH</a:t>
            </a:r>
            <a:endParaRPr lang="en-US" sz="1000" dirty="0"/>
          </a:p>
        </p:txBody>
      </p:sp>
      <p:sp>
        <p:nvSpPr>
          <p:cNvPr id="40" name="Severity pill CRITICAL"/>
          <p:cNvSpPr/>
          <p:nvPr/>
        </p:nvSpPr>
        <p:spPr>
          <a:xfrm>
            <a:off x="10195560" y="3593592"/>
            <a:ext cx="1051560" cy="265176"/>
          </a:xfrm>
          <a:prstGeom prst="roundRect">
            <a:avLst>
              <a:gd name="adj" fmla="val 27586"/>
            </a:avLst>
          </a:prstGeom>
          <a:solidFill>
            <a:schemeClr val="accent3"/>
          </a:solidFill>
          <a:ln w="3175">
            <a:solidFill>
              <a:schemeClr val="accent3"/>
            </a:solidFill>
            <a:prstDash val="solid"/>
          </a:ln>
        </p:spPr>
      </p:sp>
      <p:sp>
        <p:nvSpPr>
          <p:cNvPr id="41" name="Text 35"/>
          <p:cNvSpPr txBox="1"/>
          <p:nvPr/>
        </p:nvSpPr>
        <p:spPr>
          <a:xfrm>
            <a:off x="10195560" y="3593592"/>
            <a:ext cx="1051560" cy="265176"/>
          </a:xfrm>
          <a:prstGeom prst="rect">
            <a:avLst/>
          </a:prstGeom>
          <a:noFill/>
          <a:ln/>
        </p:spPr>
        <p:txBody>
          <a:bodyPr wrap="square" lIns="0" tIns="0" rIns="0" bIns="0" rtlCol="0" anchor="ctr"/>
          <a:lstStyle/>
          <a:p>
            <a:pPr algn="ctr" indent="0" marL="0">
              <a:buNone/>
            </a:pPr>
            <a:r>
              <a:rPr lang="en-US" sz="1000" b="1" dirty="0">
                <a:solidFill>
                  <a:schemeClr val="tx1"/>
                </a:solidFill>
              </a:rPr>
              <a:t>CRITICAL</a:t>
            </a:r>
            <a:endParaRPr lang="en-US" sz="1000" dirty="0"/>
          </a:p>
        </p:txBody>
      </p:sp>
      <p:sp>
        <p:nvSpPr>
          <p:cNvPr id="42" name="Ranking panel"/>
          <p:cNvSpPr/>
          <p:nvPr/>
        </p:nvSpPr>
        <p:spPr>
          <a:xfrm>
            <a:off x="7178040" y="4114800"/>
            <a:ext cx="4206240" cy="1325880"/>
          </a:xfrm>
          <a:prstGeom prst="roundRect">
            <a:avLst>
              <a:gd name="adj" fmla="val 5517"/>
            </a:avLst>
          </a:prstGeom>
          <a:solidFill>
            <a:schemeClr val="bg1"/>
          </a:solidFill>
          <a:ln w="9525">
            <a:solidFill>
              <a:schemeClr val="accent6"/>
            </a:solidFill>
            <a:prstDash val="solid"/>
          </a:ln>
        </p:spPr>
      </p:sp>
      <p:sp>
        <p:nvSpPr>
          <p:cNvPr id="43" name="Text 37"/>
          <p:cNvSpPr txBox="1"/>
          <p:nvPr/>
        </p:nvSpPr>
        <p:spPr>
          <a:xfrm>
            <a:off x="7315200" y="4178808"/>
            <a:ext cx="2743200" cy="228600"/>
          </a:xfrm>
          <a:prstGeom prst="rect">
            <a:avLst/>
          </a:prstGeom>
          <a:noFill/>
          <a:ln/>
        </p:spPr>
        <p:txBody>
          <a:bodyPr wrap="square" lIns="0" tIns="0" rIns="0" bIns="0" rtlCol="0" anchor="t"/>
          <a:lstStyle/>
          <a:p>
            <a:pPr indent="0" marL="0">
              <a:buNone/>
            </a:pPr>
            <a:r>
              <a:rPr lang="en-US" sz="1100" dirty="0">
                <a:solidFill>
                  <a:schemeClr val="tx2"/>
                </a:solidFill>
              </a:rPr>
              <a:t>Hospital ranking</a:t>
            </a:r>
            <a:endParaRPr lang="en-US" sz="1100" dirty="0"/>
          </a:p>
        </p:txBody>
      </p:sp>
      <p:sp>
        <p:nvSpPr>
          <p:cNvPr id="44" name="Rank dot"/>
          <p:cNvSpPr/>
          <p:nvPr/>
        </p:nvSpPr>
        <p:spPr>
          <a:xfrm>
            <a:off x="7315200" y="4480560"/>
            <a:ext cx="219456" cy="219456"/>
          </a:xfrm>
          <a:prstGeom prst="ellipse">
            <a:avLst/>
          </a:prstGeom>
          <a:solidFill>
            <a:schemeClr val="accent1"/>
          </a:solidFill>
          <a:ln w="3175">
            <a:solidFill>
              <a:schemeClr val="accent1"/>
            </a:solidFill>
            <a:prstDash val="solid"/>
          </a:ln>
        </p:spPr>
      </p:sp>
      <p:sp>
        <p:nvSpPr>
          <p:cNvPr id="45" name="Text 39"/>
          <p:cNvSpPr txBox="1"/>
          <p:nvPr/>
        </p:nvSpPr>
        <p:spPr>
          <a:xfrm>
            <a:off x="7315200" y="4480560"/>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46" name="Placeholder bar"/>
          <p:cNvSpPr/>
          <p:nvPr/>
        </p:nvSpPr>
        <p:spPr>
          <a:xfrm>
            <a:off x="7680960" y="4526280"/>
            <a:ext cx="2377440" cy="128016"/>
          </a:xfrm>
          <a:prstGeom prst="roundRect">
            <a:avLst>
              <a:gd name="adj" fmla="val 35714"/>
            </a:avLst>
          </a:prstGeom>
          <a:solidFill>
            <a:schemeClr val="accent6"/>
          </a:solidFill>
          <a:ln w="3175">
            <a:solidFill>
              <a:schemeClr val="accent6"/>
            </a:solidFill>
            <a:prstDash val="solid"/>
          </a:ln>
        </p:spPr>
      </p:sp>
      <p:sp>
        <p:nvSpPr>
          <p:cNvPr id="47" name="Rank dot"/>
          <p:cNvSpPr/>
          <p:nvPr/>
        </p:nvSpPr>
        <p:spPr>
          <a:xfrm>
            <a:off x="7315200" y="4782312"/>
            <a:ext cx="219456" cy="219456"/>
          </a:xfrm>
          <a:prstGeom prst="ellipse">
            <a:avLst/>
          </a:prstGeom>
          <a:solidFill>
            <a:schemeClr val="accent1"/>
          </a:solidFill>
          <a:ln w="3175">
            <a:solidFill>
              <a:schemeClr val="accent1"/>
            </a:solidFill>
            <a:prstDash val="solid"/>
          </a:ln>
        </p:spPr>
      </p:sp>
      <p:sp>
        <p:nvSpPr>
          <p:cNvPr id="48" name="Text 42"/>
          <p:cNvSpPr txBox="1"/>
          <p:nvPr/>
        </p:nvSpPr>
        <p:spPr>
          <a:xfrm>
            <a:off x="7315200" y="4782312"/>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49" name="Placeholder bar"/>
          <p:cNvSpPr/>
          <p:nvPr/>
        </p:nvSpPr>
        <p:spPr>
          <a:xfrm>
            <a:off x="7680960" y="4828032"/>
            <a:ext cx="1828800" cy="128016"/>
          </a:xfrm>
          <a:prstGeom prst="roundRect">
            <a:avLst>
              <a:gd name="adj" fmla="val 35714"/>
            </a:avLst>
          </a:prstGeom>
          <a:solidFill>
            <a:schemeClr val="accent6"/>
          </a:solidFill>
          <a:ln w="3175">
            <a:solidFill>
              <a:schemeClr val="accent6"/>
            </a:solidFill>
            <a:prstDash val="solid"/>
          </a:ln>
        </p:spPr>
      </p:sp>
      <p:sp>
        <p:nvSpPr>
          <p:cNvPr id="50" name="Rank dot"/>
          <p:cNvSpPr/>
          <p:nvPr/>
        </p:nvSpPr>
        <p:spPr>
          <a:xfrm>
            <a:off x="7315200" y="5084064"/>
            <a:ext cx="219456" cy="219456"/>
          </a:xfrm>
          <a:prstGeom prst="ellipse">
            <a:avLst/>
          </a:prstGeom>
          <a:solidFill>
            <a:schemeClr val="accent1"/>
          </a:solidFill>
          <a:ln w="3175">
            <a:solidFill>
              <a:schemeClr val="accent1"/>
            </a:solidFill>
            <a:prstDash val="solid"/>
          </a:ln>
        </p:spPr>
      </p:sp>
      <p:sp>
        <p:nvSpPr>
          <p:cNvPr id="51" name="Text 45"/>
          <p:cNvSpPr txBox="1"/>
          <p:nvPr/>
        </p:nvSpPr>
        <p:spPr>
          <a:xfrm>
            <a:off x="7315200" y="5084064"/>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52" name="Placeholder bar"/>
          <p:cNvSpPr/>
          <p:nvPr/>
        </p:nvSpPr>
        <p:spPr>
          <a:xfrm>
            <a:off x="7680960" y="5129784"/>
            <a:ext cx="1371600" cy="128016"/>
          </a:xfrm>
          <a:prstGeom prst="roundRect">
            <a:avLst>
              <a:gd name="adj" fmla="val 35714"/>
            </a:avLst>
          </a:prstGeom>
          <a:solidFill>
            <a:schemeClr val="accent6"/>
          </a:solidFill>
          <a:ln w="3175">
            <a:solidFill>
              <a:schemeClr val="accent6"/>
            </a:solidFill>
            <a:prstDash val="solid"/>
          </a:ln>
        </p:spPr>
      </p:sp>
      <p:sp>
        <p:nvSpPr>
          <p:cNvPr id="53" name="Text 47"/>
          <p:cNvSpPr txBox="1"/>
          <p:nvPr/>
        </p:nvSpPr>
        <p:spPr>
          <a:xfrm>
            <a:off x="6949440" y="5806440"/>
            <a:ext cx="4663440" cy="274320"/>
          </a:xfrm>
          <a:prstGeom prst="rect">
            <a:avLst/>
          </a:prstGeom>
          <a:noFill/>
          <a:ln/>
        </p:spPr>
        <p:txBody>
          <a:bodyPr wrap="square" lIns="0" tIns="0" rIns="0" bIns="0" rtlCol="0" anchor="t"/>
          <a:lstStyle/>
          <a:p>
            <a:pPr algn="ctr" indent="0" marL="0">
              <a:buNone/>
            </a:pPr>
            <a:r>
              <a:rPr lang="en-US" sz="1100" i="1" dirty="0">
                <a:solidFill>
                  <a:schemeClr val="tx2"/>
                </a:solidFill>
              </a:rPr>
              <a:t>Conceptual illustration – not an application screenshot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INTRODUCTION</a:t>
            </a:r>
            <a:endParaRPr lang="en-US" sz="3200" dirty="0"/>
          </a:p>
        </p:txBody>
      </p:sp>
      <p:sp>
        <p:nvSpPr>
          <p:cNvPr id="4" name="Card 7"/>
          <p:cNvSpPr/>
          <p:nvPr/>
        </p:nvSpPr>
        <p:spPr>
          <a:xfrm>
            <a:off x="548640" y="1280160"/>
            <a:ext cx="3514344" cy="2011680"/>
          </a:xfrm>
          <a:prstGeom prst="roundRect">
            <a:avLst>
              <a:gd name="adj" fmla="val 4545"/>
            </a:avLst>
          </a:prstGeom>
          <a:solidFill>
            <a:schemeClr val="bg2"/>
          </a:solidFill>
          <a:ln w="9525">
            <a:solidFill>
              <a:schemeClr val="accent6"/>
            </a:solidFill>
            <a:prstDash val="solid"/>
          </a:ln>
        </p:spPr>
      </p:sp>
      <p:sp>
        <p:nvSpPr>
          <p:cNvPr id="5" name="Icon badge 8"/>
          <p:cNvSpPr/>
          <p:nvPr/>
        </p:nvSpPr>
        <p:spPr>
          <a:xfrm>
            <a:off x="777240" y="1508760"/>
            <a:ext cx="594360" cy="594360"/>
          </a:xfrm>
          <a:prstGeom prst="ellipse">
            <a:avLst/>
          </a:prstGeom>
          <a:solidFill>
            <a:schemeClr val="accent3">
              <a:alpha val="22000"/>
            </a:schemeClr>
          </a:solidFill>
          <a:ln w="9525">
            <a:solidFill>
              <a:schemeClr val="accent3"/>
            </a:solidFill>
            <a:prstDash val="solid"/>
          </a:ln>
        </p:spPr>
      </p:sp>
      <p:pic>
        <p:nvPicPr>
          <p:cNvPr id="6" name="Image 0" descr="Ambulance icon">    </p:cNvPr>
          <p:cNvPicPr>
            <a:picLocks noChangeAspect="1"/>
          </p:cNvPicPr>
          <p:nvPr/>
        </p:nvPicPr>
        <p:blipFill>
          <a:blip r:embed="rId1"/>
          <a:stretch>
            <a:fillRect/>
          </a:stretch>
        </p:blipFill>
        <p:spPr>
          <a:xfrm>
            <a:off x="925830" y="1657350"/>
            <a:ext cx="297180" cy="297180"/>
          </a:xfrm>
          <a:prstGeom prst="rect">
            <a:avLst/>
          </a:prstGeom>
        </p:spPr>
      </p:pic>
      <p:sp>
        <p:nvSpPr>
          <p:cNvPr id="7" name="Text 3"/>
          <p:cNvSpPr txBox="1"/>
          <p:nvPr/>
        </p:nvSpPr>
        <p:spPr>
          <a:xfrm>
            <a:off x="1554480" y="1508760"/>
            <a:ext cx="2325624" cy="594360"/>
          </a:xfrm>
          <a:prstGeom prst="rect">
            <a:avLst/>
          </a:prstGeom>
          <a:noFill/>
          <a:ln/>
        </p:spPr>
        <p:txBody>
          <a:bodyPr wrap="square" lIns="0" tIns="0" rIns="0" bIns="0" rtlCol="0" anchor="ctr"/>
          <a:lstStyle/>
          <a:p>
            <a:pPr indent="0" marL="0">
              <a:buNone/>
            </a:pPr>
            <a:r>
              <a:rPr lang="en-US" sz="1800" b="1" dirty="0">
                <a:solidFill>
                  <a:schemeClr val="tx1"/>
                </a:solidFill>
              </a:rPr>
              <a:t>What is EmergencyAI?</a:t>
            </a:r>
            <a:endParaRPr lang="en-US" sz="1800" dirty="0"/>
          </a:p>
        </p:txBody>
      </p:sp>
      <p:sp>
        <p:nvSpPr>
          <p:cNvPr id="8" name="Text 4"/>
          <p:cNvSpPr txBox="1"/>
          <p:nvPr/>
        </p:nvSpPr>
        <p:spPr>
          <a:xfrm>
            <a:off x="777240" y="2286000"/>
            <a:ext cx="3057144" cy="914400"/>
          </a:xfrm>
          <a:prstGeom prst="rect">
            <a:avLst/>
          </a:prstGeom>
          <a:noFill/>
          <a:ln/>
        </p:spPr>
        <p:txBody>
          <a:bodyPr wrap="square" lIns="0" tIns="0" rIns="0" bIns="0" rtlCol="0" anchor="t"/>
          <a:lstStyle/>
          <a:p>
            <a:pPr indent="0" marL="0">
              <a:buNone/>
            </a:pPr>
            <a:r>
              <a:rPr lang="en-US" sz="1400" dirty="0">
                <a:solidFill>
                  <a:schemeClr val="tx2"/>
                </a:solidFill>
              </a:rPr>
              <a:t>A web application that records emergency cases and supports response decisions.</a:t>
            </a:r>
            <a:endParaRPr lang="en-US" sz="1400" dirty="0"/>
          </a:p>
        </p:txBody>
      </p:sp>
      <p:sp>
        <p:nvSpPr>
          <p:cNvPr id="9" name="Card 9"/>
          <p:cNvSpPr/>
          <p:nvPr/>
        </p:nvSpPr>
        <p:spPr>
          <a:xfrm>
            <a:off x="4337304" y="1280160"/>
            <a:ext cx="3514344" cy="2011680"/>
          </a:xfrm>
          <a:prstGeom prst="roundRect">
            <a:avLst>
              <a:gd name="adj" fmla="val 4545"/>
            </a:avLst>
          </a:prstGeom>
          <a:solidFill>
            <a:schemeClr val="bg2"/>
          </a:solidFill>
          <a:ln w="9525">
            <a:solidFill>
              <a:schemeClr val="accent6"/>
            </a:solidFill>
            <a:prstDash val="solid"/>
          </a:ln>
        </p:spPr>
      </p:sp>
      <p:sp>
        <p:nvSpPr>
          <p:cNvPr id="10" name="Icon badge 10"/>
          <p:cNvSpPr/>
          <p:nvPr/>
        </p:nvSpPr>
        <p:spPr>
          <a:xfrm>
            <a:off x="4565904" y="1508760"/>
            <a:ext cx="594360" cy="594360"/>
          </a:xfrm>
          <a:prstGeom prst="ellipse">
            <a:avLst/>
          </a:prstGeom>
          <a:solidFill>
            <a:schemeClr val="accent4">
              <a:alpha val="22000"/>
            </a:schemeClr>
          </a:solidFill>
          <a:ln w="9525">
            <a:solidFill>
              <a:schemeClr val="accent4"/>
            </a:solidFill>
            <a:prstDash val="solid"/>
          </a:ln>
        </p:spPr>
      </p:sp>
      <p:pic>
        <p:nvPicPr>
          <p:cNvPr id="11" name="Image 1" descr="Clock icon">    </p:cNvPr>
          <p:cNvPicPr>
            <a:picLocks noChangeAspect="1"/>
          </p:cNvPicPr>
          <p:nvPr/>
        </p:nvPicPr>
        <p:blipFill>
          <a:blip r:embed="rId2"/>
          <a:stretch>
            <a:fillRect/>
          </a:stretch>
        </p:blipFill>
        <p:spPr>
          <a:xfrm>
            <a:off x="4714494" y="1657350"/>
            <a:ext cx="297180" cy="297180"/>
          </a:xfrm>
          <a:prstGeom prst="rect">
            <a:avLst/>
          </a:prstGeom>
        </p:spPr>
      </p:pic>
      <p:sp>
        <p:nvSpPr>
          <p:cNvPr id="12" name="Text 7"/>
          <p:cNvSpPr txBox="1"/>
          <p:nvPr/>
        </p:nvSpPr>
        <p:spPr>
          <a:xfrm>
            <a:off x="5343144" y="1508760"/>
            <a:ext cx="2325624" cy="594360"/>
          </a:xfrm>
          <a:prstGeom prst="rect">
            <a:avLst/>
          </a:prstGeom>
          <a:noFill/>
          <a:ln/>
        </p:spPr>
        <p:txBody>
          <a:bodyPr wrap="square" lIns="0" tIns="0" rIns="0" bIns="0" rtlCol="0" anchor="ctr"/>
          <a:lstStyle/>
          <a:p>
            <a:pPr indent="0" marL="0">
              <a:buNone/>
            </a:pPr>
            <a:r>
              <a:rPr lang="en-US" sz="1800" b="1" dirty="0">
                <a:solidFill>
                  <a:schemeClr val="tx1"/>
                </a:solidFill>
              </a:rPr>
              <a:t>Why coordination matters</a:t>
            </a:r>
            <a:endParaRPr lang="en-US" sz="1800" dirty="0"/>
          </a:p>
        </p:txBody>
      </p:sp>
      <p:sp>
        <p:nvSpPr>
          <p:cNvPr id="13" name="Text 8"/>
          <p:cNvSpPr txBox="1"/>
          <p:nvPr/>
        </p:nvSpPr>
        <p:spPr>
          <a:xfrm>
            <a:off x="4565904" y="2286000"/>
            <a:ext cx="3057144" cy="914400"/>
          </a:xfrm>
          <a:prstGeom prst="rect">
            <a:avLst/>
          </a:prstGeom>
          <a:noFill/>
          <a:ln/>
        </p:spPr>
        <p:txBody>
          <a:bodyPr wrap="square" lIns="0" tIns="0" rIns="0" bIns="0" rtlCol="0" anchor="t"/>
          <a:lstStyle/>
          <a:p>
            <a:pPr indent="0" marL="0">
              <a:buNone/>
            </a:pPr>
            <a:r>
              <a:rPr lang="en-US" sz="1400" dirty="0">
                <a:solidFill>
                  <a:schemeClr val="tx2"/>
                </a:solidFill>
              </a:rPr>
              <a:t>Delays and scattered information can slow down choosing the right resources.</a:t>
            </a:r>
            <a:endParaRPr lang="en-US" sz="1400" dirty="0"/>
          </a:p>
        </p:txBody>
      </p:sp>
      <p:sp>
        <p:nvSpPr>
          <p:cNvPr id="14" name="Card 11"/>
          <p:cNvSpPr/>
          <p:nvPr/>
        </p:nvSpPr>
        <p:spPr>
          <a:xfrm>
            <a:off x="8125968" y="1280160"/>
            <a:ext cx="3514344" cy="2011680"/>
          </a:xfrm>
          <a:prstGeom prst="roundRect">
            <a:avLst>
              <a:gd name="adj" fmla="val 4545"/>
            </a:avLst>
          </a:prstGeom>
          <a:solidFill>
            <a:schemeClr val="bg2"/>
          </a:solidFill>
          <a:ln w="9525">
            <a:solidFill>
              <a:schemeClr val="accent6"/>
            </a:solidFill>
            <a:prstDash val="solid"/>
          </a:ln>
        </p:spPr>
      </p:sp>
      <p:sp>
        <p:nvSpPr>
          <p:cNvPr id="15" name="Icon badge 12"/>
          <p:cNvSpPr/>
          <p:nvPr/>
        </p:nvSpPr>
        <p:spPr>
          <a:xfrm>
            <a:off x="8354568" y="1508760"/>
            <a:ext cx="594360" cy="594360"/>
          </a:xfrm>
          <a:prstGeom prst="ellipse">
            <a:avLst/>
          </a:prstGeom>
          <a:solidFill>
            <a:schemeClr val="accent1">
              <a:alpha val="22000"/>
            </a:schemeClr>
          </a:solidFill>
          <a:ln w="9525">
            <a:solidFill>
              <a:schemeClr val="accent1"/>
            </a:solidFill>
            <a:prstDash val="solid"/>
          </a:ln>
        </p:spPr>
      </p:sp>
      <p:pic>
        <p:nvPicPr>
          <p:cNvPr id="16" name="Image 2" descr="TachometerAlt icon">    </p:cNvPr>
          <p:cNvPicPr>
            <a:picLocks noChangeAspect="1"/>
          </p:cNvPicPr>
          <p:nvPr/>
        </p:nvPicPr>
        <p:blipFill>
          <a:blip r:embed="rId3"/>
          <a:stretch>
            <a:fillRect/>
          </a:stretch>
        </p:blipFill>
        <p:spPr>
          <a:xfrm>
            <a:off x="8503158" y="1657350"/>
            <a:ext cx="297180" cy="297180"/>
          </a:xfrm>
          <a:prstGeom prst="rect">
            <a:avLst/>
          </a:prstGeom>
        </p:spPr>
      </p:pic>
      <p:sp>
        <p:nvSpPr>
          <p:cNvPr id="17" name="Text 11"/>
          <p:cNvSpPr txBox="1"/>
          <p:nvPr/>
        </p:nvSpPr>
        <p:spPr>
          <a:xfrm>
            <a:off x="9131808" y="1508760"/>
            <a:ext cx="2325624" cy="594360"/>
          </a:xfrm>
          <a:prstGeom prst="rect">
            <a:avLst/>
          </a:prstGeom>
          <a:noFill/>
          <a:ln/>
        </p:spPr>
        <p:txBody>
          <a:bodyPr wrap="square" lIns="0" tIns="0" rIns="0" bIns="0" rtlCol="0" anchor="ctr"/>
          <a:lstStyle/>
          <a:p>
            <a:pPr indent="0" marL="0">
              <a:buNone/>
            </a:pPr>
            <a:r>
              <a:rPr lang="en-US" sz="1800" b="1" dirty="0">
                <a:solidFill>
                  <a:schemeClr val="tx1"/>
                </a:solidFill>
              </a:rPr>
              <a:t>One unified dashboard</a:t>
            </a:r>
            <a:endParaRPr lang="en-US" sz="1800" dirty="0"/>
          </a:p>
        </p:txBody>
      </p:sp>
      <p:sp>
        <p:nvSpPr>
          <p:cNvPr id="18" name="Text 12"/>
          <p:cNvSpPr txBox="1"/>
          <p:nvPr/>
        </p:nvSpPr>
        <p:spPr>
          <a:xfrm>
            <a:off x="8354568" y="2286000"/>
            <a:ext cx="3057144" cy="914400"/>
          </a:xfrm>
          <a:prstGeom prst="rect">
            <a:avLst/>
          </a:prstGeom>
          <a:noFill/>
          <a:ln/>
        </p:spPr>
        <p:txBody>
          <a:bodyPr wrap="square" lIns="0" tIns="0" rIns="0" bIns="0" rtlCol="0" anchor="t"/>
          <a:lstStyle/>
          <a:p>
            <a:pPr indent="0" marL="0">
              <a:buNone/>
            </a:pPr>
            <a:r>
              <a:rPr lang="en-US" sz="1400" dirty="0">
                <a:solidFill>
                  <a:schemeClr val="tx2"/>
                </a:solidFill>
              </a:rPr>
              <a:t>Emergencies, ambulances and hospitals are viewed together in a single interface.</a:t>
            </a:r>
            <a:endParaRPr lang="en-US" sz="1400" dirty="0"/>
          </a:p>
        </p:txBody>
      </p:sp>
      <p:sp>
        <p:nvSpPr>
          <p:cNvPr id="19" name="Card 13"/>
          <p:cNvSpPr/>
          <p:nvPr/>
        </p:nvSpPr>
        <p:spPr>
          <a:xfrm>
            <a:off x="548640" y="3520440"/>
            <a:ext cx="11091672" cy="2697480"/>
          </a:xfrm>
          <a:prstGeom prst="roundRect">
            <a:avLst>
              <a:gd name="adj" fmla="val 3390"/>
            </a:avLst>
          </a:prstGeom>
          <a:solidFill>
            <a:schemeClr val="bg2"/>
          </a:solidFill>
          <a:ln w="9525">
            <a:solidFill>
              <a:schemeClr val="accent6"/>
            </a:solidFill>
            <a:prstDash val="solid"/>
          </a:ln>
        </p:spPr>
      </p:sp>
      <p:sp>
        <p:nvSpPr>
          <p:cNvPr id="20" name="Text 14"/>
          <p:cNvSpPr txBox="1"/>
          <p:nvPr/>
        </p:nvSpPr>
        <p:spPr>
          <a:xfrm>
            <a:off x="822960" y="3657600"/>
            <a:ext cx="7315200" cy="365760"/>
          </a:xfrm>
          <a:prstGeom prst="rect">
            <a:avLst/>
          </a:prstGeom>
          <a:noFill/>
          <a:ln/>
        </p:spPr>
        <p:txBody>
          <a:bodyPr wrap="square" lIns="0" tIns="0" rIns="0" bIns="0" rtlCol="0" anchor="t"/>
          <a:lstStyle/>
          <a:p>
            <a:pPr indent="0" marL="0">
              <a:buNone/>
            </a:pPr>
            <a:r>
              <a:rPr lang="en-US" sz="1800" b="1" dirty="0">
                <a:solidFill>
                  <a:schemeClr val="accent2"/>
                </a:solidFill>
              </a:rPr>
              <a:t>Four functions combined in one dashboard</a:t>
            </a:r>
            <a:endParaRPr lang="en-US" sz="1800" dirty="0"/>
          </a:p>
        </p:txBody>
      </p:sp>
      <p:sp>
        <p:nvSpPr>
          <p:cNvPr id="21" name="Card 14"/>
          <p:cNvSpPr/>
          <p:nvPr/>
        </p:nvSpPr>
        <p:spPr>
          <a:xfrm>
            <a:off x="822960" y="4206240"/>
            <a:ext cx="2327148" cy="914400"/>
          </a:xfrm>
          <a:prstGeom prst="roundRect">
            <a:avLst>
              <a:gd name="adj" fmla="val 8000"/>
            </a:avLst>
          </a:prstGeom>
          <a:solidFill>
            <a:schemeClr val="bg1"/>
          </a:solidFill>
          <a:ln w="9525">
            <a:solidFill>
              <a:schemeClr val="accent6"/>
            </a:solidFill>
            <a:prstDash val="solid"/>
          </a:ln>
        </p:spPr>
      </p:sp>
      <p:sp>
        <p:nvSpPr>
          <p:cNvPr id="22" name="Icon badge 15"/>
          <p:cNvSpPr/>
          <p:nvPr/>
        </p:nvSpPr>
        <p:spPr>
          <a:xfrm>
            <a:off x="960120" y="4434840"/>
            <a:ext cx="457200" cy="457200"/>
          </a:xfrm>
          <a:prstGeom prst="ellipse">
            <a:avLst/>
          </a:prstGeom>
          <a:solidFill>
            <a:schemeClr val="accent1">
              <a:alpha val="22000"/>
            </a:schemeClr>
          </a:solidFill>
          <a:ln w="9525">
            <a:solidFill>
              <a:schemeClr val="accent1"/>
            </a:solidFill>
            <a:prstDash val="solid"/>
          </a:ln>
        </p:spPr>
      </p:sp>
      <p:pic>
        <p:nvPicPr>
          <p:cNvPr id="23" name="Image 3" descr="ClipboardList icon">    </p:cNvPr>
          <p:cNvPicPr>
            <a:picLocks noChangeAspect="1"/>
          </p:cNvPicPr>
          <p:nvPr/>
        </p:nvPicPr>
        <p:blipFill>
          <a:blip r:embed="rId4"/>
          <a:stretch>
            <a:fillRect/>
          </a:stretch>
        </p:blipFill>
        <p:spPr>
          <a:xfrm>
            <a:off x="1074420" y="4549140"/>
            <a:ext cx="228600" cy="228600"/>
          </a:xfrm>
          <a:prstGeom prst="rect">
            <a:avLst/>
          </a:prstGeom>
        </p:spPr>
      </p:pic>
      <p:sp>
        <p:nvSpPr>
          <p:cNvPr id="24" name="Text 17"/>
          <p:cNvSpPr txBox="1"/>
          <p:nvPr/>
        </p:nvSpPr>
        <p:spPr>
          <a:xfrm>
            <a:off x="1554480" y="4206240"/>
            <a:ext cx="1504188" cy="914400"/>
          </a:xfrm>
          <a:prstGeom prst="rect">
            <a:avLst/>
          </a:prstGeom>
          <a:noFill/>
          <a:ln/>
        </p:spPr>
        <p:txBody>
          <a:bodyPr wrap="square" lIns="0" tIns="0" rIns="0" bIns="0" rtlCol="0" anchor="ctr"/>
          <a:lstStyle/>
          <a:p>
            <a:pPr indent="0" marL="0">
              <a:buNone/>
            </a:pPr>
            <a:r>
              <a:rPr lang="en-US" sz="1400" b="1" dirty="0">
                <a:solidFill>
                  <a:schemeClr val="tx1"/>
                </a:solidFill>
              </a:rPr>
              <a:t>Emergency intake</a:t>
            </a:r>
            <a:endParaRPr lang="en-US" sz="1400" dirty="0"/>
          </a:p>
        </p:txBody>
      </p:sp>
      <p:sp>
        <p:nvSpPr>
          <p:cNvPr id="25" name="Arrow 16"/>
          <p:cNvSpPr/>
          <p:nvPr/>
        </p:nvSpPr>
        <p:spPr>
          <a:xfrm>
            <a:off x="3195828" y="4663440"/>
            <a:ext cx="320040" cy="0"/>
          </a:xfrm>
          <a:prstGeom prst="line">
            <a:avLst/>
          </a:prstGeom>
          <a:noFill/>
          <a:ln w="19050">
            <a:solidFill>
              <a:schemeClr val="accent2"/>
            </a:solidFill>
            <a:prstDash val="solid"/>
            <a:tailEnd type="triangle"/>
          </a:ln>
        </p:spPr>
      </p:sp>
      <p:sp>
        <p:nvSpPr>
          <p:cNvPr id="26" name="Arrow 17"/>
          <p:cNvSpPr/>
          <p:nvPr/>
        </p:nvSpPr>
        <p:spPr>
          <a:xfrm>
            <a:off x="1986534" y="5120640"/>
            <a:ext cx="0" cy="320040"/>
          </a:xfrm>
          <a:prstGeom prst="line">
            <a:avLst/>
          </a:prstGeom>
          <a:noFill/>
          <a:ln w="19050">
            <a:solidFill>
              <a:schemeClr val="accent2"/>
            </a:solidFill>
            <a:prstDash val="solid"/>
            <a:tailEnd type="triangle"/>
          </a:ln>
        </p:spPr>
      </p:sp>
      <p:sp>
        <p:nvSpPr>
          <p:cNvPr id="27" name="Card 18"/>
          <p:cNvSpPr/>
          <p:nvPr/>
        </p:nvSpPr>
        <p:spPr>
          <a:xfrm>
            <a:off x="3561588" y="4206240"/>
            <a:ext cx="2327148" cy="914400"/>
          </a:xfrm>
          <a:prstGeom prst="roundRect">
            <a:avLst>
              <a:gd name="adj" fmla="val 8000"/>
            </a:avLst>
          </a:prstGeom>
          <a:solidFill>
            <a:schemeClr val="bg1"/>
          </a:solidFill>
          <a:ln w="9525">
            <a:solidFill>
              <a:schemeClr val="accent6"/>
            </a:solidFill>
            <a:prstDash val="solid"/>
          </a:ln>
        </p:spPr>
      </p:sp>
      <p:sp>
        <p:nvSpPr>
          <p:cNvPr id="28" name="Icon badge 19"/>
          <p:cNvSpPr/>
          <p:nvPr/>
        </p:nvSpPr>
        <p:spPr>
          <a:xfrm>
            <a:off x="3698748" y="4434840"/>
            <a:ext cx="457200" cy="457200"/>
          </a:xfrm>
          <a:prstGeom prst="ellipse">
            <a:avLst/>
          </a:prstGeom>
          <a:solidFill>
            <a:schemeClr val="accent1">
              <a:alpha val="22000"/>
            </a:schemeClr>
          </a:solidFill>
          <a:ln w="9525">
            <a:solidFill>
              <a:schemeClr val="accent1"/>
            </a:solidFill>
            <a:prstDash val="solid"/>
          </a:ln>
        </p:spPr>
      </p:sp>
      <p:pic>
        <p:nvPicPr>
          <p:cNvPr id="29" name="Image 4" descr="Heartbeat icon">    </p:cNvPr>
          <p:cNvPicPr>
            <a:picLocks noChangeAspect="1"/>
          </p:cNvPicPr>
          <p:nvPr/>
        </p:nvPicPr>
        <p:blipFill>
          <a:blip r:embed="rId5"/>
          <a:stretch>
            <a:fillRect/>
          </a:stretch>
        </p:blipFill>
        <p:spPr>
          <a:xfrm>
            <a:off x="3813048" y="4549140"/>
            <a:ext cx="228600" cy="228600"/>
          </a:xfrm>
          <a:prstGeom prst="rect">
            <a:avLst/>
          </a:prstGeom>
        </p:spPr>
      </p:pic>
      <p:sp>
        <p:nvSpPr>
          <p:cNvPr id="30" name="Text 22"/>
          <p:cNvSpPr txBox="1"/>
          <p:nvPr/>
        </p:nvSpPr>
        <p:spPr>
          <a:xfrm>
            <a:off x="4293108" y="4206240"/>
            <a:ext cx="1504188" cy="914400"/>
          </a:xfrm>
          <a:prstGeom prst="rect">
            <a:avLst/>
          </a:prstGeom>
          <a:noFill/>
          <a:ln/>
        </p:spPr>
        <p:txBody>
          <a:bodyPr wrap="square" lIns="0" tIns="0" rIns="0" bIns="0" rtlCol="0" anchor="ctr"/>
          <a:lstStyle/>
          <a:p>
            <a:pPr indent="0" marL="0">
              <a:buNone/>
            </a:pPr>
            <a:r>
              <a:rPr lang="en-US" sz="1400" b="1" dirty="0">
                <a:solidFill>
                  <a:schemeClr val="tx1"/>
                </a:solidFill>
              </a:rPr>
              <a:t>Patient observation analysis</a:t>
            </a:r>
            <a:endParaRPr lang="en-US" sz="1400" dirty="0"/>
          </a:p>
        </p:txBody>
      </p:sp>
      <p:sp>
        <p:nvSpPr>
          <p:cNvPr id="31" name="Arrow 20"/>
          <p:cNvSpPr/>
          <p:nvPr/>
        </p:nvSpPr>
        <p:spPr>
          <a:xfrm>
            <a:off x="5934456" y="4663440"/>
            <a:ext cx="320040" cy="0"/>
          </a:xfrm>
          <a:prstGeom prst="line">
            <a:avLst/>
          </a:prstGeom>
          <a:noFill/>
          <a:ln w="19050">
            <a:solidFill>
              <a:schemeClr val="accent2"/>
            </a:solidFill>
            <a:prstDash val="solid"/>
            <a:tailEnd type="triangle"/>
          </a:ln>
        </p:spPr>
      </p:sp>
      <p:sp>
        <p:nvSpPr>
          <p:cNvPr id="32" name="Arrow 21"/>
          <p:cNvSpPr/>
          <p:nvPr/>
        </p:nvSpPr>
        <p:spPr>
          <a:xfrm>
            <a:off x="4725162" y="5120640"/>
            <a:ext cx="0" cy="320040"/>
          </a:xfrm>
          <a:prstGeom prst="line">
            <a:avLst/>
          </a:prstGeom>
          <a:noFill/>
          <a:ln w="19050">
            <a:solidFill>
              <a:schemeClr val="accent2"/>
            </a:solidFill>
            <a:prstDash val="solid"/>
            <a:tailEnd type="triangle"/>
          </a:ln>
        </p:spPr>
      </p:sp>
      <p:sp>
        <p:nvSpPr>
          <p:cNvPr id="33" name="Card 22"/>
          <p:cNvSpPr/>
          <p:nvPr/>
        </p:nvSpPr>
        <p:spPr>
          <a:xfrm>
            <a:off x="6300216" y="4206240"/>
            <a:ext cx="2327148" cy="914400"/>
          </a:xfrm>
          <a:prstGeom prst="roundRect">
            <a:avLst>
              <a:gd name="adj" fmla="val 8000"/>
            </a:avLst>
          </a:prstGeom>
          <a:solidFill>
            <a:schemeClr val="bg1"/>
          </a:solidFill>
          <a:ln w="9525">
            <a:solidFill>
              <a:schemeClr val="accent6"/>
            </a:solidFill>
            <a:prstDash val="solid"/>
          </a:ln>
        </p:spPr>
      </p:sp>
      <p:sp>
        <p:nvSpPr>
          <p:cNvPr id="34" name="Icon badge 23"/>
          <p:cNvSpPr/>
          <p:nvPr/>
        </p:nvSpPr>
        <p:spPr>
          <a:xfrm>
            <a:off x="6437376" y="4434840"/>
            <a:ext cx="457200" cy="457200"/>
          </a:xfrm>
          <a:prstGeom prst="ellipse">
            <a:avLst/>
          </a:prstGeom>
          <a:solidFill>
            <a:schemeClr val="accent1">
              <a:alpha val="22000"/>
            </a:schemeClr>
          </a:solidFill>
          <a:ln w="9525">
            <a:solidFill>
              <a:schemeClr val="accent1"/>
            </a:solidFill>
            <a:prstDash val="solid"/>
          </a:ln>
        </p:spPr>
      </p:sp>
      <p:pic>
        <p:nvPicPr>
          <p:cNvPr id="35" name="Image 5" descr="Ambulance icon">    </p:cNvPr>
          <p:cNvPicPr>
            <a:picLocks noChangeAspect="1"/>
          </p:cNvPicPr>
          <p:nvPr/>
        </p:nvPicPr>
        <p:blipFill>
          <a:blip r:embed="rId6"/>
          <a:stretch>
            <a:fillRect/>
          </a:stretch>
        </p:blipFill>
        <p:spPr>
          <a:xfrm>
            <a:off x="6551676" y="4549140"/>
            <a:ext cx="228600" cy="228600"/>
          </a:xfrm>
          <a:prstGeom prst="rect">
            <a:avLst/>
          </a:prstGeom>
        </p:spPr>
      </p:pic>
      <p:sp>
        <p:nvSpPr>
          <p:cNvPr id="36" name="Text 27"/>
          <p:cNvSpPr txBox="1"/>
          <p:nvPr/>
        </p:nvSpPr>
        <p:spPr>
          <a:xfrm>
            <a:off x="7031736" y="4206240"/>
            <a:ext cx="1504188" cy="914400"/>
          </a:xfrm>
          <a:prstGeom prst="rect">
            <a:avLst/>
          </a:prstGeom>
          <a:noFill/>
          <a:ln/>
        </p:spPr>
        <p:txBody>
          <a:bodyPr wrap="square" lIns="0" tIns="0" rIns="0" bIns="0" rtlCol="0" anchor="ctr"/>
          <a:lstStyle/>
          <a:p>
            <a:pPr indent="0" marL="0">
              <a:buNone/>
            </a:pPr>
            <a:r>
              <a:rPr lang="en-US" sz="1400" b="1" dirty="0">
                <a:solidFill>
                  <a:schemeClr val="tx1"/>
                </a:solidFill>
              </a:rPr>
              <a:t>Ambulance support</a:t>
            </a:r>
            <a:endParaRPr lang="en-US" sz="1400" dirty="0"/>
          </a:p>
        </p:txBody>
      </p:sp>
      <p:sp>
        <p:nvSpPr>
          <p:cNvPr id="37" name="Arrow 24"/>
          <p:cNvSpPr/>
          <p:nvPr/>
        </p:nvSpPr>
        <p:spPr>
          <a:xfrm>
            <a:off x="8673084" y="4663440"/>
            <a:ext cx="320040" cy="0"/>
          </a:xfrm>
          <a:prstGeom prst="line">
            <a:avLst/>
          </a:prstGeom>
          <a:noFill/>
          <a:ln w="19050">
            <a:solidFill>
              <a:schemeClr val="accent2"/>
            </a:solidFill>
            <a:prstDash val="solid"/>
            <a:tailEnd type="triangle"/>
          </a:ln>
        </p:spPr>
      </p:sp>
      <p:sp>
        <p:nvSpPr>
          <p:cNvPr id="38" name="Arrow 25"/>
          <p:cNvSpPr/>
          <p:nvPr/>
        </p:nvSpPr>
        <p:spPr>
          <a:xfrm>
            <a:off x="7463790" y="5120640"/>
            <a:ext cx="0" cy="320040"/>
          </a:xfrm>
          <a:prstGeom prst="line">
            <a:avLst/>
          </a:prstGeom>
          <a:noFill/>
          <a:ln w="19050">
            <a:solidFill>
              <a:schemeClr val="accent2"/>
            </a:solidFill>
            <a:prstDash val="solid"/>
            <a:tailEnd type="triangle"/>
          </a:ln>
        </p:spPr>
      </p:sp>
      <p:sp>
        <p:nvSpPr>
          <p:cNvPr id="39" name="Card 26"/>
          <p:cNvSpPr/>
          <p:nvPr/>
        </p:nvSpPr>
        <p:spPr>
          <a:xfrm>
            <a:off x="9038844" y="4206240"/>
            <a:ext cx="2327148" cy="914400"/>
          </a:xfrm>
          <a:prstGeom prst="roundRect">
            <a:avLst>
              <a:gd name="adj" fmla="val 8000"/>
            </a:avLst>
          </a:prstGeom>
          <a:solidFill>
            <a:schemeClr val="bg1"/>
          </a:solidFill>
          <a:ln w="9525">
            <a:solidFill>
              <a:schemeClr val="accent6"/>
            </a:solidFill>
            <a:prstDash val="solid"/>
          </a:ln>
        </p:spPr>
      </p:sp>
      <p:sp>
        <p:nvSpPr>
          <p:cNvPr id="40" name="Icon badge 27"/>
          <p:cNvSpPr/>
          <p:nvPr/>
        </p:nvSpPr>
        <p:spPr>
          <a:xfrm>
            <a:off x="9176004" y="4434840"/>
            <a:ext cx="457200" cy="457200"/>
          </a:xfrm>
          <a:prstGeom prst="ellipse">
            <a:avLst/>
          </a:prstGeom>
          <a:solidFill>
            <a:schemeClr val="accent1">
              <a:alpha val="22000"/>
            </a:schemeClr>
          </a:solidFill>
          <a:ln w="9525">
            <a:solidFill>
              <a:schemeClr val="accent1"/>
            </a:solidFill>
            <a:prstDash val="solid"/>
          </a:ln>
        </p:spPr>
      </p:sp>
      <p:pic>
        <p:nvPicPr>
          <p:cNvPr id="41" name="Image 6" descr="Hospital icon">    </p:cNvPr>
          <p:cNvPicPr>
            <a:picLocks noChangeAspect="1"/>
          </p:cNvPicPr>
          <p:nvPr/>
        </p:nvPicPr>
        <p:blipFill>
          <a:blip r:embed="rId7"/>
          <a:stretch>
            <a:fillRect/>
          </a:stretch>
        </p:blipFill>
        <p:spPr>
          <a:xfrm>
            <a:off x="9290304" y="4549140"/>
            <a:ext cx="228600" cy="228600"/>
          </a:xfrm>
          <a:prstGeom prst="rect">
            <a:avLst/>
          </a:prstGeom>
        </p:spPr>
      </p:pic>
      <p:sp>
        <p:nvSpPr>
          <p:cNvPr id="42" name="Text 32"/>
          <p:cNvSpPr txBox="1"/>
          <p:nvPr/>
        </p:nvSpPr>
        <p:spPr>
          <a:xfrm>
            <a:off x="9770364" y="4206240"/>
            <a:ext cx="1504188" cy="914400"/>
          </a:xfrm>
          <a:prstGeom prst="rect">
            <a:avLst/>
          </a:prstGeom>
          <a:noFill/>
          <a:ln/>
        </p:spPr>
        <p:txBody>
          <a:bodyPr wrap="square" lIns="0" tIns="0" rIns="0" bIns="0" rtlCol="0" anchor="ctr"/>
          <a:lstStyle/>
          <a:p>
            <a:pPr indent="0" marL="0">
              <a:buNone/>
            </a:pPr>
            <a:r>
              <a:rPr lang="en-US" sz="1400" b="1" dirty="0">
                <a:solidFill>
                  <a:schemeClr val="tx1"/>
                </a:solidFill>
              </a:rPr>
              <a:t>Hospital resource recommendations</a:t>
            </a:r>
            <a:endParaRPr lang="en-US" sz="1400" dirty="0"/>
          </a:p>
        </p:txBody>
      </p:sp>
      <p:sp>
        <p:nvSpPr>
          <p:cNvPr id="43" name="Arrow 28"/>
          <p:cNvSpPr/>
          <p:nvPr/>
        </p:nvSpPr>
        <p:spPr>
          <a:xfrm>
            <a:off x="10202418" y="5120640"/>
            <a:ext cx="0" cy="320040"/>
          </a:xfrm>
          <a:prstGeom prst="line">
            <a:avLst/>
          </a:prstGeom>
          <a:noFill/>
          <a:ln w="19050">
            <a:solidFill>
              <a:schemeClr val="accent2"/>
            </a:solidFill>
            <a:prstDash val="solid"/>
            <a:tailEnd type="triangle"/>
          </a:ln>
        </p:spPr>
      </p:sp>
      <p:sp>
        <p:nvSpPr>
          <p:cNvPr id="44" name="Unified dashboard bar"/>
          <p:cNvSpPr/>
          <p:nvPr/>
        </p:nvSpPr>
        <p:spPr>
          <a:xfrm>
            <a:off x="822960" y="5440680"/>
            <a:ext cx="10543032" cy="548640"/>
          </a:xfrm>
          <a:prstGeom prst="roundRect">
            <a:avLst>
              <a:gd name="adj" fmla="val 13333"/>
            </a:avLst>
          </a:prstGeom>
          <a:solidFill>
            <a:schemeClr val="accent1"/>
          </a:solidFill>
          <a:ln w="6350">
            <a:solidFill>
              <a:schemeClr val="accent1"/>
            </a:solidFill>
            <a:prstDash val="solid"/>
          </a:ln>
        </p:spPr>
      </p:sp>
      <p:sp>
        <p:nvSpPr>
          <p:cNvPr id="45" name="Text 35"/>
          <p:cNvSpPr txBox="1"/>
          <p:nvPr/>
        </p:nvSpPr>
        <p:spPr>
          <a:xfrm>
            <a:off x="822960" y="5440680"/>
            <a:ext cx="10543032" cy="548640"/>
          </a:xfrm>
          <a:prstGeom prst="rect">
            <a:avLst/>
          </a:prstGeom>
          <a:noFill/>
          <a:ln/>
        </p:spPr>
        <p:txBody>
          <a:bodyPr wrap="square" lIns="0" tIns="0" rIns="0" bIns="0" rtlCol="0" anchor="ctr"/>
          <a:lstStyle/>
          <a:p>
            <a:pPr algn="ctr" indent="0" marL="0">
              <a:buNone/>
            </a:pPr>
            <a:r>
              <a:rPr lang="en-US" sz="1600" b="1" dirty="0">
                <a:solidFill>
                  <a:schemeClr val="bg1"/>
                </a:solidFill>
              </a:rPr>
              <a:t>Unified dashboard for operators</a:t>
            </a:r>
            <a:endParaRPr lang="en-US" sz="16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a:t>
            </a:r>
            <a:endParaRPr lang="en-US" sz="3200" dirty="0"/>
          </a:p>
        </p:txBody>
      </p:sp>
      <p:sp>
        <p:nvSpPr>
          <p:cNvPr id="4" name="Card 29"/>
          <p:cNvSpPr/>
          <p:nvPr/>
        </p:nvSpPr>
        <p:spPr>
          <a:xfrm>
            <a:off x="548640" y="1280160"/>
            <a:ext cx="3383280" cy="2194560"/>
          </a:xfrm>
          <a:prstGeom prst="roundRect">
            <a:avLst>
              <a:gd name="adj" fmla="val 4167"/>
            </a:avLst>
          </a:prstGeom>
          <a:solidFill>
            <a:schemeClr val="bg2"/>
          </a:solidFill>
          <a:ln w="9525">
            <a:solidFill>
              <a:schemeClr val="accent6"/>
            </a:solidFill>
            <a:prstDash val="solid"/>
          </a:ln>
        </p:spPr>
      </p:sp>
      <p:sp>
        <p:nvSpPr>
          <p:cNvPr id="5" name="Icon badge 30"/>
          <p:cNvSpPr/>
          <p:nvPr/>
        </p:nvSpPr>
        <p:spPr>
          <a:xfrm>
            <a:off x="777240" y="1508760"/>
            <a:ext cx="548640" cy="548640"/>
          </a:xfrm>
          <a:prstGeom prst="ellipse">
            <a:avLst/>
          </a:prstGeom>
          <a:solidFill>
            <a:schemeClr val="accent4">
              <a:alpha val="22000"/>
            </a:schemeClr>
          </a:solidFill>
          <a:ln w="9525">
            <a:solidFill>
              <a:schemeClr val="accent4"/>
            </a:solidFill>
            <a:prstDash val="solid"/>
          </a:ln>
        </p:spPr>
      </p:sp>
      <p:pic>
        <p:nvPicPr>
          <p:cNvPr id="6" name="Image 0" descr="FileMedical icon">    </p:cNvPr>
          <p:cNvPicPr>
            <a:picLocks noChangeAspect="1"/>
          </p:cNvPicPr>
          <p:nvPr/>
        </p:nvPicPr>
        <p:blipFill>
          <a:blip r:embed="rId1"/>
          <a:stretch>
            <a:fillRect/>
          </a:stretch>
        </p:blipFill>
        <p:spPr>
          <a:xfrm>
            <a:off x="914400" y="1645920"/>
            <a:ext cx="274320" cy="274320"/>
          </a:xfrm>
          <a:prstGeom prst="rect">
            <a:avLst/>
          </a:prstGeom>
        </p:spPr>
      </p:pic>
      <p:sp>
        <p:nvSpPr>
          <p:cNvPr id="7" name="Text 3"/>
          <p:cNvSpPr txBox="1"/>
          <p:nvPr/>
        </p:nvSpPr>
        <p:spPr>
          <a:xfrm>
            <a:off x="1508760" y="150876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Fragmented patient information</a:t>
            </a:r>
            <a:endParaRPr lang="en-US" sz="1600" dirty="0"/>
          </a:p>
        </p:txBody>
      </p:sp>
      <p:sp>
        <p:nvSpPr>
          <p:cNvPr id="8" name="Text 4"/>
          <p:cNvSpPr txBox="1"/>
          <p:nvPr/>
        </p:nvSpPr>
        <p:spPr>
          <a:xfrm>
            <a:off x="777240" y="2240280"/>
            <a:ext cx="2926080" cy="1097280"/>
          </a:xfrm>
          <a:prstGeom prst="rect">
            <a:avLst/>
          </a:prstGeom>
          <a:noFill/>
          <a:ln/>
        </p:spPr>
        <p:txBody>
          <a:bodyPr wrap="square" lIns="0" tIns="0" rIns="0" bIns="0" rtlCol="0" anchor="t"/>
          <a:lstStyle/>
          <a:p>
            <a:pPr indent="0" marL="0">
              <a:buNone/>
            </a:pPr>
            <a:r>
              <a:rPr lang="en-US" sz="1400" dirty="0">
                <a:solidFill>
                  <a:schemeClr val="tx2"/>
                </a:solidFill>
              </a:rPr>
              <a:t>Details can sit in separate places, so a full picture takes time to assemble.</a:t>
            </a:r>
            <a:endParaRPr lang="en-US" sz="1400" dirty="0"/>
          </a:p>
        </p:txBody>
      </p:sp>
      <p:sp>
        <p:nvSpPr>
          <p:cNvPr id="9" name="Card 31"/>
          <p:cNvSpPr/>
          <p:nvPr/>
        </p:nvSpPr>
        <p:spPr>
          <a:xfrm>
            <a:off x="4206240" y="1280160"/>
            <a:ext cx="3383280" cy="2194560"/>
          </a:xfrm>
          <a:prstGeom prst="roundRect">
            <a:avLst>
              <a:gd name="adj" fmla="val 4167"/>
            </a:avLst>
          </a:prstGeom>
          <a:solidFill>
            <a:schemeClr val="bg2"/>
          </a:solidFill>
          <a:ln w="9525">
            <a:solidFill>
              <a:schemeClr val="accent6"/>
            </a:solidFill>
            <a:prstDash val="solid"/>
          </a:ln>
        </p:spPr>
      </p:sp>
      <p:sp>
        <p:nvSpPr>
          <p:cNvPr id="10" name="Icon badge 32"/>
          <p:cNvSpPr/>
          <p:nvPr/>
        </p:nvSpPr>
        <p:spPr>
          <a:xfrm>
            <a:off x="4434840" y="1508760"/>
            <a:ext cx="548640" cy="548640"/>
          </a:xfrm>
          <a:prstGeom prst="ellipse">
            <a:avLst/>
          </a:prstGeom>
          <a:solidFill>
            <a:schemeClr val="accent2">
              <a:alpha val="22000"/>
            </a:schemeClr>
          </a:solidFill>
          <a:ln w="9525">
            <a:solidFill>
              <a:schemeClr val="accent2"/>
            </a:solidFill>
            <a:prstDash val="solid"/>
          </a:ln>
        </p:spPr>
      </p:sp>
      <p:pic>
        <p:nvPicPr>
          <p:cNvPr id="11" name="Image 1" descr="Ambulance icon">    </p:cNvPr>
          <p:cNvPicPr>
            <a:picLocks noChangeAspect="1"/>
          </p:cNvPicPr>
          <p:nvPr/>
        </p:nvPicPr>
        <p:blipFill>
          <a:blip r:embed="rId2"/>
          <a:stretch>
            <a:fillRect/>
          </a:stretch>
        </p:blipFill>
        <p:spPr>
          <a:xfrm>
            <a:off x="4572000" y="1645920"/>
            <a:ext cx="274320" cy="274320"/>
          </a:xfrm>
          <a:prstGeom prst="rect">
            <a:avLst/>
          </a:prstGeom>
        </p:spPr>
      </p:pic>
      <p:sp>
        <p:nvSpPr>
          <p:cNvPr id="12" name="Text 7"/>
          <p:cNvSpPr txBox="1"/>
          <p:nvPr/>
        </p:nvSpPr>
        <p:spPr>
          <a:xfrm>
            <a:off x="5166360" y="150876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Limited ambulance visibility</a:t>
            </a:r>
            <a:endParaRPr lang="en-US" sz="1600" dirty="0"/>
          </a:p>
        </p:txBody>
      </p:sp>
      <p:sp>
        <p:nvSpPr>
          <p:cNvPr id="13" name="Text 8"/>
          <p:cNvSpPr txBox="1"/>
          <p:nvPr/>
        </p:nvSpPr>
        <p:spPr>
          <a:xfrm>
            <a:off x="4434840" y="2240280"/>
            <a:ext cx="2926080" cy="1097280"/>
          </a:xfrm>
          <a:prstGeom prst="rect">
            <a:avLst/>
          </a:prstGeom>
          <a:noFill/>
          <a:ln/>
        </p:spPr>
        <p:txBody>
          <a:bodyPr wrap="square" lIns="0" tIns="0" rIns="0" bIns="0" rtlCol="0" anchor="t"/>
          <a:lstStyle/>
          <a:p>
            <a:pPr indent="0" marL="0">
              <a:buNone/>
            </a:pPr>
            <a:r>
              <a:rPr lang="en-US" sz="1400" dirty="0">
                <a:solidFill>
                  <a:schemeClr val="tx2"/>
                </a:solidFill>
              </a:rPr>
              <a:t>It can be hard to see which units are available and how far away they are.</a:t>
            </a:r>
            <a:endParaRPr lang="en-US" sz="1400" dirty="0"/>
          </a:p>
        </p:txBody>
      </p:sp>
      <p:sp>
        <p:nvSpPr>
          <p:cNvPr id="14" name="Card 33"/>
          <p:cNvSpPr/>
          <p:nvPr/>
        </p:nvSpPr>
        <p:spPr>
          <a:xfrm>
            <a:off x="548640" y="3749040"/>
            <a:ext cx="3383280" cy="2194560"/>
          </a:xfrm>
          <a:prstGeom prst="roundRect">
            <a:avLst>
              <a:gd name="adj" fmla="val 4167"/>
            </a:avLst>
          </a:prstGeom>
          <a:solidFill>
            <a:schemeClr val="bg2"/>
          </a:solidFill>
          <a:ln w="9525">
            <a:solidFill>
              <a:schemeClr val="accent6"/>
            </a:solidFill>
            <a:prstDash val="solid"/>
          </a:ln>
        </p:spPr>
      </p:sp>
      <p:sp>
        <p:nvSpPr>
          <p:cNvPr id="15" name="Icon badge 34"/>
          <p:cNvSpPr/>
          <p:nvPr/>
        </p:nvSpPr>
        <p:spPr>
          <a:xfrm>
            <a:off x="777240" y="3977640"/>
            <a:ext cx="548640" cy="548640"/>
          </a:xfrm>
          <a:prstGeom prst="ellipse">
            <a:avLst/>
          </a:prstGeom>
          <a:solidFill>
            <a:schemeClr val="accent1">
              <a:alpha val="22000"/>
            </a:schemeClr>
          </a:solidFill>
          <a:ln w="9525">
            <a:solidFill>
              <a:schemeClr val="accent1"/>
            </a:solidFill>
            <a:prstDash val="solid"/>
          </a:ln>
        </p:spPr>
      </p:sp>
      <p:pic>
        <p:nvPicPr>
          <p:cNvPr id="16" name="Image 2" descr="Hospital icon">    </p:cNvPr>
          <p:cNvPicPr>
            <a:picLocks noChangeAspect="1"/>
          </p:cNvPicPr>
          <p:nvPr/>
        </p:nvPicPr>
        <p:blipFill>
          <a:blip r:embed="rId3"/>
          <a:stretch>
            <a:fillRect/>
          </a:stretch>
        </p:blipFill>
        <p:spPr>
          <a:xfrm>
            <a:off x="914400" y="4114800"/>
            <a:ext cx="274320" cy="274320"/>
          </a:xfrm>
          <a:prstGeom prst="rect">
            <a:avLst/>
          </a:prstGeom>
        </p:spPr>
      </p:pic>
      <p:sp>
        <p:nvSpPr>
          <p:cNvPr id="17" name="Text 11"/>
          <p:cNvSpPr txBox="1"/>
          <p:nvPr/>
        </p:nvSpPr>
        <p:spPr>
          <a:xfrm>
            <a:off x="1508760" y="397764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Hard to compare hospitals</a:t>
            </a:r>
            <a:endParaRPr lang="en-US" sz="1600" dirty="0"/>
          </a:p>
        </p:txBody>
      </p:sp>
      <p:sp>
        <p:nvSpPr>
          <p:cNvPr id="18" name="Text 12"/>
          <p:cNvSpPr txBox="1"/>
          <p:nvPr/>
        </p:nvSpPr>
        <p:spPr>
          <a:xfrm>
            <a:off x="777240" y="4709160"/>
            <a:ext cx="2926080" cy="1097280"/>
          </a:xfrm>
          <a:prstGeom prst="rect">
            <a:avLst/>
          </a:prstGeom>
          <a:noFill/>
          <a:ln/>
        </p:spPr>
        <p:txBody>
          <a:bodyPr wrap="square" lIns="0" tIns="0" rIns="0" bIns="0" rtlCol="0" anchor="t"/>
          <a:lstStyle/>
          <a:p>
            <a:pPr indent="0" marL="0">
              <a:buNone/>
            </a:pPr>
            <a:r>
              <a:rPr lang="en-US" sz="1400" dirty="0">
                <a:solidFill>
                  <a:schemeClr val="tx2"/>
                </a:solidFill>
              </a:rPr>
              <a:t>Capacity, occupancy and specialist cover vary and are slow to compare.</a:t>
            </a:r>
            <a:endParaRPr lang="en-US" sz="1400" dirty="0"/>
          </a:p>
        </p:txBody>
      </p:sp>
      <p:sp>
        <p:nvSpPr>
          <p:cNvPr id="19" name="Card 35"/>
          <p:cNvSpPr/>
          <p:nvPr/>
        </p:nvSpPr>
        <p:spPr>
          <a:xfrm>
            <a:off x="4206240" y="3749040"/>
            <a:ext cx="3383280" cy="2194560"/>
          </a:xfrm>
          <a:prstGeom prst="roundRect">
            <a:avLst>
              <a:gd name="adj" fmla="val 4167"/>
            </a:avLst>
          </a:prstGeom>
          <a:solidFill>
            <a:schemeClr val="bg2"/>
          </a:solidFill>
          <a:ln w="9525">
            <a:solidFill>
              <a:schemeClr val="accent6"/>
            </a:solidFill>
            <a:prstDash val="solid"/>
          </a:ln>
        </p:spPr>
      </p:sp>
      <p:sp>
        <p:nvSpPr>
          <p:cNvPr id="20" name="Icon badge 36"/>
          <p:cNvSpPr/>
          <p:nvPr/>
        </p:nvSpPr>
        <p:spPr>
          <a:xfrm>
            <a:off x="4434840" y="3977640"/>
            <a:ext cx="548640" cy="548640"/>
          </a:xfrm>
          <a:prstGeom prst="ellipse">
            <a:avLst/>
          </a:prstGeom>
          <a:solidFill>
            <a:schemeClr val="accent3">
              <a:alpha val="22000"/>
            </a:schemeClr>
          </a:solidFill>
          <a:ln w="9525">
            <a:solidFill>
              <a:schemeClr val="accent3"/>
            </a:solidFill>
            <a:prstDash val="solid"/>
          </a:ln>
        </p:spPr>
      </p:sp>
      <p:pic>
        <p:nvPicPr>
          <p:cNvPr id="21" name="Image 3" descr="Clock icon">    </p:cNvPr>
          <p:cNvPicPr>
            <a:picLocks noChangeAspect="1"/>
          </p:cNvPicPr>
          <p:nvPr/>
        </p:nvPicPr>
        <p:blipFill>
          <a:blip r:embed="rId4"/>
          <a:stretch>
            <a:fillRect/>
          </a:stretch>
        </p:blipFill>
        <p:spPr>
          <a:xfrm>
            <a:off x="4572000" y="4114800"/>
            <a:ext cx="274320" cy="274320"/>
          </a:xfrm>
          <a:prstGeom prst="rect">
            <a:avLst/>
          </a:prstGeom>
        </p:spPr>
      </p:pic>
      <p:sp>
        <p:nvSpPr>
          <p:cNvPr id="22" name="Text 15"/>
          <p:cNvSpPr txBox="1"/>
          <p:nvPr/>
        </p:nvSpPr>
        <p:spPr>
          <a:xfrm>
            <a:off x="5166360" y="397764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Time-pressured review</a:t>
            </a:r>
            <a:endParaRPr lang="en-US" sz="1600" dirty="0"/>
          </a:p>
        </p:txBody>
      </p:sp>
      <p:sp>
        <p:nvSpPr>
          <p:cNvPr id="23" name="Text 16"/>
          <p:cNvSpPr txBox="1"/>
          <p:nvPr/>
        </p:nvSpPr>
        <p:spPr>
          <a:xfrm>
            <a:off x="4434840" y="4709160"/>
            <a:ext cx="2926080" cy="1097280"/>
          </a:xfrm>
          <a:prstGeom prst="rect">
            <a:avLst/>
          </a:prstGeom>
          <a:noFill/>
          <a:ln/>
        </p:spPr>
        <p:txBody>
          <a:bodyPr wrap="square" lIns="0" tIns="0" rIns="0" bIns="0" rtlCol="0" anchor="t"/>
          <a:lstStyle/>
          <a:p>
            <a:pPr indent="0" marL="0">
              <a:buNone/>
            </a:pPr>
            <a:r>
              <a:rPr lang="en-US" sz="1400" dirty="0">
                <a:solidFill>
                  <a:schemeClr val="tx2"/>
                </a:solidFill>
              </a:rPr>
              <a:t>Operators may review several emergencies at once and must decide quickly.</a:t>
            </a:r>
            <a:endParaRPr lang="en-US" sz="1400" dirty="0"/>
          </a:p>
        </p:txBody>
      </p:sp>
      <p:sp>
        <p:nvSpPr>
          <p:cNvPr id="24" name="Need panel"/>
          <p:cNvSpPr/>
          <p:nvPr/>
        </p:nvSpPr>
        <p:spPr>
          <a:xfrm>
            <a:off x="7863840" y="1280160"/>
            <a:ext cx="3776472" cy="4663440"/>
          </a:xfrm>
          <a:prstGeom prst="roundRect">
            <a:avLst>
              <a:gd name="adj" fmla="val 2421"/>
            </a:avLst>
          </a:prstGeom>
          <a:solidFill>
            <a:schemeClr val="accent3">
              <a:alpha val="12000"/>
            </a:schemeClr>
          </a:solidFill>
          <a:ln w="12700">
            <a:solidFill>
              <a:schemeClr val="accent3"/>
            </a:solidFill>
            <a:prstDash val="solid"/>
          </a:ln>
        </p:spPr>
      </p:sp>
      <p:sp>
        <p:nvSpPr>
          <p:cNvPr id="25" name="Text 18"/>
          <p:cNvSpPr txBox="1"/>
          <p:nvPr/>
        </p:nvSpPr>
        <p:spPr>
          <a:xfrm>
            <a:off x="8138160" y="1508760"/>
            <a:ext cx="3200400" cy="365760"/>
          </a:xfrm>
          <a:prstGeom prst="rect">
            <a:avLst/>
          </a:prstGeom>
          <a:noFill/>
          <a:ln/>
        </p:spPr>
        <p:txBody>
          <a:bodyPr wrap="square" lIns="0" tIns="0" rIns="0" bIns="0" rtlCol="0" anchor="t"/>
          <a:lstStyle/>
          <a:p>
            <a:pPr indent="0" marL="0">
              <a:buNone/>
            </a:pPr>
            <a:r>
              <a:rPr lang="en-US" sz="2000" b="1" dirty="0">
                <a:solidFill>
                  <a:schemeClr val="accent3"/>
                </a:solidFill>
              </a:rPr>
              <a:t>The need</a:t>
            </a:r>
            <a:endParaRPr lang="en-US" sz="2000" dirty="0"/>
          </a:p>
        </p:txBody>
      </p:sp>
      <p:sp>
        <p:nvSpPr>
          <p:cNvPr id="26" name="Text 19"/>
          <p:cNvSpPr txBox="1"/>
          <p:nvPr/>
        </p:nvSpPr>
        <p:spPr>
          <a:xfrm>
            <a:off x="8138160" y="2011680"/>
            <a:ext cx="3246120" cy="1371600"/>
          </a:xfrm>
          <a:prstGeom prst="rect">
            <a:avLst/>
          </a:prstGeom>
          <a:noFill/>
          <a:ln/>
        </p:spPr>
        <p:txBody>
          <a:bodyPr wrap="square" lIns="0" tIns="0" rIns="0" bIns="0" rtlCol="0" anchor="t"/>
          <a:lstStyle/>
          <a:p>
            <a:pPr indent="0" marL="0">
              <a:buNone/>
            </a:pPr>
            <a:r>
              <a:rPr lang="en-US" sz="2000" b="1" dirty="0">
                <a:solidFill>
                  <a:schemeClr val="tx1"/>
                </a:solidFill>
              </a:rPr>
              <a:t>A single view to record, score and compare emergencies under time pressure.</a:t>
            </a:r>
            <a:endParaRPr lang="en-US" sz="2000" dirty="0"/>
          </a:p>
        </p:txBody>
      </p:sp>
      <p:sp>
        <p:nvSpPr>
          <p:cNvPr id="27" name="Icon badge 37"/>
          <p:cNvSpPr/>
          <p:nvPr/>
        </p:nvSpPr>
        <p:spPr>
          <a:xfrm>
            <a:off x="8138160" y="3749040"/>
            <a:ext cx="411480" cy="411480"/>
          </a:xfrm>
          <a:prstGeom prst="ellipse">
            <a:avLst/>
          </a:prstGeom>
          <a:solidFill>
            <a:schemeClr val="accent1">
              <a:alpha val="22000"/>
            </a:schemeClr>
          </a:solidFill>
          <a:ln w="9525">
            <a:solidFill>
              <a:schemeClr val="accent1"/>
            </a:solidFill>
            <a:prstDash val="solid"/>
          </a:ln>
        </p:spPr>
      </p:sp>
      <p:pic>
        <p:nvPicPr>
          <p:cNvPr id="28" name="Image 4" descr="CheckCircle icon">    </p:cNvPr>
          <p:cNvPicPr>
            <a:picLocks noChangeAspect="1"/>
          </p:cNvPicPr>
          <p:nvPr/>
        </p:nvPicPr>
        <p:blipFill>
          <a:blip r:embed="rId5"/>
          <a:stretch>
            <a:fillRect/>
          </a:stretch>
        </p:blipFill>
        <p:spPr>
          <a:xfrm>
            <a:off x="8241030" y="3851910"/>
            <a:ext cx="205740" cy="205740"/>
          </a:xfrm>
          <a:prstGeom prst="rect">
            <a:avLst/>
          </a:prstGeom>
        </p:spPr>
      </p:pic>
      <p:sp>
        <p:nvSpPr>
          <p:cNvPr id="29" name="Text 21"/>
          <p:cNvSpPr txBox="1"/>
          <p:nvPr/>
        </p:nvSpPr>
        <p:spPr>
          <a:xfrm>
            <a:off x="8686800" y="3749040"/>
            <a:ext cx="2651760" cy="411480"/>
          </a:xfrm>
          <a:prstGeom prst="rect">
            <a:avLst/>
          </a:prstGeom>
          <a:noFill/>
          <a:ln/>
        </p:spPr>
        <p:txBody>
          <a:bodyPr wrap="square" lIns="0" tIns="0" rIns="0" bIns="0" rtlCol="0" anchor="ctr"/>
          <a:lstStyle/>
          <a:p>
            <a:pPr indent="0" marL="0">
              <a:buNone/>
            </a:pPr>
            <a:r>
              <a:rPr lang="en-US" sz="1500" dirty="0">
                <a:solidFill>
                  <a:schemeClr val="tx1"/>
                </a:solidFill>
              </a:rPr>
              <a:t>Structured records</a:t>
            </a:r>
            <a:endParaRPr lang="en-US" sz="1500" dirty="0"/>
          </a:p>
        </p:txBody>
      </p:sp>
      <p:sp>
        <p:nvSpPr>
          <p:cNvPr id="30" name="Icon badge 38"/>
          <p:cNvSpPr/>
          <p:nvPr/>
        </p:nvSpPr>
        <p:spPr>
          <a:xfrm>
            <a:off x="8138160" y="4389120"/>
            <a:ext cx="411480" cy="411480"/>
          </a:xfrm>
          <a:prstGeom prst="ellipse">
            <a:avLst/>
          </a:prstGeom>
          <a:solidFill>
            <a:schemeClr val="accent1">
              <a:alpha val="22000"/>
            </a:schemeClr>
          </a:solidFill>
          <a:ln w="9525">
            <a:solidFill>
              <a:schemeClr val="accent1"/>
            </a:solidFill>
            <a:prstDash val="solid"/>
          </a:ln>
        </p:spPr>
      </p:sp>
      <p:pic>
        <p:nvPicPr>
          <p:cNvPr id="31" name="Image 5" descr="CheckCircle icon">    </p:cNvPr>
          <p:cNvPicPr>
            <a:picLocks noChangeAspect="1"/>
          </p:cNvPicPr>
          <p:nvPr/>
        </p:nvPicPr>
        <p:blipFill>
          <a:blip r:embed="rId6"/>
          <a:stretch>
            <a:fillRect/>
          </a:stretch>
        </p:blipFill>
        <p:spPr>
          <a:xfrm>
            <a:off x="8241030" y="4491990"/>
            <a:ext cx="205740" cy="205740"/>
          </a:xfrm>
          <a:prstGeom prst="rect">
            <a:avLst/>
          </a:prstGeom>
        </p:spPr>
      </p:pic>
      <p:sp>
        <p:nvSpPr>
          <p:cNvPr id="32" name="Text 23"/>
          <p:cNvSpPr txBox="1"/>
          <p:nvPr/>
        </p:nvSpPr>
        <p:spPr>
          <a:xfrm>
            <a:off x="8686800" y="4389120"/>
            <a:ext cx="2651760" cy="411480"/>
          </a:xfrm>
          <a:prstGeom prst="rect">
            <a:avLst/>
          </a:prstGeom>
          <a:noFill/>
          <a:ln/>
        </p:spPr>
        <p:txBody>
          <a:bodyPr wrap="square" lIns="0" tIns="0" rIns="0" bIns="0" rtlCol="0" anchor="ctr"/>
          <a:lstStyle/>
          <a:p>
            <a:pPr indent="0" marL="0">
              <a:buNone/>
            </a:pPr>
            <a:r>
              <a:rPr lang="en-US" sz="1500" dirty="0">
                <a:solidFill>
                  <a:schemeClr val="tx1"/>
                </a:solidFill>
              </a:rPr>
              <a:t>Visible resources</a:t>
            </a:r>
            <a:endParaRPr lang="en-US" sz="1500" dirty="0"/>
          </a:p>
        </p:txBody>
      </p:sp>
      <p:sp>
        <p:nvSpPr>
          <p:cNvPr id="33" name="Icon badge 39"/>
          <p:cNvSpPr/>
          <p:nvPr/>
        </p:nvSpPr>
        <p:spPr>
          <a:xfrm>
            <a:off x="8138160" y="5029200"/>
            <a:ext cx="411480" cy="411480"/>
          </a:xfrm>
          <a:prstGeom prst="ellipse">
            <a:avLst/>
          </a:prstGeom>
          <a:solidFill>
            <a:schemeClr val="accent1">
              <a:alpha val="22000"/>
            </a:schemeClr>
          </a:solidFill>
          <a:ln w="9525">
            <a:solidFill>
              <a:schemeClr val="accent1"/>
            </a:solidFill>
            <a:prstDash val="solid"/>
          </a:ln>
        </p:spPr>
      </p:sp>
      <p:pic>
        <p:nvPicPr>
          <p:cNvPr id="34" name="Image 6" descr="CheckCircle icon">    </p:cNvPr>
          <p:cNvPicPr>
            <a:picLocks noChangeAspect="1"/>
          </p:cNvPicPr>
          <p:nvPr/>
        </p:nvPicPr>
        <p:blipFill>
          <a:blip r:embed="rId7"/>
          <a:stretch>
            <a:fillRect/>
          </a:stretch>
        </p:blipFill>
        <p:spPr>
          <a:xfrm>
            <a:off x="8241030" y="5132070"/>
            <a:ext cx="205740" cy="205740"/>
          </a:xfrm>
          <a:prstGeom prst="rect">
            <a:avLst/>
          </a:prstGeom>
        </p:spPr>
      </p:pic>
      <p:sp>
        <p:nvSpPr>
          <p:cNvPr id="35" name="Text 25"/>
          <p:cNvSpPr txBox="1"/>
          <p:nvPr/>
        </p:nvSpPr>
        <p:spPr>
          <a:xfrm>
            <a:off x="8686800" y="5029200"/>
            <a:ext cx="2651760" cy="411480"/>
          </a:xfrm>
          <a:prstGeom prst="rect">
            <a:avLst/>
          </a:prstGeom>
          <a:noFill/>
          <a:ln/>
        </p:spPr>
        <p:txBody>
          <a:bodyPr wrap="square" lIns="0" tIns="0" rIns="0" bIns="0" rtlCol="0" anchor="ctr"/>
          <a:lstStyle/>
          <a:p>
            <a:pPr indent="0" marL="0">
              <a:buNone/>
            </a:pPr>
            <a:r>
              <a:rPr lang="en-US" sz="1500" dirty="0">
                <a:solidFill>
                  <a:schemeClr val="tx1"/>
                </a:solidFill>
              </a:rPr>
              <a:t>Prioritised review</a:t>
            </a:r>
            <a:endParaRPr lang="en-US" sz="15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OBJECTIVES</a:t>
            </a:r>
            <a:endParaRPr lang="en-US" sz="3200" dirty="0"/>
          </a:p>
        </p:txBody>
      </p:sp>
      <p:sp>
        <p:nvSpPr>
          <p:cNvPr id="4" name="Card 40"/>
          <p:cNvSpPr/>
          <p:nvPr/>
        </p:nvSpPr>
        <p:spPr>
          <a:xfrm>
            <a:off x="548640" y="1325880"/>
            <a:ext cx="3514344" cy="2286000"/>
          </a:xfrm>
          <a:prstGeom prst="roundRect">
            <a:avLst>
              <a:gd name="adj" fmla="val 4000"/>
            </a:avLst>
          </a:prstGeom>
          <a:solidFill>
            <a:schemeClr val="bg2"/>
          </a:solidFill>
          <a:ln w="9525">
            <a:solidFill>
              <a:schemeClr val="accent6"/>
            </a:solidFill>
            <a:prstDash val="solid"/>
          </a:ln>
        </p:spPr>
      </p:sp>
      <p:sp>
        <p:nvSpPr>
          <p:cNvPr id="5" name="Icon badge 41"/>
          <p:cNvSpPr/>
          <p:nvPr/>
        </p:nvSpPr>
        <p:spPr>
          <a:xfrm>
            <a:off x="777240" y="1554480"/>
            <a:ext cx="594360" cy="594360"/>
          </a:xfrm>
          <a:prstGeom prst="ellipse">
            <a:avLst/>
          </a:prstGeom>
          <a:solidFill>
            <a:schemeClr val="accent1">
              <a:alpha val="22000"/>
            </a:schemeClr>
          </a:solidFill>
          <a:ln w="9525">
            <a:solidFill>
              <a:schemeClr val="accent1"/>
            </a:solidFill>
            <a:prstDash val="solid"/>
          </a:ln>
        </p:spPr>
      </p:sp>
      <p:pic>
        <p:nvPicPr>
          <p:cNvPr id="6" name="Image 0" descr="ClipboardList icon">    </p:cNvPr>
          <p:cNvPicPr>
            <a:picLocks noChangeAspect="1"/>
          </p:cNvPicPr>
          <p:nvPr/>
        </p:nvPicPr>
        <p:blipFill>
          <a:blip r:embed="rId1"/>
          <a:stretch>
            <a:fillRect/>
          </a:stretch>
        </p:blipFill>
        <p:spPr>
          <a:xfrm>
            <a:off x="925830" y="1703070"/>
            <a:ext cx="297180" cy="297180"/>
          </a:xfrm>
          <a:prstGeom prst="rect">
            <a:avLst/>
          </a:prstGeom>
        </p:spPr>
      </p:pic>
      <p:sp>
        <p:nvSpPr>
          <p:cNvPr id="7" name="Text 3"/>
          <p:cNvSpPr txBox="1"/>
          <p:nvPr/>
        </p:nvSpPr>
        <p:spPr>
          <a:xfrm>
            <a:off x="3285744" y="1554480"/>
            <a:ext cx="548640" cy="365760"/>
          </a:xfrm>
          <a:prstGeom prst="rect">
            <a:avLst/>
          </a:prstGeom>
          <a:noFill/>
          <a:ln/>
        </p:spPr>
        <p:txBody>
          <a:bodyPr wrap="square" lIns="0" tIns="0" rIns="0" bIns="0" rtlCol="0" anchor="t"/>
          <a:lstStyle/>
          <a:p>
            <a:pPr algn="r" indent="0" marL="0">
              <a:buNone/>
            </a:pPr>
            <a:r>
              <a:rPr lang="en-US" sz="2000" b="1" dirty="0">
                <a:solidFill>
                  <a:schemeClr val="accent6"/>
                </a:solidFill>
              </a:rPr>
              <a:t>01</a:t>
            </a:r>
            <a:endParaRPr lang="en-US" sz="2000" dirty="0"/>
          </a:p>
        </p:txBody>
      </p:sp>
      <p:sp>
        <p:nvSpPr>
          <p:cNvPr id="8" name="Text 4"/>
          <p:cNvSpPr txBox="1"/>
          <p:nvPr/>
        </p:nvSpPr>
        <p:spPr>
          <a:xfrm>
            <a:off x="777240" y="2286000"/>
            <a:ext cx="3057144" cy="594360"/>
          </a:xfrm>
          <a:prstGeom prst="rect">
            <a:avLst/>
          </a:prstGeom>
          <a:noFill/>
          <a:ln/>
        </p:spPr>
        <p:txBody>
          <a:bodyPr wrap="square" lIns="0" tIns="0" rIns="0" bIns="0" rtlCol="0" anchor="t"/>
          <a:lstStyle/>
          <a:p>
            <a:pPr indent="0" marL="0">
              <a:buNone/>
            </a:pPr>
            <a:r>
              <a:rPr lang="en-US" sz="1700" b="1" dirty="0">
                <a:solidFill>
                  <a:schemeClr val="tx1"/>
                </a:solidFill>
              </a:rPr>
              <a:t>Structured emergency case recording</a:t>
            </a:r>
            <a:endParaRPr lang="en-US" sz="1700" dirty="0"/>
          </a:p>
        </p:txBody>
      </p:sp>
      <p:sp>
        <p:nvSpPr>
          <p:cNvPr id="9" name="Text 5"/>
          <p:cNvSpPr txBox="1"/>
          <p:nvPr/>
        </p:nvSpPr>
        <p:spPr>
          <a:xfrm>
            <a:off x="777240" y="2898648"/>
            <a:ext cx="3057144" cy="640080"/>
          </a:xfrm>
          <a:prstGeom prst="rect">
            <a:avLst/>
          </a:prstGeom>
          <a:noFill/>
          <a:ln/>
        </p:spPr>
        <p:txBody>
          <a:bodyPr wrap="square" lIns="0" tIns="0" rIns="0" bIns="0" rtlCol="0" anchor="t"/>
          <a:lstStyle/>
          <a:p>
            <a:pPr indent="0" marL="0">
              <a:buNone/>
            </a:pPr>
            <a:r>
              <a:rPr lang="en-US" sz="1400" dirty="0">
                <a:solidFill>
                  <a:schemeClr val="tx2"/>
                </a:solidFill>
              </a:rPr>
              <a:t>Capture emergency and patient details in a consistent format.</a:t>
            </a:r>
            <a:endParaRPr lang="en-US" sz="1400" dirty="0"/>
          </a:p>
        </p:txBody>
      </p:sp>
      <p:sp>
        <p:nvSpPr>
          <p:cNvPr id="10" name="Card 42"/>
          <p:cNvSpPr/>
          <p:nvPr/>
        </p:nvSpPr>
        <p:spPr>
          <a:xfrm>
            <a:off x="4337304" y="1325880"/>
            <a:ext cx="3514344" cy="2286000"/>
          </a:xfrm>
          <a:prstGeom prst="roundRect">
            <a:avLst>
              <a:gd name="adj" fmla="val 4000"/>
            </a:avLst>
          </a:prstGeom>
          <a:solidFill>
            <a:schemeClr val="bg2"/>
          </a:solidFill>
          <a:ln w="9525">
            <a:solidFill>
              <a:schemeClr val="accent6"/>
            </a:solidFill>
            <a:prstDash val="solid"/>
          </a:ln>
        </p:spPr>
      </p:sp>
      <p:sp>
        <p:nvSpPr>
          <p:cNvPr id="11" name="Icon badge 43"/>
          <p:cNvSpPr/>
          <p:nvPr/>
        </p:nvSpPr>
        <p:spPr>
          <a:xfrm>
            <a:off x="4565904" y="1554480"/>
            <a:ext cx="594360" cy="594360"/>
          </a:xfrm>
          <a:prstGeom prst="ellipse">
            <a:avLst/>
          </a:prstGeom>
          <a:solidFill>
            <a:schemeClr val="accent2">
              <a:alpha val="22000"/>
            </a:schemeClr>
          </a:solidFill>
          <a:ln w="9525">
            <a:solidFill>
              <a:schemeClr val="accent2"/>
            </a:solidFill>
            <a:prstDash val="solid"/>
          </a:ln>
        </p:spPr>
      </p:sp>
      <p:pic>
        <p:nvPicPr>
          <p:cNvPr id="12" name="Image 1" descr="TachometerAlt icon">    </p:cNvPr>
          <p:cNvPicPr>
            <a:picLocks noChangeAspect="1"/>
          </p:cNvPicPr>
          <p:nvPr/>
        </p:nvPicPr>
        <p:blipFill>
          <a:blip r:embed="rId2"/>
          <a:stretch>
            <a:fillRect/>
          </a:stretch>
        </p:blipFill>
        <p:spPr>
          <a:xfrm>
            <a:off x="4714494" y="1703070"/>
            <a:ext cx="297180" cy="297180"/>
          </a:xfrm>
          <a:prstGeom prst="rect">
            <a:avLst/>
          </a:prstGeom>
        </p:spPr>
      </p:pic>
      <p:sp>
        <p:nvSpPr>
          <p:cNvPr id="13" name="Text 8"/>
          <p:cNvSpPr txBox="1"/>
          <p:nvPr/>
        </p:nvSpPr>
        <p:spPr>
          <a:xfrm>
            <a:off x="7074408" y="1554480"/>
            <a:ext cx="548640" cy="365760"/>
          </a:xfrm>
          <a:prstGeom prst="rect">
            <a:avLst/>
          </a:prstGeom>
          <a:noFill/>
          <a:ln/>
        </p:spPr>
        <p:txBody>
          <a:bodyPr wrap="square" lIns="0" tIns="0" rIns="0" bIns="0" rtlCol="0" anchor="t"/>
          <a:lstStyle/>
          <a:p>
            <a:pPr algn="r" indent="0" marL="0">
              <a:buNone/>
            </a:pPr>
            <a:r>
              <a:rPr lang="en-US" sz="2000" b="1" dirty="0">
                <a:solidFill>
                  <a:schemeClr val="accent6"/>
                </a:solidFill>
              </a:rPr>
              <a:t>02</a:t>
            </a:r>
            <a:endParaRPr lang="en-US" sz="2000" dirty="0"/>
          </a:p>
        </p:txBody>
      </p:sp>
      <p:sp>
        <p:nvSpPr>
          <p:cNvPr id="14" name="Text 9"/>
          <p:cNvSpPr txBox="1"/>
          <p:nvPr/>
        </p:nvSpPr>
        <p:spPr>
          <a:xfrm>
            <a:off x="4565904" y="2286000"/>
            <a:ext cx="3057144" cy="594360"/>
          </a:xfrm>
          <a:prstGeom prst="rect">
            <a:avLst/>
          </a:prstGeom>
          <a:noFill/>
          <a:ln/>
        </p:spPr>
        <p:txBody>
          <a:bodyPr wrap="square" lIns="0" tIns="0" rIns="0" bIns="0" rtlCol="0" anchor="t"/>
          <a:lstStyle/>
          <a:p>
            <a:pPr indent="0" marL="0">
              <a:buNone/>
            </a:pPr>
            <a:r>
              <a:rPr lang="en-US" sz="1700" b="1" dirty="0">
                <a:solidFill>
                  <a:schemeClr val="tx1"/>
                </a:solidFill>
              </a:rPr>
              <a:t>Dashboard monitoring</a:t>
            </a:r>
            <a:endParaRPr lang="en-US" sz="1700" dirty="0"/>
          </a:p>
        </p:txBody>
      </p:sp>
      <p:sp>
        <p:nvSpPr>
          <p:cNvPr id="15" name="Text 10"/>
          <p:cNvSpPr txBox="1"/>
          <p:nvPr/>
        </p:nvSpPr>
        <p:spPr>
          <a:xfrm>
            <a:off x="4565904" y="2898648"/>
            <a:ext cx="3057144" cy="640080"/>
          </a:xfrm>
          <a:prstGeom prst="rect">
            <a:avLst/>
          </a:prstGeom>
          <a:noFill/>
          <a:ln/>
        </p:spPr>
        <p:txBody>
          <a:bodyPr wrap="square" lIns="0" tIns="0" rIns="0" bIns="0" rtlCol="0" anchor="t"/>
          <a:lstStyle/>
          <a:p>
            <a:pPr indent="0" marL="0">
              <a:buNone/>
            </a:pPr>
            <a:r>
              <a:rPr lang="en-US" sz="1400" dirty="0">
                <a:solidFill>
                  <a:schemeClr val="tx2"/>
                </a:solidFill>
              </a:rPr>
              <a:t>Watch emergencies, ambulances and hospitals together.</a:t>
            </a:r>
            <a:endParaRPr lang="en-US" sz="1400" dirty="0"/>
          </a:p>
        </p:txBody>
      </p:sp>
      <p:sp>
        <p:nvSpPr>
          <p:cNvPr id="16" name="Card 44"/>
          <p:cNvSpPr/>
          <p:nvPr/>
        </p:nvSpPr>
        <p:spPr>
          <a:xfrm>
            <a:off x="8125968" y="1325880"/>
            <a:ext cx="3514344" cy="2286000"/>
          </a:xfrm>
          <a:prstGeom prst="roundRect">
            <a:avLst>
              <a:gd name="adj" fmla="val 4000"/>
            </a:avLst>
          </a:prstGeom>
          <a:solidFill>
            <a:schemeClr val="bg2"/>
          </a:solidFill>
          <a:ln w="9525">
            <a:solidFill>
              <a:schemeClr val="accent6"/>
            </a:solidFill>
            <a:prstDash val="solid"/>
          </a:ln>
        </p:spPr>
      </p:sp>
      <p:sp>
        <p:nvSpPr>
          <p:cNvPr id="17" name="Icon badge 45"/>
          <p:cNvSpPr/>
          <p:nvPr/>
        </p:nvSpPr>
        <p:spPr>
          <a:xfrm>
            <a:off x="8354568" y="1554480"/>
            <a:ext cx="594360" cy="594360"/>
          </a:xfrm>
          <a:prstGeom prst="ellipse">
            <a:avLst/>
          </a:prstGeom>
          <a:solidFill>
            <a:schemeClr val="accent3">
              <a:alpha val="22000"/>
            </a:schemeClr>
          </a:solidFill>
          <a:ln w="9525">
            <a:solidFill>
              <a:schemeClr val="accent3"/>
            </a:solidFill>
            <a:prstDash val="solid"/>
          </a:ln>
        </p:spPr>
      </p:sp>
      <p:pic>
        <p:nvPicPr>
          <p:cNvPr id="18" name="Image 2" descr="Heartbeat icon">    </p:cNvPr>
          <p:cNvPicPr>
            <a:picLocks noChangeAspect="1"/>
          </p:cNvPicPr>
          <p:nvPr/>
        </p:nvPicPr>
        <p:blipFill>
          <a:blip r:embed="rId3"/>
          <a:stretch>
            <a:fillRect/>
          </a:stretch>
        </p:blipFill>
        <p:spPr>
          <a:xfrm>
            <a:off x="8503158" y="1703070"/>
            <a:ext cx="297180" cy="297180"/>
          </a:xfrm>
          <a:prstGeom prst="rect">
            <a:avLst/>
          </a:prstGeom>
        </p:spPr>
      </p:pic>
      <p:sp>
        <p:nvSpPr>
          <p:cNvPr id="19" name="Text 13"/>
          <p:cNvSpPr txBox="1"/>
          <p:nvPr/>
        </p:nvSpPr>
        <p:spPr>
          <a:xfrm>
            <a:off x="10863072" y="1554480"/>
            <a:ext cx="548640" cy="365760"/>
          </a:xfrm>
          <a:prstGeom prst="rect">
            <a:avLst/>
          </a:prstGeom>
          <a:noFill/>
          <a:ln/>
        </p:spPr>
        <p:txBody>
          <a:bodyPr wrap="square" lIns="0" tIns="0" rIns="0" bIns="0" rtlCol="0" anchor="t"/>
          <a:lstStyle/>
          <a:p>
            <a:pPr algn="r" indent="0" marL="0">
              <a:buNone/>
            </a:pPr>
            <a:r>
              <a:rPr lang="en-US" sz="2000" b="1" dirty="0">
                <a:solidFill>
                  <a:schemeClr val="accent6"/>
                </a:solidFill>
              </a:rPr>
              <a:t>03</a:t>
            </a:r>
            <a:endParaRPr lang="en-US" sz="2000" dirty="0"/>
          </a:p>
        </p:txBody>
      </p:sp>
      <p:sp>
        <p:nvSpPr>
          <p:cNvPr id="20" name="Text 14"/>
          <p:cNvSpPr txBox="1"/>
          <p:nvPr/>
        </p:nvSpPr>
        <p:spPr>
          <a:xfrm>
            <a:off x="8354568" y="2286000"/>
            <a:ext cx="3057144" cy="594360"/>
          </a:xfrm>
          <a:prstGeom prst="rect">
            <a:avLst/>
          </a:prstGeom>
          <a:noFill/>
          <a:ln/>
        </p:spPr>
        <p:txBody>
          <a:bodyPr wrap="square" lIns="0" tIns="0" rIns="0" bIns="0" rtlCol="0" anchor="t"/>
          <a:lstStyle/>
          <a:p>
            <a:pPr indent="0" marL="0">
              <a:buNone/>
            </a:pPr>
            <a:r>
              <a:rPr lang="en-US" sz="1700" b="1" dirty="0">
                <a:solidFill>
                  <a:schemeClr val="tx1"/>
                </a:solidFill>
              </a:rPr>
              <a:t>Rule-based severity scoring</a:t>
            </a:r>
            <a:endParaRPr lang="en-US" sz="1700" dirty="0"/>
          </a:p>
        </p:txBody>
      </p:sp>
      <p:sp>
        <p:nvSpPr>
          <p:cNvPr id="21" name="Text 15"/>
          <p:cNvSpPr txBox="1"/>
          <p:nvPr/>
        </p:nvSpPr>
        <p:spPr>
          <a:xfrm>
            <a:off x="8354568" y="2898648"/>
            <a:ext cx="3057144" cy="640080"/>
          </a:xfrm>
          <a:prstGeom prst="rect">
            <a:avLst/>
          </a:prstGeom>
          <a:noFill/>
          <a:ln/>
        </p:spPr>
        <p:txBody>
          <a:bodyPr wrap="square" lIns="0" tIns="0" rIns="0" bIns="0" rtlCol="0" anchor="t"/>
          <a:lstStyle/>
          <a:p>
            <a:pPr indent="0" marL="0">
              <a:buNone/>
            </a:pPr>
            <a:r>
              <a:rPr lang="en-US" sz="1400" dirty="0">
                <a:solidFill>
                  <a:schemeClr val="tx2"/>
                </a:solidFill>
              </a:rPr>
              <a:t>A prototype heuristic score for each case.</a:t>
            </a:r>
            <a:endParaRPr lang="en-US" sz="1400" dirty="0"/>
          </a:p>
        </p:txBody>
      </p:sp>
      <p:sp>
        <p:nvSpPr>
          <p:cNvPr id="22" name="Card 46"/>
          <p:cNvSpPr/>
          <p:nvPr/>
        </p:nvSpPr>
        <p:spPr>
          <a:xfrm>
            <a:off x="548640" y="3886200"/>
            <a:ext cx="3514344" cy="2286000"/>
          </a:xfrm>
          <a:prstGeom prst="roundRect">
            <a:avLst>
              <a:gd name="adj" fmla="val 4000"/>
            </a:avLst>
          </a:prstGeom>
          <a:solidFill>
            <a:schemeClr val="bg2"/>
          </a:solidFill>
          <a:ln w="9525">
            <a:solidFill>
              <a:schemeClr val="accent6"/>
            </a:solidFill>
            <a:prstDash val="solid"/>
          </a:ln>
        </p:spPr>
      </p:sp>
      <p:sp>
        <p:nvSpPr>
          <p:cNvPr id="23" name="Icon badge 47"/>
          <p:cNvSpPr/>
          <p:nvPr/>
        </p:nvSpPr>
        <p:spPr>
          <a:xfrm>
            <a:off x="777240" y="4114800"/>
            <a:ext cx="594360" cy="594360"/>
          </a:xfrm>
          <a:prstGeom prst="ellipse">
            <a:avLst/>
          </a:prstGeom>
          <a:solidFill>
            <a:schemeClr val="accent4">
              <a:alpha val="22000"/>
            </a:schemeClr>
          </a:solidFill>
          <a:ln w="9525">
            <a:solidFill>
              <a:schemeClr val="accent4"/>
            </a:solidFill>
            <a:prstDash val="solid"/>
          </a:ln>
        </p:spPr>
      </p:sp>
      <p:pic>
        <p:nvPicPr>
          <p:cNvPr id="24" name="Image 3" descr="Ambulance icon">    </p:cNvPr>
          <p:cNvPicPr>
            <a:picLocks noChangeAspect="1"/>
          </p:cNvPicPr>
          <p:nvPr/>
        </p:nvPicPr>
        <p:blipFill>
          <a:blip r:embed="rId4"/>
          <a:stretch>
            <a:fillRect/>
          </a:stretch>
        </p:blipFill>
        <p:spPr>
          <a:xfrm>
            <a:off x="925830" y="4263390"/>
            <a:ext cx="297180" cy="297180"/>
          </a:xfrm>
          <a:prstGeom prst="rect">
            <a:avLst/>
          </a:prstGeom>
        </p:spPr>
      </p:pic>
      <p:sp>
        <p:nvSpPr>
          <p:cNvPr id="25" name="Text 18"/>
          <p:cNvSpPr txBox="1"/>
          <p:nvPr/>
        </p:nvSpPr>
        <p:spPr>
          <a:xfrm>
            <a:off x="3285744" y="4114800"/>
            <a:ext cx="548640" cy="365760"/>
          </a:xfrm>
          <a:prstGeom prst="rect">
            <a:avLst/>
          </a:prstGeom>
          <a:noFill/>
          <a:ln/>
        </p:spPr>
        <p:txBody>
          <a:bodyPr wrap="square" lIns="0" tIns="0" rIns="0" bIns="0" rtlCol="0" anchor="t"/>
          <a:lstStyle/>
          <a:p>
            <a:pPr algn="r" indent="0" marL="0">
              <a:buNone/>
            </a:pPr>
            <a:r>
              <a:rPr lang="en-US" sz="2000" b="1" dirty="0">
                <a:solidFill>
                  <a:schemeClr val="accent6"/>
                </a:solidFill>
              </a:rPr>
              <a:t>04</a:t>
            </a:r>
            <a:endParaRPr lang="en-US" sz="2000" dirty="0"/>
          </a:p>
        </p:txBody>
      </p:sp>
      <p:sp>
        <p:nvSpPr>
          <p:cNvPr id="26" name="Text 19"/>
          <p:cNvSpPr txBox="1"/>
          <p:nvPr/>
        </p:nvSpPr>
        <p:spPr>
          <a:xfrm>
            <a:off x="777240" y="4846320"/>
            <a:ext cx="3057144" cy="594360"/>
          </a:xfrm>
          <a:prstGeom prst="rect">
            <a:avLst/>
          </a:prstGeom>
          <a:noFill/>
          <a:ln/>
        </p:spPr>
        <p:txBody>
          <a:bodyPr wrap="square" lIns="0" tIns="0" rIns="0" bIns="0" rtlCol="0" anchor="t"/>
          <a:lstStyle/>
          <a:p>
            <a:pPr indent="0" marL="0">
              <a:buNone/>
            </a:pPr>
            <a:r>
              <a:rPr lang="en-US" sz="1700" b="1" dirty="0">
                <a:solidFill>
                  <a:schemeClr val="tx1"/>
                </a:solidFill>
              </a:rPr>
              <a:t>Ambulance recommendation</a:t>
            </a:r>
            <a:endParaRPr lang="en-US" sz="1700" dirty="0"/>
          </a:p>
        </p:txBody>
      </p:sp>
      <p:sp>
        <p:nvSpPr>
          <p:cNvPr id="27" name="Text 20"/>
          <p:cNvSpPr txBox="1"/>
          <p:nvPr/>
        </p:nvSpPr>
        <p:spPr>
          <a:xfrm>
            <a:off x="777240" y="5458968"/>
            <a:ext cx="3057144" cy="640080"/>
          </a:xfrm>
          <a:prstGeom prst="rect">
            <a:avLst/>
          </a:prstGeom>
          <a:noFill/>
          <a:ln/>
        </p:spPr>
        <p:txBody>
          <a:bodyPr wrap="square" lIns="0" tIns="0" rIns="0" bIns="0" rtlCol="0" anchor="t"/>
          <a:lstStyle/>
          <a:p>
            <a:pPr indent="0" marL="0">
              <a:buNone/>
            </a:pPr>
            <a:r>
              <a:rPr lang="en-US" sz="1400" dirty="0">
                <a:solidFill>
                  <a:schemeClr val="tx2"/>
                </a:solidFill>
              </a:rPr>
              <a:t>Suggest units by availability, distance and urgency.</a:t>
            </a:r>
            <a:endParaRPr lang="en-US" sz="1400" dirty="0"/>
          </a:p>
        </p:txBody>
      </p:sp>
      <p:sp>
        <p:nvSpPr>
          <p:cNvPr id="28" name="Card 48"/>
          <p:cNvSpPr/>
          <p:nvPr/>
        </p:nvSpPr>
        <p:spPr>
          <a:xfrm>
            <a:off x="4337304" y="3886200"/>
            <a:ext cx="3514344" cy="2286000"/>
          </a:xfrm>
          <a:prstGeom prst="roundRect">
            <a:avLst>
              <a:gd name="adj" fmla="val 4000"/>
            </a:avLst>
          </a:prstGeom>
          <a:solidFill>
            <a:schemeClr val="bg2"/>
          </a:solidFill>
          <a:ln w="9525">
            <a:solidFill>
              <a:schemeClr val="accent6"/>
            </a:solidFill>
            <a:prstDash val="solid"/>
          </a:ln>
        </p:spPr>
      </p:sp>
      <p:sp>
        <p:nvSpPr>
          <p:cNvPr id="29" name="Icon badge 49"/>
          <p:cNvSpPr/>
          <p:nvPr/>
        </p:nvSpPr>
        <p:spPr>
          <a:xfrm>
            <a:off x="4565904" y="4114800"/>
            <a:ext cx="594360" cy="594360"/>
          </a:xfrm>
          <a:prstGeom prst="ellipse">
            <a:avLst/>
          </a:prstGeom>
          <a:solidFill>
            <a:schemeClr val="accent1">
              <a:alpha val="22000"/>
            </a:schemeClr>
          </a:solidFill>
          <a:ln w="9525">
            <a:solidFill>
              <a:schemeClr val="accent1"/>
            </a:solidFill>
            <a:prstDash val="solid"/>
          </a:ln>
        </p:spPr>
      </p:sp>
      <p:pic>
        <p:nvPicPr>
          <p:cNvPr id="30" name="Image 4" descr="Hospital icon">    </p:cNvPr>
          <p:cNvPicPr>
            <a:picLocks noChangeAspect="1"/>
          </p:cNvPicPr>
          <p:nvPr/>
        </p:nvPicPr>
        <p:blipFill>
          <a:blip r:embed="rId5"/>
          <a:stretch>
            <a:fillRect/>
          </a:stretch>
        </p:blipFill>
        <p:spPr>
          <a:xfrm>
            <a:off x="4714494" y="4263390"/>
            <a:ext cx="297180" cy="297180"/>
          </a:xfrm>
          <a:prstGeom prst="rect">
            <a:avLst/>
          </a:prstGeom>
        </p:spPr>
      </p:pic>
      <p:sp>
        <p:nvSpPr>
          <p:cNvPr id="31" name="Text 23"/>
          <p:cNvSpPr txBox="1"/>
          <p:nvPr/>
        </p:nvSpPr>
        <p:spPr>
          <a:xfrm>
            <a:off x="7074408" y="4114800"/>
            <a:ext cx="548640" cy="365760"/>
          </a:xfrm>
          <a:prstGeom prst="rect">
            <a:avLst/>
          </a:prstGeom>
          <a:noFill/>
          <a:ln/>
        </p:spPr>
        <p:txBody>
          <a:bodyPr wrap="square" lIns="0" tIns="0" rIns="0" bIns="0" rtlCol="0" anchor="t"/>
          <a:lstStyle/>
          <a:p>
            <a:pPr algn="r" indent="0" marL="0">
              <a:buNone/>
            </a:pPr>
            <a:r>
              <a:rPr lang="en-US" sz="2000" b="1" dirty="0">
                <a:solidFill>
                  <a:schemeClr val="accent6"/>
                </a:solidFill>
              </a:rPr>
              <a:t>05</a:t>
            </a:r>
            <a:endParaRPr lang="en-US" sz="2000" dirty="0"/>
          </a:p>
        </p:txBody>
      </p:sp>
      <p:sp>
        <p:nvSpPr>
          <p:cNvPr id="32" name="Text 24"/>
          <p:cNvSpPr txBox="1"/>
          <p:nvPr/>
        </p:nvSpPr>
        <p:spPr>
          <a:xfrm>
            <a:off x="4565904" y="4846320"/>
            <a:ext cx="3057144" cy="594360"/>
          </a:xfrm>
          <a:prstGeom prst="rect">
            <a:avLst/>
          </a:prstGeom>
          <a:noFill/>
          <a:ln/>
        </p:spPr>
        <p:txBody>
          <a:bodyPr wrap="square" lIns="0" tIns="0" rIns="0" bIns="0" rtlCol="0" anchor="t"/>
          <a:lstStyle/>
          <a:p>
            <a:pPr indent="0" marL="0">
              <a:buNone/>
            </a:pPr>
            <a:r>
              <a:rPr lang="en-US" sz="1700" b="1" dirty="0">
                <a:solidFill>
                  <a:schemeClr val="tx1"/>
                </a:solidFill>
              </a:rPr>
              <a:t>Hospital resource matching</a:t>
            </a:r>
            <a:endParaRPr lang="en-US" sz="1700" dirty="0"/>
          </a:p>
        </p:txBody>
      </p:sp>
      <p:sp>
        <p:nvSpPr>
          <p:cNvPr id="33" name="Text 25"/>
          <p:cNvSpPr txBox="1"/>
          <p:nvPr/>
        </p:nvSpPr>
        <p:spPr>
          <a:xfrm>
            <a:off x="4565904" y="5458968"/>
            <a:ext cx="3057144" cy="640080"/>
          </a:xfrm>
          <a:prstGeom prst="rect">
            <a:avLst/>
          </a:prstGeom>
          <a:noFill/>
          <a:ln/>
        </p:spPr>
        <p:txBody>
          <a:bodyPr wrap="square" lIns="0" tIns="0" rIns="0" bIns="0" rtlCol="0" anchor="t"/>
          <a:lstStyle/>
          <a:p>
            <a:pPr indent="0" marL="0">
              <a:buNone/>
            </a:pPr>
            <a:r>
              <a:rPr lang="en-US" sz="1400" dirty="0">
                <a:solidFill>
                  <a:schemeClr val="tx2"/>
                </a:solidFill>
              </a:rPr>
              <a:t>Match cases to capacity and specialist capability.</a:t>
            </a:r>
            <a:endParaRPr lang="en-US" sz="1400" dirty="0"/>
          </a:p>
        </p:txBody>
      </p:sp>
      <p:sp>
        <p:nvSpPr>
          <p:cNvPr id="34" name="Card 50"/>
          <p:cNvSpPr/>
          <p:nvPr/>
        </p:nvSpPr>
        <p:spPr>
          <a:xfrm>
            <a:off x="8125968" y="3886200"/>
            <a:ext cx="3514344" cy="2286000"/>
          </a:xfrm>
          <a:prstGeom prst="roundRect">
            <a:avLst>
              <a:gd name="adj" fmla="val 4000"/>
            </a:avLst>
          </a:prstGeom>
          <a:solidFill>
            <a:schemeClr val="bg2"/>
          </a:solidFill>
          <a:ln w="9525">
            <a:solidFill>
              <a:schemeClr val="accent6"/>
            </a:solidFill>
            <a:prstDash val="solid"/>
          </a:ln>
        </p:spPr>
      </p:sp>
      <p:sp>
        <p:nvSpPr>
          <p:cNvPr id="35" name="Icon badge 51"/>
          <p:cNvSpPr/>
          <p:nvPr/>
        </p:nvSpPr>
        <p:spPr>
          <a:xfrm>
            <a:off x="8354568" y="4114800"/>
            <a:ext cx="594360" cy="594360"/>
          </a:xfrm>
          <a:prstGeom prst="ellipse">
            <a:avLst/>
          </a:prstGeom>
          <a:solidFill>
            <a:schemeClr val="accent2">
              <a:alpha val="22000"/>
            </a:schemeClr>
          </a:solidFill>
          <a:ln w="9525">
            <a:solidFill>
              <a:schemeClr val="accent2"/>
            </a:solidFill>
            <a:prstDash val="solid"/>
          </a:ln>
        </p:spPr>
      </p:sp>
      <p:pic>
        <p:nvPicPr>
          <p:cNvPr id="36" name="Image 5" descr="ChartBar icon">    </p:cNvPr>
          <p:cNvPicPr>
            <a:picLocks noChangeAspect="1"/>
          </p:cNvPicPr>
          <p:nvPr/>
        </p:nvPicPr>
        <p:blipFill>
          <a:blip r:embed="rId6"/>
          <a:stretch>
            <a:fillRect/>
          </a:stretch>
        </p:blipFill>
        <p:spPr>
          <a:xfrm>
            <a:off x="8503158" y="4263390"/>
            <a:ext cx="297180" cy="297180"/>
          </a:xfrm>
          <a:prstGeom prst="rect">
            <a:avLst/>
          </a:prstGeom>
        </p:spPr>
      </p:pic>
      <p:sp>
        <p:nvSpPr>
          <p:cNvPr id="37" name="Text 28"/>
          <p:cNvSpPr txBox="1"/>
          <p:nvPr/>
        </p:nvSpPr>
        <p:spPr>
          <a:xfrm>
            <a:off x="10863072" y="4114800"/>
            <a:ext cx="548640" cy="365760"/>
          </a:xfrm>
          <a:prstGeom prst="rect">
            <a:avLst/>
          </a:prstGeom>
          <a:noFill/>
          <a:ln/>
        </p:spPr>
        <p:txBody>
          <a:bodyPr wrap="square" lIns="0" tIns="0" rIns="0" bIns="0" rtlCol="0" anchor="t"/>
          <a:lstStyle/>
          <a:p>
            <a:pPr algn="r" indent="0" marL="0">
              <a:buNone/>
            </a:pPr>
            <a:r>
              <a:rPr lang="en-US" sz="2000" b="1" dirty="0">
                <a:solidFill>
                  <a:schemeClr val="accent6"/>
                </a:solidFill>
              </a:rPr>
              <a:t>06</a:t>
            </a:r>
            <a:endParaRPr lang="en-US" sz="2000" dirty="0"/>
          </a:p>
        </p:txBody>
      </p:sp>
      <p:sp>
        <p:nvSpPr>
          <p:cNvPr id="38" name="Text 29"/>
          <p:cNvSpPr txBox="1"/>
          <p:nvPr/>
        </p:nvSpPr>
        <p:spPr>
          <a:xfrm>
            <a:off x="8354568" y="4846320"/>
            <a:ext cx="3057144" cy="594360"/>
          </a:xfrm>
          <a:prstGeom prst="rect">
            <a:avLst/>
          </a:prstGeom>
          <a:noFill/>
          <a:ln/>
        </p:spPr>
        <p:txBody>
          <a:bodyPr wrap="square" lIns="0" tIns="0" rIns="0" bIns="0" rtlCol="0" anchor="t"/>
          <a:lstStyle/>
          <a:p>
            <a:pPr indent="0" marL="0">
              <a:buNone/>
            </a:pPr>
            <a:r>
              <a:rPr lang="en-US" sz="1700" b="1" dirty="0">
                <a:solidFill>
                  <a:schemeClr val="tx1"/>
                </a:solidFill>
              </a:rPr>
              <a:t>Alerts, records, analytics, simulation</a:t>
            </a:r>
            <a:endParaRPr lang="en-US" sz="1700" dirty="0"/>
          </a:p>
        </p:txBody>
      </p:sp>
      <p:sp>
        <p:nvSpPr>
          <p:cNvPr id="39" name="Text 30"/>
          <p:cNvSpPr txBox="1"/>
          <p:nvPr/>
        </p:nvSpPr>
        <p:spPr>
          <a:xfrm>
            <a:off x="8354568" y="5458968"/>
            <a:ext cx="3057144" cy="640080"/>
          </a:xfrm>
          <a:prstGeom prst="rect">
            <a:avLst/>
          </a:prstGeom>
          <a:noFill/>
          <a:ln/>
        </p:spPr>
        <p:txBody>
          <a:bodyPr wrap="square" lIns="0" tIns="0" rIns="0" bIns="0" rtlCol="0" anchor="t"/>
          <a:lstStyle/>
          <a:p>
            <a:pPr indent="0" marL="0">
              <a:buNone/>
            </a:pPr>
            <a:r>
              <a:rPr lang="en-US" sz="1400" dirty="0">
                <a:solidFill>
                  <a:schemeClr val="tx2"/>
                </a:solidFill>
              </a:rPr>
              <a:t>Review alerts, patient records, charts and demo emergencies.</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EXISTING AND PROPOSED SYSTEM</a:t>
            </a:r>
            <a:endParaRPr lang="en-US" sz="3200" dirty="0"/>
          </a:p>
        </p:txBody>
      </p:sp>
      <p:sp>
        <p:nvSpPr>
          <p:cNvPr id="4" name="Existing panel"/>
          <p:cNvSpPr/>
          <p:nvPr/>
        </p:nvSpPr>
        <p:spPr>
          <a:xfrm>
            <a:off x="548640" y="1280160"/>
            <a:ext cx="5303520" cy="2880360"/>
          </a:xfrm>
          <a:prstGeom prst="roundRect">
            <a:avLst>
              <a:gd name="adj" fmla="val 3175"/>
            </a:avLst>
          </a:prstGeom>
          <a:solidFill>
            <a:schemeClr val="bg2"/>
          </a:solidFill>
          <a:ln w="12700">
            <a:solidFill>
              <a:schemeClr val="accent6"/>
            </a:solidFill>
            <a:prstDash val="solid"/>
          </a:ln>
        </p:spPr>
      </p:sp>
      <p:sp>
        <p:nvSpPr>
          <p:cNvPr id="5" name="Icon badge 52"/>
          <p:cNvSpPr/>
          <p:nvPr/>
        </p:nvSpPr>
        <p:spPr>
          <a:xfrm>
            <a:off x="777240" y="1463040"/>
            <a:ext cx="457200" cy="457200"/>
          </a:xfrm>
          <a:prstGeom prst="ellipse">
            <a:avLst/>
          </a:prstGeom>
          <a:solidFill>
            <a:schemeClr val="accent4">
              <a:alpha val="22000"/>
            </a:schemeClr>
          </a:solidFill>
          <a:ln w="9525">
            <a:solidFill>
              <a:schemeClr val="accent4"/>
            </a:solidFill>
            <a:prstDash val="solid"/>
          </a:ln>
        </p:spPr>
      </p:sp>
      <p:pic>
        <p:nvPicPr>
          <p:cNvPr id="6" name="Image 0" descr="PuzzlePiece icon">    </p:cNvPr>
          <p:cNvPicPr>
            <a:picLocks noChangeAspect="1"/>
          </p:cNvPicPr>
          <p:nvPr/>
        </p:nvPicPr>
        <p:blipFill>
          <a:blip r:embed="rId1"/>
          <a:stretch>
            <a:fillRect/>
          </a:stretch>
        </p:blipFill>
        <p:spPr>
          <a:xfrm>
            <a:off x="891540" y="1577340"/>
            <a:ext cx="228600" cy="228600"/>
          </a:xfrm>
          <a:prstGeom prst="rect">
            <a:avLst/>
          </a:prstGeom>
        </p:spPr>
      </p:pic>
      <p:sp>
        <p:nvSpPr>
          <p:cNvPr id="7" name="Text 3"/>
          <p:cNvSpPr txBox="1"/>
          <p:nvPr/>
        </p:nvSpPr>
        <p:spPr>
          <a:xfrm>
            <a:off x="1371600" y="1463040"/>
            <a:ext cx="4297680" cy="457200"/>
          </a:xfrm>
          <a:prstGeom prst="rect">
            <a:avLst/>
          </a:prstGeom>
          <a:noFill/>
          <a:ln/>
        </p:spPr>
        <p:txBody>
          <a:bodyPr wrap="square" lIns="0" tIns="0" rIns="0" bIns="0" rtlCol="0" anchor="ctr"/>
          <a:lstStyle/>
          <a:p>
            <a:pPr indent="0" marL="0">
              <a:buNone/>
            </a:pPr>
            <a:r>
              <a:rPr lang="en-US" sz="1800" b="1" dirty="0">
                <a:solidFill>
                  <a:schemeClr val="tx1"/>
                </a:solidFill>
              </a:rPr>
              <a:t>Fragmented or manual coordination</a:t>
            </a:r>
            <a:endParaRPr lang="en-US" sz="1800" dirty="0"/>
          </a:p>
        </p:txBody>
      </p:sp>
      <p:sp>
        <p:nvSpPr>
          <p:cNvPr id="8" name="Text 4"/>
          <p:cNvSpPr txBox="1"/>
          <p:nvPr/>
        </p:nvSpPr>
        <p:spPr>
          <a:xfrm>
            <a:off x="822960" y="2103120"/>
            <a:ext cx="4846320" cy="15544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Patient details spread across notes, calls and tools</a:t>
            </a:r>
            <a:endParaRPr lang="en-US" sz="1400" dirty="0"/>
          </a:p>
          <a:p>
            <a:pPr marL="177800" indent="-177800">
              <a:spcAft>
                <a:spcPts val="700"/>
              </a:spcAft>
              <a:buSzPct val="100000"/>
              <a:buChar char="•"/>
            </a:pPr>
            <a:r>
              <a:rPr lang="en-US" sz="1400" dirty="0">
                <a:solidFill>
                  <a:schemeClr val="tx1"/>
                </a:solidFill>
              </a:rPr>
              <a:t>Ambulance availability checked separately</a:t>
            </a:r>
            <a:endParaRPr lang="en-US" sz="1400" dirty="0"/>
          </a:p>
          <a:p>
            <a:pPr marL="177800" indent="-177800">
              <a:spcAft>
                <a:spcPts val="700"/>
              </a:spcAft>
              <a:buSzPct val="100000"/>
              <a:buChar char="•"/>
            </a:pPr>
            <a:r>
              <a:rPr lang="en-US" sz="1400" dirty="0">
                <a:solidFill>
                  <a:schemeClr val="tx1"/>
                </a:solidFill>
              </a:rPr>
              <a:t>Hospital readiness compared by hand</a:t>
            </a:r>
            <a:endParaRPr lang="en-US" sz="1400" dirty="0"/>
          </a:p>
          <a:p>
            <a:pPr marL="177800" indent="-177800">
              <a:spcAft>
                <a:spcPts val="700"/>
              </a:spcAft>
              <a:buSzPct val="100000"/>
              <a:buChar char="•"/>
            </a:pPr>
            <a:r>
              <a:rPr lang="en-US" sz="1400" dirty="0">
                <a:solidFill>
                  <a:schemeClr val="tx1"/>
                </a:solidFill>
              </a:rPr>
              <a:t>Cases reviewed one by one under pressure</a:t>
            </a:r>
            <a:endParaRPr lang="en-US" sz="1400" dirty="0"/>
          </a:p>
        </p:txBody>
      </p:sp>
      <p:sp>
        <p:nvSpPr>
          <p:cNvPr id="9" name="Text 5"/>
          <p:cNvSpPr txBox="1"/>
          <p:nvPr/>
        </p:nvSpPr>
        <p:spPr>
          <a:xfrm>
            <a:off x="822960" y="3749040"/>
            <a:ext cx="4846320" cy="274320"/>
          </a:xfrm>
          <a:prstGeom prst="rect">
            <a:avLst/>
          </a:prstGeom>
          <a:noFill/>
          <a:ln/>
        </p:spPr>
        <p:txBody>
          <a:bodyPr wrap="square" lIns="0" tIns="0" rIns="0" bIns="0" rtlCol="0" anchor="t"/>
          <a:lstStyle/>
          <a:p>
            <a:pPr indent="0" marL="0">
              <a:buNone/>
            </a:pPr>
            <a:r>
              <a:rPr lang="en-US" sz="1200" i="1" dirty="0">
                <a:solidFill>
                  <a:schemeClr val="tx2"/>
                </a:solidFill>
              </a:rPr>
              <a:t>General comparison – some existing systems are already integrated.</a:t>
            </a:r>
            <a:endParaRPr lang="en-US" sz="1200" dirty="0"/>
          </a:p>
        </p:txBody>
      </p:sp>
      <p:sp>
        <p:nvSpPr>
          <p:cNvPr id="10" name="Compare arrow"/>
          <p:cNvSpPr/>
          <p:nvPr/>
        </p:nvSpPr>
        <p:spPr>
          <a:xfrm>
            <a:off x="5943600" y="2514600"/>
            <a:ext cx="301752" cy="320040"/>
          </a:xfrm>
          <a:prstGeom prst="rightArrow">
            <a:avLst/>
          </a:prstGeom>
          <a:solidFill>
            <a:schemeClr val="accent2"/>
          </a:solidFill>
          <a:ln w="3175">
            <a:solidFill>
              <a:schemeClr val="accent2"/>
            </a:solidFill>
            <a:prstDash val="solid"/>
          </a:ln>
        </p:spPr>
      </p:sp>
      <p:sp>
        <p:nvSpPr>
          <p:cNvPr id="11" name="Proposed panel"/>
          <p:cNvSpPr/>
          <p:nvPr/>
        </p:nvSpPr>
        <p:spPr>
          <a:xfrm>
            <a:off x="6336792" y="1280160"/>
            <a:ext cx="5303520" cy="2880360"/>
          </a:xfrm>
          <a:prstGeom prst="roundRect">
            <a:avLst>
              <a:gd name="adj" fmla="val 3175"/>
            </a:avLst>
          </a:prstGeom>
          <a:solidFill>
            <a:schemeClr val="accent1">
              <a:alpha val="15000"/>
            </a:schemeClr>
          </a:solidFill>
          <a:ln w="15875">
            <a:solidFill>
              <a:schemeClr val="accent1"/>
            </a:solidFill>
            <a:prstDash val="solid"/>
          </a:ln>
        </p:spPr>
      </p:sp>
      <p:sp>
        <p:nvSpPr>
          <p:cNvPr id="12" name="Icon badge 53"/>
          <p:cNvSpPr/>
          <p:nvPr/>
        </p:nvSpPr>
        <p:spPr>
          <a:xfrm>
            <a:off x="6565392" y="1463040"/>
            <a:ext cx="457200" cy="457200"/>
          </a:xfrm>
          <a:prstGeom prst="ellipse">
            <a:avLst/>
          </a:prstGeom>
          <a:solidFill>
            <a:schemeClr val="accent1">
              <a:alpha val="22000"/>
            </a:schemeClr>
          </a:solidFill>
          <a:ln w="9525">
            <a:solidFill>
              <a:schemeClr val="accent1"/>
            </a:solidFill>
            <a:prstDash val="solid"/>
          </a:ln>
        </p:spPr>
      </p:sp>
      <p:pic>
        <p:nvPicPr>
          <p:cNvPr id="13" name="Image 1" descr="TachometerAlt icon">    </p:cNvPr>
          <p:cNvPicPr>
            <a:picLocks noChangeAspect="1"/>
          </p:cNvPicPr>
          <p:nvPr/>
        </p:nvPicPr>
        <p:blipFill>
          <a:blip r:embed="rId2"/>
          <a:stretch>
            <a:fillRect/>
          </a:stretch>
        </p:blipFill>
        <p:spPr>
          <a:xfrm>
            <a:off x="6679692" y="1577340"/>
            <a:ext cx="228600" cy="228600"/>
          </a:xfrm>
          <a:prstGeom prst="rect">
            <a:avLst/>
          </a:prstGeom>
        </p:spPr>
      </p:pic>
      <p:sp>
        <p:nvSpPr>
          <p:cNvPr id="14" name="Text 9"/>
          <p:cNvSpPr txBox="1"/>
          <p:nvPr/>
        </p:nvSpPr>
        <p:spPr>
          <a:xfrm>
            <a:off x="7159752" y="1463040"/>
            <a:ext cx="4297680" cy="457200"/>
          </a:xfrm>
          <a:prstGeom prst="rect">
            <a:avLst/>
          </a:prstGeom>
          <a:noFill/>
          <a:ln/>
        </p:spPr>
        <p:txBody>
          <a:bodyPr wrap="square" lIns="0" tIns="0" rIns="0" bIns="0" rtlCol="0" anchor="ctr"/>
          <a:lstStyle/>
          <a:p>
            <a:pPr indent="0" marL="0">
              <a:buNone/>
            </a:pPr>
            <a:r>
              <a:rPr lang="en-US" sz="1800" b="1" dirty="0">
                <a:solidFill>
                  <a:schemeClr val="accent1"/>
                </a:solidFill>
              </a:rPr>
              <a:t>EmergencyAI prototype</a:t>
            </a:r>
            <a:endParaRPr lang="en-US" sz="1800" dirty="0"/>
          </a:p>
        </p:txBody>
      </p:sp>
      <p:sp>
        <p:nvSpPr>
          <p:cNvPr id="15" name="Text 10"/>
          <p:cNvSpPr txBox="1"/>
          <p:nvPr/>
        </p:nvSpPr>
        <p:spPr>
          <a:xfrm>
            <a:off x="6611112" y="2103120"/>
            <a:ext cx="4846320" cy="19202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dashboard for cases, ambulances and hospitals</a:t>
            </a:r>
            <a:endParaRPr lang="en-US" sz="1400" dirty="0"/>
          </a:p>
          <a:p>
            <a:pPr marL="177800" indent="-177800">
              <a:spcAft>
                <a:spcPts val="700"/>
              </a:spcAft>
              <a:buSzPct val="100000"/>
              <a:buChar char="•"/>
            </a:pPr>
            <a:r>
              <a:rPr lang="en-US" sz="1400" dirty="0">
                <a:solidFill>
                  <a:schemeClr val="tx1"/>
                </a:solidFill>
              </a:rPr>
              <a:t>Structured intake with request validation</a:t>
            </a:r>
            <a:endParaRPr lang="en-US" sz="1400" dirty="0"/>
          </a:p>
          <a:p>
            <a:pPr marL="177800" indent="-177800">
              <a:spcAft>
                <a:spcPts val="700"/>
              </a:spcAft>
              <a:buSzPct val="100000"/>
              <a:buChar char="•"/>
            </a:pPr>
            <a:r>
              <a:rPr lang="en-US" sz="1400" dirty="0">
                <a:solidFill>
                  <a:schemeClr val="tx1"/>
                </a:solidFill>
              </a:rPr>
              <a:t>Rule-based severity score and category</a:t>
            </a:r>
            <a:endParaRPr lang="en-US" sz="1400" dirty="0"/>
          </a:p>
          <a:p>
            <a:pPr marL="177800" indent="-177800">
              <a:spcAft>
                <a:spcPts val="700"/>
              </a:spcAft>
              <a:buSzPct val="100000"/>
              <a:buChar char="•"/>
            </a:pPr>
            <a:r>
              <a:rPr lang="en-US" sz="1400" dirty="0">
                <a:solidFill>
                  <a:schemeClr val="tx1"/>
                </a:solidFill>
              </a:rPr>
              <a:t>Ranked ambulance and hospital suggestions</a:t>
            </a:r>
            <a:endParaRPr lang="en-US" sz="1400" dirty="0"/>
          </a:p>
        </p:txBody>
      </p:sp>
      <p:sp>
        <p:nvSpPr>
          <p:cNvPr id="16" name="Benefits panel"/>
          <p:cNvSpPr/>
          <p:nvPr/>
        </p:nvSpPr>
        <p:spPr>
          <a:xfrm>
            <a:off x="548640" y="4389120"/>
            <a:ext cx="5303520" cy="1783080"/>
          </a:xfrm>
          <a:prstGeom prst="roundRect">
            <a:avLst>
              <a:gd name="adj" fmla="val 5128"/>
            </a:avLst>
          </a:prstGeom>
          <a:solidFill>
            <a:schemeClr val="bg2"/>
          </a:solidFill>
          <a:ln w="9525">
            <a:solidFill>
              <a:schemeClr val="accent6"/>
            </a:solidFill>
            <a:prstDash val="solid"/>
          </a:ln>
        </p:spPr>
      </p:sp>
      <p:sp>
        <p:nvSpPr>
          <p:cNvPr id="17" name="Icon badge 54"/>
          <p:cNvSpPr/>
          <p:nvPr/>
        </p:nvSpPr>
        <p:spPr>
          <a:xfrm>
            <a:off x="777240" y="4526280"/>
            <a:ext cx="411480" cy="411480"/>
          </a:xfrm>
          <a:prstGeom prst="ellipse">
            <a:avLst/>
          </a:prstGeom>
          <a:solidFill>
            <a:schemeClr val="accent1">
              <a:alpha val="22000"/>
            </a:schemeClr>
          </a:solidFill>
          <a:ln w="9525">
            <a:solidFill>
              <a:schemeClr val="accent1"/>
            </a:solidFill>
            <a:prstDash val="solid"/>
          </a:ln>
        </p:spPr>
      </p:sp>
      <p:pic>
        <p:nvPicPr>
          <p:cNvPr id="18" name="Image 2" descr="CheckCircle icon">    </p:cNvPr>
          <p:cNvPicPr>
            <a:picLocks noChangeAspect="1"/>
          </p:cNvPicPr>
          <p:nvPr/>
        </p:nvPicPr>
        <p:blipFill>
          <a:blip r:embed="rId3"/>
          <a:stretch>
            <a:fillRect/>
          </a:stretch>
        </p:blipFill>
        <p:spPr>
          <a:xfrm>
            <a:off x="880110" y="4629150"/>
            <a:ext cx="205740" cy="205740"/>
          </a:xfrm>
          <a:prstGeom prst="rect">
            <a:avLst/>
          </a:prstGeom>
        </p:spPr>
      </p:pic>
      <p:sp>
        <p:nvSpPr>
          <p:cNvPr id="19" name="Text 13"/>
          <p:cNvSpPr txBox="1"/>
          <p:nvPr/>
        </p:nvSpPr>
        <p:spPr>
          <a:xfrm>
            <a:off x="1325880" y="4526280"/>
            <a:ext cx="3657600" cy="411480"/>
          </a:xfrm>
          <a:prstGeom prst="rect">
            <a:avLst/>
          </a:prstGeom>
          <a:noFill/>
          <a:ln/>
        </p:spPr>
        <p:txBody>
          <a:bodyPr wrap="square" lIns="0" tIns="0" rIns="0" bIns="0" rtlCol="0" anchor="ctr"/>
          <a:lstStyle/>
          <a:p>
            <a:pPr indent="0" marL="0">
              <a:buNone/>
            </a:pPr>
            <a:r>
              <a:rPr lang="en-US" sz="1700" b="1" dirty="0">
                <a:solidFill>
                  <a:schemeClr val="accent1"/>
                </a:solidFill>
              </a:rPr>
              <a:t>Benefits</a:t>
            </a:r>
            <a:endParaRPr lang="en-US" sz="1700" dirty="0"/>
          </a:p>
        </p:txBody>
      </p:sp>
      <p:sp>
        <p:nvSpPr>
          <p:cNvPr id="20" name="Text 14"/>
          <p:cNvSpPr txBox="1"/>
          <p:nvPr/>
        </p:nvSpPr>
        <p:spPr>
          <a:xfrm>
            <a:off x="822960" y="5074920"/>
            <a:ext cx="4846320" cy="1005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Faster side-by-side review of resources</a:t>
            </a:r>
            <a:endParaRPr lang="en-US" sz="1400" dirty="0"/>
          </a:p>
          <a:p>
            <a:pPr marL="177800" indent="-177800">
              <a:spcAft>
                <a:spcPts val="700"/>
              </a:spcAft>
              <a:buSzPct val="100000"/>
              <a:buChar char="•"/>
            </a:pPr>
            <a:r>
              <a:rPr lang="en-US" sz="1400" dirty="0">
                <a:solidFill>
                  <a:schemeClr val="tx1"/>
                </a:solidFill>
              </a:rPr>
              <a:t>Consistent, structured records</a:t>
            </a:r>
            <a:endParaRPr lang="en-US" sz="1400" dirty="0"/>
          </a:p>
          <a:p>
            <a:pPr marL="177800" indent="-177800">
              <a:spcAft>
                <a:spcPts val="700"/>
              </a:spcAft>
              <a:buSzPct val="100000"/>
              <a:buChar char="•"/>
            </a:pPr>
            <a:r>
              <a:rPr lang="en-US" sz="1400" dirty="0">
                <a:solidFill>
                  <a:schemeClr val="tx1"/>
                </a:solidFill>
              </a:rPr>
              <a:t>Easy to extend and demonstrate</a:t>
            </a:r>
            <a:endParaRPr lang="en-US" sz="1400" dirty="0"/>
          </a:p>
        </p:txBody>
      </p:sp>
      <p:sp>
        <p:nvSpPr>
          <p:cNvPr id="21" name="Limitations panel"/>
          <p:cNvSpPr/>
          <p:nvPr/>
        </p:nvSpPr>
        <p:spPr>
          <a:xfrm>
            <a:off x="6336792" y="4389120"/>
            <a:ext cx="5303520" cy="1783080"/>
          </a:xfrm>
          <a:prstGeom prst="roundRect">
            <a:avLst>
              <a:gd name="adj" fmla="val 5128"/>
            </a:avLst>
          </a:prstGeom>
          <a:solidFill>
            <a:schemeClr val="bg2"/>
          </a:solidFill>
          <a:ln w="12700">
            <a:solidFill>
              <a:schemeClr val="accent4"/>
            </a:solidFill>
            <a:prstDash val="solid"/>
          </a:ln>
        </p:spPr>
      </p:sp>
      <p:sp>
        <p:nvSpPr>
          <p:cNvPr id="22" name="Icon badge 55"/>
          <p:cNvSpPr/>
          <p:nvPr/>
        </p:nvSpPr>
        <p:spPr>
          <a:xfrm>
            <a:off x="6565392" y="4526280"/>
            <a:ext cx="411480" cy="411480"/>
          </a:xfrm>
          <a:prstGeom prst="ellipse">
            <a:avLst/>
          </a:prstGeom>
          <a:solidFill>
            <a:schemeClr val="accent4">
              <a:alpha val="22000"/>
            </a:schemeClr>
          </a:solidFill>
          <a:ln w="9525">
            <a:solidFill>
              <a:schemeClr val="accent4"/>
            </a:solidFill>
            <a:prstDash val="solid"/>
          </a:ln>
        </p:spPr>
      </p:sp>
      <p:pic>
        <p:nvPicPr>
          <p:cNvPr id="23" name="Image 3" descr="ExclamationTriangle icon">    </p:cNvPr>
          <p:cNvPicPr>
            <a:picLocks noChangeAspect="1"/>
          </p:cNvPicPr>
          <p:nvPr/>
        </p:nvPicPr>
        <p:blipFill>
          <a:blip r:embed="rId4"/>
          <a:stretch>
            <a:fillRect/>
          </a:stretch>
        </p:blipFill>
        <p:spPr>
          <a:xfrm>
            <a:off x="6668262" y="4629150"/>
            <a:ext cx="205740" cy="205740"/>
          </a:xfrm>
          <a:prstGeom prst="rect">
            <a:avLst/>
          </a:prstGeom>
        </p:spPr>
      </p:pic>
      <p:sp>
        <p:nvSpPr>
          <p:cNvPr id="24" name="Text 17"/>
          <p:cNvSpPr txBox="1"/>
          <p:nvPr/>
        </p:nvSpPr>
        <p:spPr>
          <a:xfrm>
            <a:off x="7114032" y="4526280"/>
            <a:ext cx="3657600" cy="411480"/>
          </a:xfrm>
          <a:prstGeom prst="rect">
            <a:avLst/>
          </a:prstGeom>
          <a:noFill/>
          <a:ln/>
        </p:spPr>
        <p:txBody>
          <a:bodyPr wrap="square" lIns="0" tIns="0" rIns="0" bIns="0" rtlCol="0" anchor="ctr"/>
          <a:lstStyle/>
          <a:p>
            <a:pPr indent="0" marL="0">
              <a:buNone/>
            </a:pPr>
            <a:r>
              <a:rPr lang="en-US" sz="1700" b="1" dirty="0">
                <a:solidFill>
                  <a:schemeClr val="accent4"/>
                </a:solidFill>
              </a:rPr>
              <a:t>Limitations</a:t>
            </a:r>
            <a:endParaRPr lang="en-US" sz="1700" dirty="0"/>
          </a:p>
        </p:txBody>
      </p:sp>
      <p:sp>
        <p:nvSpPr>
          <p:cNvPr id="25" name="Text 18"/>
          <p:cNvSpPr txBox="1"/>
          <p:nvPr/>
        </p:nvSpPr>
        <p:spPr>
          <a:xfrm>
            <a:off x="6611112" y="5074920"/>
            <a:ext cx="4846320" cy="1005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Demo seed data, not live feeds</a:t>
            </a:r>
            <a:endParaRPr lang="en-US" sz="1400" dirty="0"/>
          </a:p>
          <a:p>
            <a:pPr marL="177800" indent="-177800">
              <a:spcAft>
                <a:spcPts val="700"/>
              </a:spcAft>
              <a:buSzPct val="100000"/>
              <a:buChar char="•"/>
            </a:pPr>
            <a:r>
              <a:rPr lang="en-US" sz="1400" dirty="0">
                <a:solidFill>
                  <a:schemeClr val="tx1"/>
                </a:solidFill>
              </a:rPr>
              <a:t>Heuristics are not clinically validated</a:t>
            </a:r>
            <a:endParaRPr lang="en-US" sz="1400" dirty="0"/>
          </a:p>
          <a:p>
            <a:pPr marL="177800" indent="-177800">
              <a:spcAft>
                <a:spcPts val="700"/>
              </a:spcAft>
              <a:buSzPct val="100000"/>
              <a:buChar char="•"/>
            </a:pPr>
            <a:r>
              <a:rPr lang="en-US" sz="1400" dirty="0">
                <a:solidFill>
                  <a:schemeClr val="tx1"/>
                </a:solidFill>
              </a:rPr>
              <a:t>No link to real emergency systems</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PROPOSED SYSTEM</a:t>
            </a:r>
            <a:endParaRPr lang="en-US" sz="3200" dirty="0"/>
          </a:p>
        </p:txBody>
      </p:sp>
      <p:sp>
        <p:nvSpPr>
          <p:cNvPr id="4" name="Card 56"/>
          <p:cNvSpPr/>
          <p:nvPr/>
        </p:nvSpPr>
        <p:spPr>
          <a:xfrm>
            <a:off x="548640" y="1325880"/>
            <a:ext cx="2430018" cy="2788920"/>
          </a:xfrm>
          <a:prstGeom prst="roundRect">
            <a:avLst>
              <a:gd name="adj" fmla="val 3763"/>
            </a:avLst>
          </a:prstGeom>
          <a:solidFill>
            <a:schemeClr val="bg2"/>
          </a:solidFill>
          <a:ln w="9525">
            <a:solidFill>
              <a:schemeClr val="accent6"/>
            </a:solidFill>
            <a:prstDash val="solid"/>
          </a:ln>
        </p:spPr>
      </p:sp>
      <p:sp>
        <p:nvSpPr>
          <p:cNvPr id="5" name="Icon badge 57"/>
          <p:cNvSpPr/>
          <p:nvPr/>
        </p:nvSpPr>
        <p:spPr>
          <a:xfrm>
            <a:off x="777240" y="1554480"/>
            <a:ext cx="640080" cy="640080"/>
          </a:xfrm>
          <a:prstGeom prst="ellipse">
            <a:avLst/>
          </a:prstGeom>
          <a:solidFill>
            <a:schemeClr val="accent1">
              <a:alpha val="22000"/>
            </a:schemeClr>
          </a:solidFill>
          <a:ln w="9525">
            <a:solidFill>
              <a:schemeClr val="accent1"/>
            </a:solidFill>
            <a:prstDash val="solid"/>
          </a:ln>
        </p:spPr>
      </p:sp>
      <p:pic>
        <p:nvPicPr>
          <p:cNvPr id="6" name="Image 0" descr="ClipboardList icon">    </p:cNvPr>
          <p:cNvPicPr>
            <a:picLocks noChangeAspect="1"/>
          </p:cNvPicPr>
          <p:nvPr/>
        </p:nvPicPr>
        <p:blipFill>
          <a:blip r:embed="rId1"/>
          <a:stretch>
            <a:fillRect/>
          </a:stretch>
        </p:blipFill>
        <p:spPr>
          <a:xfrm>
            <a:off x="937260" y="1714500"/>
            <a:ext cx="320040" cy="320040"/>
          </a:xfrm>
          <a:prstGeom prst="rect">
            <a:avLst/>
          </a:prstGeom>
        </p:spPr>
      </p:pic>
      <p:sp>
        <p:nvSpPr>
          <p:cNvPr id="7" name="Text 3"/>
          <p:cNvSpPr txBox="1"/>
          <p:nvPr/>
        </p:nvSpPr>
        <p:spPr>
          <a:xfrm>
            <a:off x="1972818" y="1600200"/>
            <a:ext cx="777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STEP 1</a:t>
            </a:r>
            <a:endParaRPr lang="en-US" sz="1200" dirty="0"/>
          </a:p>
        </p:txBody>
      </p:sp>
      <p:sp>
        <p:nvSpPr>
          <p:cNvPr id="8" name="Text 4"/>
          <p:cNvSpPr txBox="1"/>
          <p:nvPr/>
        </p:nvSpPr>
        <p:spPr>
          <a:xfrm>
            <a:off x="777240" y="2377440"/>
            <a:ext cx="1972818" cy="365760"/>
          </a:xfrm>
          <a:prstGeom prst="rect">
            <a:avLst/>
          </a:prstGeom>
          <a:noFill/>
          <a:ln/>
        </p:spPr>
        <p:txBody>
          <a:bodyPr wrap="square" lIns="0" tIns="0" rIns="0" bIns="0" rtlCol="0" anchor="t"/>
          <a:lstStyle/>
          <a:p>
            <a:pPr indent="0" marL="0">
              <a:buNone/>
            </a:pPr>
            <a:r>
              <a:rPr lang="en-US" sz="1700" b="1" dirty="0">
                <a:solidFill>
                  <a:schemeClr val="tx1"/>
                </a:solidFill>
              </a:rPr>
              <a:t>Enter details</a:t>
            </a:r>
            <a:endParaRPr lang="en-US" sz="1700" dirty="0"/>
          </a:p>
        </p:txBody>
      </p:sp>
      <p:sp>
        <p:nvSpPr>
          <p:cNvPr id="9" name="Text 5"/>
          <p:cNvSpPr txBox="1"/>
          <p:nvPr/>
        </p:nvSpPr>
        <p:spPr>
          <a:xfrm>
            <a:off x="777240" y="2834640"/>
            <a:ext cx="2018538" cy="1188720"/>
          </a:xfrm>
          <a:prstGeom prst="rect">
            <a:avLst/>
          </a:prstGeom>
          <a:noFill/>
          <a:ln/>
        </p:spPr>
        <p:txBody>
          <a:bodyPr wrap="square" lIns="0" tIns="0" rIns="0" bIns="0" rtlCol="0" anchor="t"/>
          <a:lstStyle/>
          <a:p>
            <a:pPr indent="0" marL="0">
              <a:buNone/>
            </a:pPr>
            <a:r>
              <a:rPr lang="en-US" sz="1400" dirty="0">
                <a:solidFill>
                  <a:schemeClr val="tx2"/>
                </a:solidFill>
              </a:rPr>
              <a:t>The operator submits emergency details, patient observations and location from the web form.</a:t>
            </a:r>
            <a:endParaRPr lang="en-US" sz="1400" dirty="0"/>
          </a:p>
        </p:txBody>
      </p:sp>
      <p:sp>
        <p:nvSpPr>
          <p:cNvPr id="10" name="Arrow 58"/>
          <p:cNvSpPr/>
          <p:nvPr/>
        </p:nvSpPr>
        <p:spPr>
          <a:xfrm>
            <a:off x="3033522" y="2697480"/>
            <a:ext cx="347472" cy="0"/>
          </a:xfrm>
          <a:prstGeom prst="line">
            <a:avLst/>
          </a:prstGeom>
          <a:noFill/>
          <a:ln w="19050">
            <a:solidFill>
              <a:schemeClr val="accent2"/>
            </a:solidFill>
            <a:prstDash val="solid"/>
            <a:tailEnd type="triangle"/>
          </a:ln>
        </p:spPr>
      </p:sp>
      <p:sp>
        <p:nvSpPr>
          <p:cNvPr id="11" name="Card 59"/>
          <p:cNvSpPr/>
          <p:nvPr/>
        </p:nvSpPr>
        <p:spPr>
          <a:xfrm>
            <a:off x="3435858" y="1325880"/>
            <a:ext cx="2430018" cy="2788920"/>
          </a:xfrm>
          <a:prstGeom prst="roundRect">
            <a:avLst>
              <a:gd name="adj" fmla="val 3763"/>
            </a:avLst>
          </a:prstGeom>
          <a:solidFill>
            <a:schemeClr val="bg2"/>
          </a:solidFill>
          <a:ln w="9525">
            <a:solidFill>
              <a:schemeClr val="accent6"/>
            </a:solidFill>
            <a:prstDash val="solid"/>
          </a:ln>
        </p:spPr>
      </p:sp>
      <p:sp>
        <p:nvSpPr>
          <p:cNvPr id="12" name="Icon badge 60"/>
          <p:cNvSpPr/>
          <p:nvPr/>
        </p:nvSpPr>
        <p:spPr>
          <a:xfrm>
            <a:off x="3664458" y="1554480"/>
            <a:ext cx="640080" cy="640080"/>
          </a:xfrm>
          <a:prstGeom prst="ellipse">
            <a:avLst/>
          </a:prstGeom>
          <a:solidFill>
            <a:schemeClr val="accent2">
              <a:alpha val="22000"/>
            </a:schemeClr>
          </a:solidFill>
          <a:ln w="9525">
            <a:solidFill>
              <a:schemeClr val="accent2"/>
            </a:solidFill>
            <a:prstDash val="solid"/>
          </a:ln>
        </p:spPr>
      </p:sp>
      <p:pic>
        <p:nvPicPr>
          <p:cNvPr id="13" name="Image 1" descr="Server icon">    </p:cNvPr>
          <p:cNvPicPr>
            <a:picLocks noChangeAspect="1"/>
          </p:cNvPicPr>
          <p:nvPr/>
        </p:nvPicPr>
        <p:blipFill>
          <a:blip r:embed="rId2"/>
          <a:stretch>
            <a:fillRect/>
          </a:stretch>
        </p:blipFill>
        <p:spPr>
          <a:xfrm>
            <a:off x="3824478" y="1714500"/>
            <a:ext cx="320040" cy="320040"/>
          </a:xfrm>
          <a:prstGeom prst="rect">
            <a:avLst/>
          </a:prstGeom>
        </p:spPr>
      </p:pic>
      <p:sp>
        <p:nvSpPr>
          <p:cNvPr id="14" name="Text 9"/>
          <p:cNvSpPr txBox="1"/>
          <p:nvPr/>
        </p:nvSpPr>
        <p:spPr>
          <a:xfrm>
            <a:off x="4860036" y="1600200"/>
            <a:ext cx="777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STEP 2</a:t>
            </a:r>
            <a:endParaRPr lang="en-US" sz="1200" dirty="0"/>
          </a:p>
        </p:txBody>
      </p:sp>
      <p:sp>
        <p:nvSpPr>
          <p:cNvPr id="15" name="Text 10"/>
          <p:cNvSpPr txBox="1"/>
          <p:nvPr/>
        </p:nvSpPr>
        <p:spPr>
          <a:xfrm>
            <a:off x="3664458" y="2377440"/>
            <a:ext cx="1972818" cy="365760"/>
          </a:xfrm>
          <a:prstGeom prst="rect">
            <a:avLst/>
          </a:prstGeom>
          <a:noFill/>
          <a:ln/>
        </p:spPr>
        <p:txBody>
          <a:bodyPr wrap="square" lIns="0" tIns="0" rIns="0" bIns="0" rtlCol="0" anchor="t"/>
          <a:lstStyle/>
          <a:p>
            <a:pPr indent="0" marL="0">
              <a:buNone/>
            </a:pPr>
            <a:r>
              <a:rPr lang="en-US" sz="1700" b="1" dirty="0">
                <a:solidFill>
                  <a:schemeClr val="tx1"/>
                </a:solidFill>
              </a:rPr>
              <a:t>Backend evaluates</a:t>
            </a:r>
            <a:endParaRPr lang="en-US" sz="1700" dirty="0"/>
          </a:p>
        </p:txBody>
      </p:sp>
      <p:sp>
        <p:nvSpPr>
          <p:cNvPr id="16" name="Text 11"/>
          <p:cNvSpPr txBox="1"/>
          <p:nvPr/>
        </p:nvSpPr>
        <p:spPr>
          <a:xfrm>
            <a:off x="3664458" y="2834640"/>
            <a:ext cx="2018538" cy="1188720"/>
          </a:xfrm>
          <a:prstGeom prst="rect">
            <a:avLst/>
          </a:prstGeom>
          <a:noFill/>
          <a:ln/>
        </p:spPr>
        <p:txBody>
          <a:bodyPr wrap="square" lIns="0" tIns="0" rIns="0" bIns="0" rtlCol="0" anchor="t"/>
          <a:lstStyle/>
          <a:p>
            <a:pPr indent="0" marL="0">
              <a:buNone/>
            </a:pPr>
            <a:r>
              <a:rPr lang="en-US" sz="1400" dirty="0">
                <a:solidFill>
                  <a:schemeClr val="tx2"/>
                </a:solidFill>
              </a:rPr>
              <a:t>FastAPI validates the request and applies business logic.</a:t>
            </a:r>
            <a:endParaRPr lang="en-US" sz="1400" dirty="0"/>
          </a:p>
        </p:txBody>
      </p:sp>
      <p:sp>
        <p:nvSpPr>
          <p:cNvPr id="17" name="Arrow 61"/>
          <p:cNvSpPr/>
          <p:nvPr/>
        </p:nvSpPr>
        <p:spPr>
          <a:xfrm>
            <a:off x="5920740" y="2697480"/>
            <a:ext cx="347472" cy="0"/>
          </a:xfrm>
          <a:prstGeom prst="line">
            <a:avLst/>
          </a:prstGeom>
          <a:noFill/>
          <a:ln w="19050">
            <a:solidFill>
              <a:schemeClr val="accent2"/>
            </a:solidFill>
            <a:prstDash val="solid"/>
            <a:tailEnd type="triangle"/>
          </a:ln>
        </p:spPr>
      </p:sp>
      <p:sp>
        <p:nvSpPr>
          <p:cNvPr id="18" name="Card 62"/>
          <p:cNvSpPr/>
          <p:nvPr/>
        </p:nvSpPr>
        <p:spPr>
          <a:xfrm>
            <a:off x="6323076" y="1325880"/>
            <a:ext cx="2430018" cy="2788920"/>
          </a:xfrm>
          <a:prstGeom prst="roundRect">
            <a:avLst>
              <a:gd name="adj" fmla="val 3763"/>
            </a:avLst>
          </a:prstGeom>
          <a:solidFill>
            <a:schemeClr val="bg2"/>
          </a:solidFill>
          <a:ln w="9525">
            <a:solidFill>
              <a:schemeClr val="accent6"/>
            </a:solidFill>
            <a:prstDash val="solid"/>
          </a:ln>
        </p:spPr>
      </p:sp>
      <p:sp>
        <p:nvSpPr>
          <p:cNvPr id="19" name="Icon badge 63"/>
          <p:cNvSpPr/>
          <p:nvPr/>
        </p:nvSpPr>
        <p:spPr>
          <a:xfrm>
            <a:off x="6551676" y="1554480"/>
            <a:ext cx="640080" cy="640080"/>
          </a:xfrm>
          <a:prstGeom prst="ellipse">
            <a:avLst/>
          </a:prstGeom>
          <a:solidFill>
            <a:schemeClr val="accent3">
              <a:alpha val="22000"/>
            </a:schemeClr>
          </a:solidFill>
          <a:ln w="9525">
            <a:solidFill>
              <a:schemeClr val="accent3"/>
            </a:solidFill>
            <a:prstDash val="solid"/>
          </a:ln>
        </p:spPr>
      </p:sp>
      <p:pic>
        <p:nvPicPr>
          <p:cNvPr id="20" name="Image 2" descr="Heartbeat icon">    </p:cNvPr>
          <p:cNvPicPr>
            <a:picLocks noChangeAspect="1"/>
          </p:cNvPicPr>
          <p:nvPr/>
        </p:nvPicPr>
        <p:blipFill>
          <a:blip r:embed="rId3"/>
          <a:stretch>
            <a:fillRect/>
          </a:stretch>
        </p:blipFill>
        <p:spPr>
          <a:xfrm>
            <a:off x="6711696" y="1714500"/>
            <a:ext cx="320040" cy="320040"/>
          </a:xfrm>
          <a:prstGeom prst="rect">
            <a:avLst/>
          </a:prstGeom>
        </p:spPr>
      </p:pic>
      <p:sp>
        <p:nvSpPr>
          <p:cNvPr id="21" name="Text 15"/>
          <p:cNvSpPr txBox="1"/>
          <p:nvPr/>
        </p:nvSpPr>
        <p:spPr>
          <a:xfrm>
            <a:off x="7747254" y="1600200"/>
            <a:ext cx="777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STEP 3</a:t>
            </a:r>
            <a:endParaRPr lang="en-US" sz="1200" dirty="0"/>
          </a:p>
        </p:txBody>
      </p:sp>
      <p:sp>
        <p:nvSpPr>
          <p:cNvPr id="22" name="Text 16"/>
          <p:cNvSpPr txBox="1"/>
          <p:nvPr/>
        </p:nvSpPr>
        <p:spPr>
          <a:xfrm>
            <a:off x="6551676" y="2377440"/>
            <a:ext cx="1972818" cy="365760"/>
          </a:xfrm>
          <a:prstGeom prst="rect">
            <a:avLst/>
          </a:prstGeom>
          <a:noFill/>
          <a:ln/>
        </p:spPr>
        <p:txBody>
          <a:bodyPr wrap="square" lIns="0" tIns="0" rIns="0" bIns="0" rtlCol="0" anchor="t"/>
          <a:lstStyle/>
          <a:p>
            <a:pPr indent="0" marL="0">
              <a:buNone/>
            </a:pPr>
            <a:r>
              <a:rPr lang="en-US" sz="1700" b="1" dirty="0">
                <a:solidFill>
                  <a:schemeClr val="tx1"/>
                </a:solidFill>
              </a:rPr>
              <a:t>Severity engine</a:t>
            </a:r>
            <a:endParaRPr lang="en-US" sz="1700" dirty="0"/>
          </a:p>
        </p:txBody>
      </p:sp>
      <p:sp>
        <p:nvSpPr>
          <p:cNvPr id="23" name="Text 17"/>
          <p:cNvSpPr txBox="1"/>
          <p:nvPr/>
        </p:nvSpPr>
        <p:spPr>
          <a:xfrm>
            <a:off x="6551676" y="2834640"/>
            <a:ext cx="2018538" cy="1188720"/>
          </a:xfrm>
          <a:prstGeom prst="rect">
            <a:avLst/>
          </a:prstGeom>
          <a:noFill/>
          <a:ln/>
        </p:spPr>
        <p:txBody>
          <a:bodyPr wrap="square" lIns="0" tIns="0" rIns="0" bIns="0" rtlCol="0" anchor="t"/>
          <a:lstStyle/>
          <a:p>
            <a:pPr indent="0" marL="0">
              <a:buNone/>
            </a:pPr>
            <a:r>
              <a:rPr lang="en-US" sz="1400" dirty="0">
                <a:solidFill>
                  <a:schemeClr val="tx2"/>
                </a:solidFill>
              </a:rPr>
              <a:t>Rule-based checks identify risk factors and score the case.</a:t>
            </a:r>
            <a:endParaRPr lang="en-US" sz="1400" dirty="0"/>
          </a:p>
        </p:txBody>
      </p:sp>
      <p:sp>
        <p:nvSpPr>
          <p:cNvPr id="24" name="Arrow 64"/>
          <p:cNvSpPr/>
          <p:nvPr/>
        </p:nvSpPr>
        <p:spPr>
          <a:xfrm>
            <a:off x="8807958" y="2697480"/>
            <a:ext cx="347472" cy="0"/>
          </a:xfrm>
          <a:prstGeom prst="line">
            <a:avLst/>
          </a:prstGeom>
          <a:noFill/>
          <a:ln w="19050">
            <a:solidFill>
              <a:schemeClr val="accent2"/>
            </a:solidFill>
            <a:prstDash val="solid"/>
            <a:tailEnd type="triangle"/>
          </a:ln>
        </p:spPr>
      </p:sp>
      <p:sp>
        <p:nvSpPr>
          <p:cNvPr id="25" name="Card 65"/>
          <p:cNvSpPr/>
          <p:nvPr/>
        </p:nvSpPr>
        <p:spPr>
          <a:xfrm>
            <a:off x="9210294" y="1325880"/>
            <a:ext cx="2430018" cy="2788920"/>
          </a:xfrm>
          <a:prstGeom prst="roundRect">
            <a:avLst>
              <a:gd name="adj" fmla="val 3763"/>
            </a:avLst>
          </a:prstGeom>
          <a:solidFill>
            <a:schemeClr val="bg2"/>
          </a:solidFill>
          <a:ln w="9525">
            <a:solidFill>
              <a:schemeClr val="accent6"/>
            </a:solidFill>
            <a:prstDash val="solid"/>
          </a:ln>
        </p:spPr>
      </p:sp>
      <p:sp>
        <p:nvSpPr>
          <p:cNvPr id="26" name="Icon badge 66"/>
          <p:cNvSpPr/>
          <p:nvPr/>
        </p:nvSpPr>
        <p:spPr>
          <a:xfrm>
            <a:off x="9438894" y="1554480"/>
            <a:ext cx="640080" cy="640080"/>
          </a:xfrm>
          <a:prstGeom prst="ellipse">
            <a:avLst/>
          </a:prstGeom>
          <a:solidFill>
            <a:schemeClr val="accent4">
              <a:alpha val="22000"/>
            </a:schemeClr>
          </a:solidFill>
          <a:ln w="9525">
            <a:solidFill>
              <a:schemeClr val="accent4"/>
            </a:solidFill>
            <a:prstDash val="solid"/>
          </a:ln>
        </p:spPr>
      </p:sp>
      <p:pic>
        <p:nvPicPr>
          <p:cNvPr id="27" name="Image 3" descr="BalanceScale icon">    </p:cNvPr>
          <p:cNvPicPr>
            <a:picLocks noChangeAspect="1"/>
          </p:cNvPicPr>
          <p:nvPr/>
        </p:nvPicPr>
        <p:blipFill>
          <a:blip r:embed="rId4"/>
          <a:stretch>
            <a:fillRect/>
          </a:stretch>
        </p:blipFill>
        <p:spPr>
          <a:xfrm>
            <a:off x="9598914" y="1714500"/>
            <a:ext cx="320040" cy="320040"/>
          </a:xfrm>
          <a:prstGeom prst="rect">
            <a:avLst/>
          </a:prstGeom>
        </p:spPr>
      </p:pic>
      <p:sp>
        <p:nvSpPr>
          <p:cNvPr id="28" name="Text 21"/>
          <p:cNvSpPr txBox="1"/>
          <p:nvPr/>
        </p:nvSpPr>
        <p:spPr>
          <a:xfrm>
            <a:off x="10634472" y="1600200"/>
            <a:ext cx="777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STEP 4</a:t>
            </a:r>
            <a:endParaRPr lang="en-US" sz="1200" dirty="0"/>
          </a:p>
        </p:txBody>
      </p:sp>
      <p:sp>
        <p:nvSpPr>
          <p:cNvPr id="29" name="Text 22"/>
          <p:cNvSpPr txBox="1"/>
          <p:nvPr/>
        </p:nvSpPr>
        <p:spPr>
          <a:xfrm>
            <a:off x="9438894" y="2377440"/>
            <a:ext cx="1972818" cy="365760"/>
          </a:xfrm>
          <a:prstGeom prst="rect">
            <a:avLst/>
          </a:prstGeom>
          <a:noFill/>
          <a:ln/>
        </p:spPr>
        <p:txBody>
          <a:bodyPr wrap="square" lIns="0" tIns="0" rIns="0" bIns="0" rtlCol="0" anchor="t"/>
          <a:lstStyle/>
          <a:p>
            <a:pPr indent="0" marL="0">
              <a:buNone/>
            </a:pPr>
            <a:r>
              <a:rPr lang="en-US" sz="1700" b="1" dirty="0">
                <a:solidFill>
                  <a:schemeClr val="tx1"/>
                </a:solidFill>
              </a:rPr>
              <a:t>Allocation logic</a:t>
            </a:r>
            <a:endParaRPr lang="en-US" sz="1700" dirty="0"/>
          </a:p>
        </p:txBody>
      </p:sp>
      <p:sp>
        <p:nvSpPr>
          <p:cNvPr id="30" name="Text 23"/>
          <p:cNvSpPr txBox="1"/>
          <p:nvPr/>
        </p:nvSpPr>
        <p:spPr>
          <a:xfrm>
            <a:off x="9438894" y="2834640"/>
            <a:ext cx="2018538" cy="1188720"/>
          </a:xfrm>
          <a:prstGeom prst="rect">
            <a:avLst/>
          </a:prstGeom>
          <a:noFill/>
          <a:ln/>
        </p:spPr>
        <p:txBody>
          <a:bodyPr wrap="square" lIns="0" tIns="0" rIns="0" bIns="0" rtlCol="0" anchor="t"/>
          <a:lstStyle/>
          <a:p>
            <a:pPr indent="0" marL="0">
              <a:buNone/>
            </a:pPr>
            <a:r>
              <a:rPr lang="en-US" sz="1400" dirty="0">
                <a:solidFill>
                  <a:schemeClr val="tx2"/>
                </a:solidFill>
              </a:rPr>
              <a:t>Ambulance and hospital options are ranked as possible recommendations.</a:t>
            </a:r>
            <a:endParaRPr lang="en-US" sz="1400" dirty="0"/>
          </a:p>
        </p:txBody>
      </p:sp>
      <p:sp>
        <p:nvSpPr>
          <p:cNvPr id="31" name="Outputs panel"/>
          <p:cNvSpPr/>
          <p:nvPr/>
        </p:nvSpPr>
        <p:spPr>
          <a:xfrm>
            <a:off x="548640" y="4389120"/>
            <a:ext cx="11091672" cy="1783080"/>
          </a:xfrm>
          <a:prstGeom prst="roundRect">
            <a:avLst>
              <a:gd name="adj" fmla="val 5128"/>
            </a:avLst>
          </a:prstGeom>
          <a:solidFill>
            <a:schemeClr val="accent1">
              <a:alpha val="10000"/>
            </a:schemeClr>
          </a:solidFill>
          <a:ln w="12700">
            <a:solidFill>
              <a:schemeClr val="accent1"/>
            </a:solidFill>
            <a:prstDash val="solid"/>
          </a:ln>
        </p:spPr>
      </p:sp>
      <p:sp>
        <p:nvSpPr>
          <p:cNvPr id="32" name="Text 25"/>
          <p:cNvSpPr txBox="1"/>
          <p:nvPr/>
        </p:nvSpPr>
        <p:spPr>
          <a:xfrm>
            <a:off x="822960" y="452628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Outputs shown on the dashboard</a:t>
            </a:r>
            <a:endParaRPr lang="en-US" sz="1600" dirty="0"/>
          </a:p>
        </p:txBody>
      </p:sp>
      <p:sp>
        <p:nvSpPr>
          <p:cNvPr id="33" name="Card 67"/>
          <p:cNvSpPr/>
          <p:nvPr/>
        </p:nvSpPr>
        <p:spPr>
          <a:xfrm>
            <a:off x="822960" y="4983480"/>
            <a:ext cx="3331464" cy="594360"/>
          </a:xfrm>
          <a:prstGeom prst="roundRect">
            <a:avLst>
              <a:gd name="adj" fmla="val 12308"/>
            </a:avLst>
          </a:prstGeom>
          <a:solidFill>
            <a:schemeClr val="bg1"/>
          </a:solidFill>
          <a:ln w="9525">
            <a:solidFill>
              <a:schemeClr val="accent6"/>
            </a:solidFill>
            <a:prstDash val="solid"/>
          </a:ln>
        </p:spPr>
      </p:sp>
      <p:sp>
        <p:nvSpPr>
          <p:cNvPr id="34" name="Icon badge 68"/>
          <p:cNvSpPr/>
          <p:nvPr/>
        </p:nvSpPr>
        <p:spPr>
          <a:xfrm>
            <a:off x="932688" y="5056632"/>
            <a:ext cx="457200" cy="457200"/>
          </a:xfrm>
          <a:prstGeom prst="ellipse">
            <a:avLst/>
          </a:prstGeom>
          <a:solidFill>
            <a:schemeClr val="accent3">
              <a:alpha val="22000"/>
            </a:schemeClr>
          </a:solidFill>
          <a:ln w="9525">
            <a:solidFill>
              <a:schemeClr val="accent3"/>
            </a:solidFill>
            <a:prstDash val="solid"/>
          </a:ln>
        </p:spPr>
      </p:sp>
      <p:pic>
        <p:nvPicPr>
          <p:cNvPr id="35" name="Image 4" descr="Heartbeat icon">    </p:cNvPr>
          <p:cNvPicPr>
            <a:picLocks noChangeAspect="1"/>
          </p:cNvPicPr>
          <p:nvPr/>
        </p:nvPicPr>
        <p:blipFill>
          <a:blip r:embed="rId5"/>
          <a:stretch>
            <a:fillRect/>
          </a:stretch>
        </p:blipFill>
        <p:spPr>
          <a:xfrm>
            <a:off x="1046988" y="5170932"/>
            <a:ext cx="228600" cy="228600"/>
          </a:xfrm>
          <a:prstGeom prst="rect">
            <a:avLst/>
          </a:prstGeom>
        </p:spPr>
      </p:pic>
      <p:sp>
        <p:nvSpPr>
          <p:cNvPr id="36" name="Text 28"/>
          <p:cNvSpPr txBox="1"/>
          <p:nvPr/>
        </p:nvSpPr>
        <p:spPr>
          <a:xfrm>
            <a:off x="1508760" y="4983480"/>
            <a:ext cx="2554224" cy="594360"/>
          </a:xfrm>
          <a:prstGeom prst="rect">
            <a:avLst/>
          </a:prstGeom>
          <a:noFill/>
          <a:ln/>
        </p:spPr>
        <p:txBody>
          <a:bodyPr wrap="square" lIns="0" tIns="0" rIns="0" bIns="0" rtlCol="0" anchor="ctr"/>
          <a:lstStyle/>
          <a:p>
            <a:pPr indent="0" marL="0">
              <a:buNone/>
            </a:pPr>
            <a:r>
              <a:rPr lang="en-US" sz="1400" b="1" dirty="0">
                <a:solidFill>
                  <a:schemeClr val="tx1"/>
                </a:solidFill>
              </a:rPr>
              <a:t>Severity score and category</a:t>
            </a:r>
            <a:endParaRPr lang="en-US" sz="1400" dirty="0"/>
          </a:p>
        </p:txBody>
      </p:sp>
      <p:sp>
        <p:nvSpPr>
          <p:cNvPr id="37" name="Card 69"/>
          <p:cNvSpPr/>
          <p:nvPr/>
        </p:nvSpPr>
        <p:spPr>
          <a:xfrm>
            <a:off x="4428744" y="4983480"/>
            <a:ext cx="3331464" cy="594360"/>
          </a:xfrm>
          <a:prstGeom prst="roundRect">
            <a:avLst>
              <a:gd name="adj" fmla="val 12308"/>
            </a:avLst>
          </a:prstGeom>
          <a:solidFill>
            <a:schemeClr val="bg1"/>
          </a:solidFill>
          <a:ln w="9525">
            <a:solidFill>
              <a:schemeClr val="accent6"/>
            </a:solidFill>
            <a:prstDash val="solid"/>
          </a:ln>
        </p:spPr>
      </p:sp>
      <p:sp>
        <p:nvSpPr>
          <p:cNvPr id="38" name="Icon badge 70"/>
          <p:cNvSpPr/>
          <p:nvPr/>
        </p:nvSpPr>
        <p:spPr>
          <a:xfrm>
            <a:off x="4538472" y="5056632"/>
            <a:ext cx="457200" cy="457200"/>
          </a:xfrm>
          <a:prstGeom prst="ellipse">
            <a:avLst/>
          </a:prstGeom>
          <a:solidFill>
            <a:schemeClr val="accent2">
              <a:alpha val="22000"/>
            </a:schemeClr>
          </a:solidFill>
          <a:ln w="9525">
            <a:solidFill>
              <a:schemeClr val="accent2"/>
            </a:solidFill>
            <a:prstDash val="solid"/>
          </a:ln>
        </p:spPr>
      </p:sp>
      <p:pic>
        <p:nvPicPr>
          <p:cNvPr id="39" name="Image 5" descr="Ambulance icon">    </p:cNvPr>
          <p:cNvPicPr>
            <a:picLocks noChangeAspect="1"/>
          </p:cNvPicPr>
          <p:nvPr/>
        </p:nvPicPr>
        <p:blipFill>
          <a:blip r:embed="rId6"/>
          <a:stretch>
            <a:fillRect/>
          </a:stretch>
        </p:blipFill>
        <p:spPr>
          <a:xfrm>
            <a:off x="4652772" y="5170932"/>
            <a:ext cx="228600" cy="228600"/>
          </a:xfrm>
          <a:prstGeom prst="rect">
            <a:avLst/>
          </a:prstGeom>
        </p:spPr>
      </p:pic>
      <p:sp>
        <p:nvSpPr>
          <p:cNvPr id="40" name="Text 31"/>
          <p:cNvSpPr txBox="1"/>
          <p:nvPr/>
        </p:nvSpPr>
        <p:spPr>
          <a:xfrm>
            <a:off x="5114544" y="4983480"/>
            <a:ext cx="2554224" cy="594360"/>
          </a:xfrm>
          <a:prstGeom prst="rect">
            <a:avLst/>
          </a:prstGeom>
          <a:noFill/>
          <a:ln/>
        </p:spPr>
        <p:txBody>
          <a:bodyPr wrap="square" lIns="0" tIns="0" rIns="0" bIns="0" rtlCol="0" anchor="ctr"/>
          <a:lstStyle/>
          <a:p>
            <a:pPr indent="0" marL="0">
              <a:buNone/>
            </a:pPr>
            <a:r>
              <a:rPr lang="en-US" sz="1400" b="1" dirty="0">
                <a:solidFill>
                  <a:schemeClr val="tx1"/>
                </a:solidFill>
              </a:rPr>
              <a:t>Recommended ambulance</a:t>
            </a:r>
            <a:endParaRPr lang="en-US" sz="1400" dirty="0"/>
          </a:p>
        </p:txBody>
      </p:sp>
      <p:sp>
        <p:nvSpPr>
          <p:cNvPr id="41" name="Card 71"/>
          <p:cNvSpPr/>
          <p:nvPr/>
        </p:nvSpPr>
        <p:spPr>
          <a:xfrm>
            <a:off x="8034528" y="4983480"/>
            <a:ext cx="3331464" cy="594360"/>
          </a:xfrm>
          <a:prstGeom prst="roundRect">
            <a:avLst>
              <a:gd name="adj" fmla="val 12308"/>
            </a:avLst>
          </a:prstGeom>
          <a:solidFill>
            <a:schemeClr val="bg1"/>
          </a:solidFill>
          <a:ln w="9525">
            <a:solidFill>
              <a:schemeClr val="accent6"/>
            </a:solidFill>
            <a:prstDash val="solid"/>
          </a:ln>
        </p:spPr>
      </p:sp>
      <p:sp>
        <p:nvSpPr>
          <p:cNvPr id="42" name="Icon badge 72"/>
          <p:cNvSpPr/>
          <p:nvPr/>
        </p:nvSpPr>
        <p:spPr>
          <a:xfrm>
            <a:off x="8144256" y="5056632"/>
            <a:ext cx="457200" cy="457200"/>
          </a:xfrm>
          <a:prstGeom prst="ellipse">
            <a:avLst/>
          </a:prstGeom>
          <a:solidFill>
            <a:schemeClr val="accent1">
              <a:alpha val="22000"/>
            </a:schemeClr>
          </a:solidFill>
          <a:ln w="9525">
            <a:solidFill>
              <a:schemeClr val="accent1"/>
            </a:solidFill>
            <a:prstDash val="solid"/>
          </a:ln>
        </p:spPr>
      </p:sp>
      <p:pic>
        <p:nvPicPr>
          <p:cNvPr id="43" name="Image 6" descr="Hospital icon">    </p:cNvPr>
          <p:cNvPicPr>
            <a:picLocks noChangeAspect="1"/>
          </p:cNvPicPr>
          <p:nvPr/>
        </p:nvPicPr>
        <p:blipFill>
          <a:blip r:embed="rId7"/>
          <a:stretch>
            <a:fillRect/>
          </a:stretch>
        </p:blipFill>
        <p:spPr>
          <a:xfrm>
            <a:off x="8258556" y="5170932"/>
            <a:ext cx="228600" cy="228600"/>
          </a:xfrm>
          <a:prstGeom prst="rect">
            <a:avLst/>
          </a:prstGeom>
        </p:spPr>
      </p:pic>
      <p:sp>
        <p:nvSpPr>
          <p:cNvPr id="44" name="Text 34"/>
          <p:cNvSpPr txBox="1"/>
          <p:nvPr/>
        </p:nvSpPr>
        <p:spPr>
          <a:xfrm>
            <a:off x="8720328" y="4983480"/>
            <a:ext cx="2554224" cy="594360"/>
          </a:xfrm>
          <a:prstGeom prst="rect">
            <a:avLst/>
          </a:prstGeom>
          <a:noFill/>
          <a:ln/>
        </p:spPr>
        <p:txBody>
          <a:bodyPr wrap="square" lIns="0" tIns="0" rIns="0" bIns="0" rtlCol="0" anchor="ctr"/>
          <a:lstStyle/>
          <a:p>
            <a:pPr indent="0" marL="0">
              <a:buNone/>
            </a:pPr>
            <a:r>
              <a:rPr lang="en-US" sz="1400" b="1" dirty="0">
                <a:solidFill>
                  <a:schemeClr val="tx1"/>
                </a:solidFill>
              </a:rPr>
              <a:t>Ranked hospitals</a:t>
            </a:r>
            <a:endParaRPr lang="en-US" sz="1400" dirty="0"/>
          </a:p>
        </p:txBody>
      </p:sp>
      <p:sp>
        <p:nvSpPr>
          <p:cNvPr id="45" name="Text 35"/>
          <p:cNvSpPr txBox="1"/>
          <p:nvPr/>
        </p:nvSpPr>
        <p:spPr>
          <a:xfrm>
            <a:off x="822960" y="5715000"/>
            <a:ext cx="10515600" cy="320040"/>
          </a:xfrm>
          <a:prstGeom prst="rect">
            <a:avLst/>
          </a:prstGeom>
          <a:noFill/>
          <a:ln/>
        </p:spPr>
        <p:txBody>
          <a:bodyPr wrap="square" lIns="0" tIns="0" rIns="0" bIns="0" rtlCol="0" anchor="t"/>
          <a:lstStyle/>
          <a:p>
            <a:pPr indent="0" marL="0">
              <a:buNone/>
            </a:pPr>
            <a:r>
              <a:rPr lang="en-US" sz="1400" i="1" dirty="0">
                <a:solidFill>
                  <a:schemeClr val="tx2"/>
                </a:solidFill>
              </a:rPr>
              <a:t>Recommendations support the operator's decision; they do not replace it.</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4" name="Box 73"/>
          <p:cNvSpPr/>
          <p:nvPr/>
        </p:nvSpPr>
        <p:spPr>
          <a:xfrm>
            <a:off x="2560320" y="1280160"/>
            <a:ext cx="2926080" cy="457200"/>
          </a:xfrm>
          <a:prstGeom prst="roundRect">
            <a:avLst>
              <a:gd name="adj" fmla="val 16000"/>
            </a:avLst>
          </a:prstGeom>
          <a:solidFill>
            <a:schemeClr val="accent6"/>
          </a:solidFill>
          <a:ln w="12700">
            <a:solidFill>
              <a:schemeClr val="accent2"/>
            </a:solidFill>
            <a:prstDash val="solid"/>
          </a:ln>
        </p:spPr>
      </p:sp>
      <p:sp>
        <p:nvSpPr>
          <p:cNvPr id="5" name="Text 2"/>
          <p:cNvSpPr txBox="1"/>
          <p:nvPr/>
        </p:nvSpPr>
        <p:spPr>
          <a:xfrm>
            <a:off x="2651760" y="1280160"/>
            <a:ext cx="2743200" cy="457200"/>
          </a:xfrm>
          <a:prstGeom prst="rect">
            <a:avLst/>
          </a:prstGeom>
          <a:noFill/>
          <a:ln/>
        </p:spPr>
        <p:txBody>
          <a:bodyPr wrap="square" lIns="0" tIns="0" rIns="0" bIns="0" rtlCol="0" anchor="ctr"/>
          <a:lstStyle/>
          <a:p>
            <a:pPr algn="ctr" indent="0" marL="0">
              <a:buNone/>
            </a:pPr>
            <a:r>
              <a:rPr lang="en-US" sz="1500" b="1" dirty="0">
                <a:solidFill>
                  <a:schemeClr val="tx1"/>
                </a:solidFill>
              </a:rPr>
              <a:t>User / Operator</a:t>
            </a:r>
            <a:endParaRPr lang="en-US" sz="1500" dirty="0"/>
          </a:p>
        </p:txBody>
      </p:sp>
      <p:sp>
        <p:nvSpPr>
          <p:cNvPr id="6" name="Box 74"/>
          <p:cNvSpPr/>
          <p:nvPr/>
        </p:nvSpPr>
        <p:spPr>
          <a:xfrm>
            <a:off x="1097280" y="1938528"/>
            <a:ext cx="5852160" cy="457200"/>
          </a:xfrm>
          <a:prstGeom prst="roundRect">
            <a:avLst>
              <a:gd name="adj" fmla="val 16000"/>
            </a:avLst>
          </a:prstGeom>
          <a:solidFill>
            <a:schemeClr val="accent1">
              <a:alpha val="35000"/>
            </a:schemeClr>
          </a:solidFill>
          <a:ln w="15875">
            <a:solidFill>
              <a:schemeClr val="accent1"/>
            </a:solidFill>
            <a:prstDash val="solid"/>
          </a:ln>
        </p:spPr>
      </p:sp>
      <p:sp>
        <p:nvSpPr>
          <p:cNvPr id="7" name="Text 4"/>
          <p:cNvSpPr txBox="1"/>
          <p:nvPr/>
        </p:nvSpPr>
        <p:spPr>
          <a:xfrm>
            <a:off x="1188720" y="1938528"/>
            <a:ext cx="5669280" cy="457200"/>
          </a:xfrm>
          <a:prstGeom prst="rect">
            <a:avLst/>
          </a:prstGeom>
          <a:noFill/>
          <a:ln/>
        </p:spPr>
        <p:txBody>
          <a:bodyPr wrap="square" lIns="0" tIns="0" rIns="0" bIns="0" rtlCol="0" anchor="ctr"/>
          <a:lstStyle/>
          <a:p>
            <a:pPr algn="ctr" indent="0" marL="0">
              <a:buNone/>
            </a:pPr>
            <a:r>
              <a:rPr lang="en-US" sz="1500" b="1" dirty="0">
                <a:solidFill>
                  <a:schemeClr val="tx1"/>
                </a:solidFill>
              </a:rPr>
              <a:t>React + Vite Frontend</a:t>
            </a:r>
            <a:endParaRPr lang="en-US" sz="1500" dirty="0"/>
          </a:p>
        </p:txBody>
      </p:sp>
      <p:sp>
        <p:nvSpPr>
          <p:cNvPr id="8" name="Box 75"/>
          <p:cNvSpPr/>
          <p:nvPr/>
        </p:nvSpPr>
        <p:spPr>
          <a:xfrm>
            <a:off x="1097280" y="2596896"/>
            <a:ext cx="5852160" cy="457200"/>
          </a:xfrm>
          <a:prstGeom prst="roundRect">
            <a:avLst>
              <a:gd name="adj" fmla="val 16000"/>
            </a:avLst>
          </a:prstGeom>
          <a:solidFill>
            <a:schemeClr val="accent1">
              <a:alpha val="35000"/>
            </a:schemeClr>
          </a:solidFill>
          <a:ln w="15875">
            <a:solidFill>
              <a:schemeClr val="accent1"/>
            </a:solidFill>
            <a:prstDash val="solid"/>
          </a:ln>
        </p:spPr>
      </p:sp>
      <p:sp>
        <p:nvSpPr>
          <p:cNvPr id="9" name="Text 6"/>
          <p:cNvSpPr txBox="1"/>
          <p:nvPr/>
        </p:nvSpPr>
        <p:spPr>
          <a:xfrm>
            <a:off x="1188720" y="2596896"/>
            <a:ext cx="5669280" cy="457200"/>
          </a:xfrm>
          <a:prstGeom prst="rect">
            <a:avLst/>
          </a:prstGeom>
          <a:noFill/>
          <a:ln/>
        </p:spPr>
        <p:txBody>
          <a:bodyPr wrap="square" lIns="0" tIns="0" rIns="0" bIns="0" rtlCol="0" anchor="ctr"/>
          <a:lstStyle/>
          <a:p>
            <a:pPr algn="ctr" indent="0" marL="0">
              <a:buNone/>
            </a:pPr>
            <a:r>
              <a:rPr lang="en-US" sz="1500" b="1" dirty="0">
                <a:solidFill>
                  <a:schemeClr val="tx1"/>
                </a:solidFill>
              </a:rPr>
              <a:t>FastAPI Backend</a:t>
            </a:r>
            <a:endParaRPr lang="en-US" sz="1500" dirty="0"/>
          </a:p>
        </p:txBody>
      </p:sp>
      <p:sp>
        <p:nvSpPr>
          <p:cNvPr id="10" name="Box 76"/>
          <p:cNvSpPr/>
          <p:nvPr/>
        </p:nvSpPr>
        <p:spPr>
          <a:xfrm>
            <a:off x="1097280" y="3255264"/>
            <a:ext cx="5852160" cy="457200"/>
          </a:xfrm>
          <a:prstGeom prst="roundRect">
            <a:avLst>
              <a:gd name="adj" fmla="val 16000"/>
            </a:avLst>
          </a:prstGeom>
          <a:solidFill>
            <a:schemeClr val="bg2"/>
          </a:solidFill>
          <a:ln w="12700">
            <a:solidFill>
              <a:schemeClr val="accent2"/>
            </a:solidFill>
            <a:prstDash val="solid"/>
          </a:ln>
        </p:spPr>
      </p:sp>
      <p:sp>
        <p:nvSpPr>
          <p:cNvPr id="11" name="Text 8"/>
          <p:cNvSpPr txBox="1"/>
          <p:nvPr/>
        </p:nvSpPr>
        <p:spPr>
          <a:xfrm>
            <a:off x="1188720" y="3255264"/>
            <a:ext cx="5669280" cy="457200"/>
          </a:xfrm>
          <a:prstGeom prst="rect">
            <a:avLst/>
          </a:prstGeom>
          <a:noFill/>
          <a:ln/>
        </p:spPr>
        <p:txBody>
          <a:bodyPr wrap="square" lIns="0" tIns="0" rIns="0" bIns="0" rtlCol="0" anchor="ctr"/>
          <a:lstStyle/>
          <a:p>
            <a:pPr algn="ctr" indent="0" marL="0">
              <a:buNone/>
            </a:pPr>
            <a:r>
              <a:rPr lang="en-US" sz="1500" b="1" dirty="0">
                <a:solidFill>
                  <a:schemeClr val="tx1"/>
                </a:solidFill>
              </a:rPr>
              <a:t>Request Validation and Business Logic</a:t>
            </a:r>
            <a:endParaRPr lang="en-US" sz="1500" dirty="0"/>
          </a:p>
        </p:txBody>
      </p:sp>
      <p:sp>
        <p:nvSpPr>
          <p:cNvPr id="12" name="Box 77"/>
          <p:cNvSpPr/>
          <p:nvPr/>
        </p:nvSpPr>
        <p:spPr>
          <a:xfrm>
            <a:off x="1097280" y="3913632"/>
            <a:ext cx="2834640" cy="457200"/>
          </a:xfrm>
          <a:prstGeom prst="roundRect">
            <a:avLst>
              <a:gd name="adj" fmla="val 16000"/>
            </a:avLst>
          </a:prstGeom>
          <a:solidFill>
            <a:schemeClr val="accent3">
              <a:alpha val="15000"/>
            </a:schemeClr>
          </a:solidFill>
          <a:ln w="12700">
            <a:solidFill>
              <a:schemeClr val="accent3"/>
            </a:solidFill>
            <a:prstDash val="solid"/>
          </a:ln>
        </p:spPr>
      </p:sp>
      <p:sp>
        <p:nvSpPr>
          <p:cNvPr id="13" name="Text 10"/>
          <p:cNvSpPr txBox="1"/>
          <p:nvPr/>
        </p:nvSpPr>
        <p:spPr>
          <a:xfrm>
            <a:off x="1188720" y="3913632"/>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Rule-Based Severity Engine</a:t>
            </a:r>
            <a:endParaRPr lang="en-US" sz="1500" dirty="0"/>
          </a:p>
        </p:txBody>
      </p:sp>
      <p:sp>
        <p:nvSpPr>
          <p:cNvPr id="14" name="Box 78"/>
          <p:cNvSpPr/>
          <p:nvPr/>
        </p:nvSpPr>
        <p:spPr>
          <a:xfrm>
            <a:off x="4114800" y="3913632"/>
            <a:ext cx="2834640" cy="457200"/>
          </a:xfrm>
          <a:prstGeom prst="roundRect">
            <a:avLst>
              <a:gd name="adj" fmla="val 16000"/>
            </a:avLst>
          </a:prstGeom>
          <a:solidFill>
            <a:schemeClr val="accent4">
              <a:alpha val="15000"/>
            </a:schemeClr>
          </a:solidFill>
          <a:ln w="12700">
            <a:solidFill>
              <a:schemeClr val="accent4"/>
            </a:solidFill>
            <a:prstDash val="solid"/>
          </a:ln>
        </p:spPr>
      </p:sp>
      <p:sp>
        <p:nvSpPr>
          <p:cNvPr id="15" name="Text 12"/>
          <p:cNvSpPr txBox="1"/>
          <p:nvPr/>
        </p:nvSpPr>
        <p:spPr>
          <a:xfrm>
            <a:off x="4206240" y="3913632"/>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Resource Allocation Logic</a:t>
            </a:r>
            <a:endParaRPr lang="en-US" sz="1500" dirty="0"/>
          </a:p>
        </p:txBody>
      </p:sp>
      <p:sp>
        <p:nvSpPr>
          <p:cNvPr id="16" name="Box 79"/>
          <p:cNvSpPr/>
          <p:nvPr/>
        </p:nvSpPr>
        <p:spPr>
          <a:xfrm>
            <a:off x="1097280" y="4572000"/>
            <a:ext cx="5852160" cy="457200"/>
          </a:xfrm>
          <a:prstGeom prst="roundRect">
            <a:avLst>
              <a:gd name="adj" fmla="val 16000"/>
            </a:avLst>
          </a:prstGeom>
          <a:solidFill>
            <a:schemeClr val="bg2"/>
          </a:solidFill>
          <a:ln w="12700">
            <a:solidFill>
              <a:schemeClr val="accent2"/>
            </a:solidFill>
            <a:prstDash val="solid"/>
          </a:ln>
        </p:spPr>
      </p:sp>
      <p:sp>
        <p:nvSpPr>
          <p:cNvPr id="17" name="Text 14"/>
          <p:cNvSpPr txBox="1"/>
          <p:nvPr/>
        </p:nvSpPr>
        <p:spPr>
          <a:xfrm>
            <a:off x="1188720" y="4572000"/>
            <a:ext cx="5669280" cy="457200"/>
          </a:xfrm>
          <a:prstGeom prst="rect">
            <a:avLst/>
          </a:prstGeom>
          <a:noFill/>
          <a:ln/>
        </p:spPr>
        <p:txBody>
          <a:bodyPr wrap="square" lIns="0" tIns="0" rIns="0" bIns="0" rtlCol="0" anchor="ctr"/>
          <a:lstStyle/>
          <a:p>
            <a:pPr algn="ctr" indent="0" marL="0">
              <a:buNone/>
            </a:pPr>
            <a:r>
              <a:rPr lang="en-US" sz="1500" b="1" dirty="0">
                <a:solidFill>
                  <a:schemeClr val="tx1"/>
                </a:solidFill>
              </a:rPr>
              <a:t>SQLAlchemy Data Access</a:t>
            </a:r>
            <a:endParaRPr lang="en-US" sz="1500" dirty="0"/>
          </a:p>
        </p:txBody>
      </p:sp>
      <p:sp>
        <p:nvSpPr>
          <p:cNvPr id="18" name="Box 80"/>
          <p:cNvSpPr/>
          <p:nvPr/>
        </p:nvSpPr>
        <p:spPr>
          <a:xfrm>
            <a:off x="2560320" y="5230368"/>
            <a:ext cx="2926080" cy="457200"/>
          </a:xfrm>
          <a:prstGeom prst="roundRect">
            <a:avLst>
              <a:gd name="adj" fmla="val 16000"/>
            </a:avLst>
          </a:prstGeom>
          <a:solidFill>
            <a:schemeClr val="accent6"/>
          </a:solidFill>
          <a:ln w="12700">
            <a:solidFill>
              <a:schemeClr val="accent2"/>
            </a:solidFill>
            <a:prstDash val="solid"/>
          </a:ln>
        </p:spPr>
      </p:sp>
      <p:sp>
        <p:nvSpPr>
          <p:cNvPr id="19" name="Text 16"/>
          <p:cNvSpPr txBox="1"/>
          <p:nvPr/>
        </p:nvSpPr>
        <p:spPr>
          <a:xfrm>
            <a:off x="2651760" y="5230368"/>
            <a:ext cx="2743200" cy="457200"/>
          </a:xfrm>
          <a:prstGeom prst="rect">
            <a:avLst/>
          </a:prstGeom>
          <a:noFill/>
          <a:ln/>
        </p:spPr>
        <p:txBody>
          <a:bodyPr wrap="square" lIns="0" tIns="0" rIns="0" bIns="0" rtlCol="0" anchor="ctr"/>
          <a:lstStyle/>
          <a:p>
            <a:pPr algn="ctr" indent="0" marL="0">
              <a:buNone/>
            </a:pPr>
            <a:r>
              <a:rPr lang="en-US" sz="1500" b="1" dirty="0">
                <a:solidFill>
                  <a:schemeClr val="tx1"/>
                </a:solidFill>
              </a:rPr>
              <a:t>SQLite Database</a:t>
            </a:r>
            <a:endParaRPr lang="en-US" sz="1500" dirty="0"/>
          </a:p>
        </p:txBody>
      </p:sp>
      <p:sp>
        <p:nvSpPr>
          <p:cNvPr id="20" name="Arrow 81"/>
          <p:cNvSpPr/>
          <p:nvPr/>
        </p:nvSpPr>
        <p:spPr>
          <a:xfrm>
            <a:off x="4023360" y="1737360"/>
            <a:ext cx="0" cy="201168"/>
          </a:xfrm>
          <a:prstGeom prst="line">
            <a:avLst/>
          </a:prstGeom>
          <a:noFill/>
          <a:ln w="19050">
            <a:solidFill>
              <a:schemeClr val="accent2"/>
            </a:solidFill>
            <a:prstDash val="solid"/>
            <a:tailEnd type="triangle"/>
          </a:ln>
        </p:spPr>
      </p:sp>
      <p:sp>
        <p:nvSpPr>
          <p:cNvPr id="21" name="Arrow 82"/>
          <p:cNvSpPr/>
          <p:nvPr/>
        </p:nvSpPr>
        <p:spPr>
          <a:xfrm>
            <a:off x="4023360" y="2395728"/>
            <a:ext cx="0" cy="201168"/>
          </a:xfrm>
          <a:prstGeom prst="line">
            <a:avLst/>
          </a:prstGeom>
          <a:noFill/>
          <a:ln w="19050">
            <a:solidFill>
              <a:schemeClr val="accent2"/>
            </a:solidFill>
            <a:prstDash val="solid"/>
            <a:tailEnd type="triangle"/>
          </a:ln>
        </p:spPr>
      </p:sp>
      <p:sp>
        <p:nvSpPr>
          <p:cNvPr id="22" name="Text 19"/>
          <p:cNvSpPr txBox="1"/>
          <p:nvPr/>
        </p:nvSpPr>
        <p:spPr>
          <a:xfrm>
            <a:off x="4206240" y="2395728"/>
            <a:ext cx="2011680" cy="201168"/>
          </a:xfrm>
          <a:prstGeom prst="rect">
            <a:avLst/>
          </a:prstGeom>
          <a:noFill/>
          <a:ln/>
        </p:spPr>
        <p:txBody>
          <a:bodyPr wrap="square" lIns="0" tIns="0" rIns="0" bIns="0" rtlCol="0" anchor="ctr"/>
          <a:lstStyle/>
          <a:p>
            <a:pPr indent="0" marL="0">
              <a:buNone/>
            </a:pPr>
            <a:r>
              <a:rPr lang="en-US" sz="1200" i="1" dirty="0">
                <a:solidFill>
                  <a:schemeClr val="accent2"/>
                </a:solidFill>
              </a:rPr>
              <a:t>REST API requests</a:t>
            </a:r>
            <a:endParaRPr lang="en-US" sz="1200" dirty="0"/>
          </a:p>
        </p:txBody>
      </p:sp>
      <p:sp>
        <p:nvSpPr>
          <p:cNvPr id="23" name="Arrow 83"/>
          <p:cNvSpPr/>
          <p:nvPr/>
        </p:nvSpPr>
        <p:spPr>
          <a:xfrm>
            <a:off x="4023360" y="3054096"/>
            <a:ext cx="0" cy="201168"/>
          </a:xfrm>
          <a:prstGeom prst="line">
            <a:avLst/>
          </a:prstGeom>
          <a:noFill/>
          <a:ln w="19050">
            <a:solidFill>
              <a:schemeClr val="accent2"/>
            </a:solidFill>
            <a:prstDash val="solid"/>
            <a:tailEnd type="triangle"/>
          </a:ln>
        </p:spPr>
      </p:sp>
      <p:sp>
        <p:nvSpPr>
          <p:cNvPr id="24" name="Arrow 84"/>
          <p:cNvSpPr/>
          <p:nvPr/>
        </p:nvSpPr>
        <p:spPr>
          <a:xfrm>
            <a:off x="2514600" y="3712464"/>
            <a:ext cx="0" cy="201168"/>
          </a:xfrm>
          <a:prstGeom prst="line">
            <a:avLst/>
          </a:prstGeom>
          <a:noFill/>
          <a:ln w="19050">
            <a:solidFill>
              <a:schemeClr val="accent2"/>
            </a:solidFill>
            <a:prstDash val="solid"/>
            <a:tailEnd type="triangle"/>
          </a:ln>
        </p:spPr>
      </p:sp>
      <p:sp>
        <p:nvSpPr>
          <p:cNvPr id="25" name="Arrow 85"/>
          <p:cNvSpPr/>
          <p:nvPr/>
        </p:nvSpPr>
        <p:spPr>
          <a:xfrm>
            <a:off x="5532120" y="3712464"/>
            <a:ext cx="0" cy="201168"/>
          </a:xfrm>
          <a:prstGeom prst="line">
            <a:avLst/>
          </a:prstGeom>
          <a:noFill/>
          <a:ln w="19050">
            <a:solidFill>
              <a:schemeClr val="accent2"/>
            </a:solidFill>
            <a:prstDash val="solid"/>
            <a:tailEnd type="triangle"/>
          </a:ln>
        </p:spPr>
      </p:sp>
      <p:sp>
        <p:nvSpPr>
          <p:cNvPr id="26" name="Arrow 86"/>
          <p:cNvSpPr/>
          <p:nvPr/>
        </p:nvSpPr>
        <p:spPr>
          <a:xfrm>
            <a:off x="2514600" y="4370832"/>
            <a:ext cx="0" cy="201168"/>
          </a:xfrm>
          <a:prstGeom prst="line">
            <a:avLst/>
          </a:prstGeom>
          <a:noFill/>
          <a:ln w="19050">
            <a:solidFill>
              <a:schemeClr val="accent2"/>
            </a:solidFill>
            <a:prstDash val="solid"/>
            <a:tailEnd type="triangle"/>
          </a:ln>
        </p:spPr>
      </p:sp>
      <p:sp>
        <p:nvSpPr>
          <p:cNvPr id="27" name="Arrow 87"/>
          <p:cNvSpPr/>
          <p:nvPr/>
        </p:nvSpPr>
        <p:spPr>
          <a:xfrm>
            <a:off x="5532120" y="4370832"/>
            <a:ext cx="0" cy="201168"/>
          </a:xfrm>
          <a:prstGeom prst="line">
            <a:avLst/>
          </a:prstGeom>
          <a:noFill/>
          <a:ln w="19050">
            <a:solidFill>
              <a:schemeClr val="accent2"/>
            </a:solidFill>
            <a:prstDash val="solid"/>
            <a:tailEnd type="triangle"/>
          </a:ln>
        </p:spPr>
      </p:sp>
      <p:sp>
        <p:nvSpPr>
          <p:cNvPr id="28" name="Arrow 88"/>
          <p:cNvSpPr/>
          <p:nvPr/>
        </p:nvSpPr>
        <p:spPr>
          <a:xfrm>
            <a:off x="4023360" y="5029200"/>
            <a:ext cx="0" cy="201168"/>
          </a:xfrm>
          <a:prstGeom prst="line">
            <a:avLst/>
          </a:prstGeom>
          <a:noFill/>
          <a:ln w="19050">
            <a:solidFill>
              <a:schemeClr val="accent2"/>
            </a:solidFill>
            <a:prstDash val="solid"/>
            <a:tailEnd type="triangle"/>
          </a:ln>
        </p:spPr>
      </p:sp>
      <p:sp>
        <p:nvSpPr>
          <p:cNvPr id="29" name="Entities panel"/>
          <p:cNvSpPr/>
          <p:nvPr/>
        </p:nvSpPr>
        <p:spPr>
          <a:xfrm>
            <a:off x="7863840" y="1280160"/>
            <a:ext cx="3776472" cy="4754880"/>
          </a:xfrm>
          <a:prstGeom prst="roundRect">
            <a:avLst>
              <a:gd name="adj" fmla="val 2421"/>
            </a:avLst>
          </a:prstGeom>
          <a:solidFill>
            <a:schemeClr val="bg2"/>
          </a:solidFill>
          <a:ln w="9525">
            <a:solidFill>
              <a:schemeClr val="accent6"/>
            </a:solidFill>
            <a:prstDash val="solid"/>
          </a:ln>
        </p:spPr>
      </p:sp>
      <p:sp>
        <p:nvSpPr>
          <p:cNvPr id="30" name="Text 27"/>
          <p:cNvSpPr txBox="1"/>
          <p:nvPr/>
        </p:nvSpPr>
        <p:spPr>
          <a:xfrm>
            <a:off x="8138160" y="1417320"/>
            <a:ext cx="3291840" cy="365760"/>
          </a:xfrm>
          <a:prstGeom prst="rect">
            <a:avLst/>
          </a:prstGeom>
          <a:noFill/>
          <a:ln/>
        </p:spPr>
        <p:txBody>
          <a:bodyPr wrap="square" lIns="0" tIns="0" rIns="0" bIns="0" rtlCol="0" anchor="t"/>
          <a:lstStyle/>
          <a:p>
            <a:pPr indent="0" marL="0">
              <a:buNone/>
            </a:pPr>
            <a:r>
              <a:rPr lang="en-US" sz="2000" b="1" dirty="0">
                <a:solidFill>
                  <a:schemeClr val="accent2"/>
                </a:solidFill>
              </a:rPr>
              <a:t>Main data entities</a:t>
            </a:r>
            <a:endParaRPr lang="en-US" sz="2000" dirty="0"/>
          </a:p>
        </p:txBody>
      </p:sp>
      <p:sp>
        <p:nvSpPr>
          <p:cNvPr id="31" name="Card 89"/>
          <p:cNvSpPr/>
          <p:nvPr/>
        </p:nvSpPr>
        <p:spPr>
          <a:xfrm>
            <a:off x="8138160" y="1965960"/>
            <a:ext cx="3246120" cy="475488"/>
          </a:xfrm>
          <a:prstGeom prst="roundRect">
            <a:avLst>
              <a:gd name="adj" fmla="val 15385"/>
            </a:avLst>
          </a:prstGeom>
          <a:solidFill>
            <a:schemeClr val="bg1"/>
          </a:solidFill>
          <a:ln w="9525">
            <a:solidFill>
              <a:schemeClr val="accent6"/>
            </a:solidFill>
            <a:prstDash val="solid"/>
          </a:ln>
        </p:spPr>
      </p:sp>
      <p:sp>
        <p:nvSpPr>
          <p:cNvPr id="32" name="Icon badge 90"/>
          <p:cNvSpPr/>
          <p:nvPr/>
        </p:nvSpPr>
        <p:spPr>
          <a:xfrm>
            <a:off x="8229600" y="2020824"/>
            <a:ext cx="365760" cy="365760"/>
          </a:xfrm>
          <a:prstGeom prst="ellipse">
            <a:avLst/>
          </a:prstGeom>
          <a:solidFill>
            <a:schemeClr val="accent3">
              <a:alpha val="22000"/>
            </a:schemeClr>
          </a:solidFill>
          <a:ln w="9525">
            <a:solidFill>
              <a:schemeClr val="accent3"/>
            </a:solidFill>
            <a:prstDash val="solid"/>
          </a:ln>
        </p:spPr>
      </p:sp>
      <p:pic>
        <p:nvPicPr>
          <p:cNvPr id="33" name="Image 0" descr="ExclamationTriangle icon">    </p:cNvPr>
          <p:cNvPicPr>
            <a:picLocks noChangeAspect="1"/>
          </p:cNvPicPr>
          <p:nvPr/>
        </p:nvPicPr>
        <p:blipFill>
          <a:blip r:embed="rId1"/>
          <a:stretch>
            <a:fillRect/>
          </a:stretch>
        </p:blipFill>
        <p:spPr>
          <a:xfrm>
            <a:off x="8321040" y="2112264"/>
            <a:ext cx="182880" cy="182880"/>
          </a:xfrm>
          <a:prstGeom prst="rect">
            <a:avLst/>
          </a:prstGeom>
        </p:spPr>
      </p:pic>
      <p:sp>
        <p:nvSpPr>
          <p:cNvPr id="34" name="Text 30"/>
          <p:cNvSpPr txBox="1"/>
          <p:nvPr/>
        </p:nvSpPr>
        <p:spPr>
          <a:xfrm>
            <a:off x="8732520" y="1965960"/>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Emergency</a:t>
            </a:r>
            <a:endParaRPr lang="en-US" sz="1500" dirty="0"/>
          </a:p>
        </p:txBody>
      </p:sp>
      <p:sp>
        <p:nvSpPr>
          <p:cNvPr id="35" name="Card 91"/>
          <p:cNvSpPr/>
          <p:nvPr/>
        </p:nvSpPr>
        <p:spPr>
          <a:xfrm>
            <a:off x="8138160" y="2551176"/>
            <a:ext cx="3246120" cy="475488"/>
          </a:xfrm>
          <a:prstGeom prst="roundRect">
            <a:avLst>
              <a:gd name="adj" fmla="val 15385"/>
            </a:avLst>
          </a:prstGeom>
          <a:solidFill>
            <a:schemeClr val="bg1"/>
          </a:solidFill>
          <a:ln w="9525">
            <a:solidFill>
              <a:schemeClr val="accent6"/>
            </a:solidFill>
            <a:prstDash val="solid"/>
          </a:ln>
        </p:spPr>
      </p:sp>
      <p:sp>
        <p:nvSpPr>
          <p:cNvPr id="36" name="Icon badge 92"/>
          <p:cNvSpPr/>
          <p:nvPr/>
        </p:nvSpPr>
        <p:spPr>
          <a:xfrm>
            <a:off x="8229600" y="2606040"/>
            <a:ext cx="365760" cy="365760"/>
          </a:xfrm>
          <a:prstGeom prst="ellipse">
            <a:avLst/>
          </a:prstGeom>
          <a:solidFill>
            <a:schemeClr val="accent4">
              <a:alpha val="22000"/>
            </a:schemeClr>
          </a:solidFill>
          <a:ln w="9525">
            <a:solidFill>
              <a:schemeClr val="accent4"/>
            </a:solidFill>
            <a:prstDash val="solid"/>
          </a:ln>
        </p:spPr>
      </p:sp>
      <p:pic>
        <p:nvPicPr>
          <p:cNvPr id="37" name="Image 1" descr="UserInjured icon">    </p:cNvPr>
          <p:cNvPicPr>
            <a:picLocks noChangeAspect="1"/>
          </p:cNvPicPr>
          <p:nvPr/>
        </p:nvPicPr>
        <p:blipFill>
          <a:blip r:embed="rId2"/>
          <a:stretch>
            <a:fillRect/>
          </a:stretch>
        </p:blipFill>
        <p:spPr>
          <a:xfrm>
            <a:off x="8321040" y="2697480"/>
            <a:ext cx="182880" cy="182880"/>
          </a:xfrm>
          <a:prstGeom prst="rect">
            <a:avLst/>
          </a:prstGeom>
        </p:spPr>
      </p:pic>
      <p:sp>
        <p:nvSpPr>
          <p:cNvPr id="38" name="Text 33"/>
          <p:cNvSpPr txBox="1"/>
          <p:nvPr/>
        </p:nvSpPr>
        <p:spPr>
          <a:xfrm>
            <a:off x="8732520" y="2551176"/>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Patient</a:t>
            </a:r>
            <a:endParaRPr lang="en-US" sz="1500" dirty="0"/>
          </a:p>
        </p:txBody>
      </p:sp>
      <p:sp>
        <p:nvSpPr>
          <p:cNvPr id="39" name="Card 93"/>
          <p:cNvSpPr/>
          <p:nvPr/>
        </p:nvSpPr>
        <p:spPr>
          <a:xfrm>
            <a:off x="8138160" y="3136392"/>
            <a:ext cx="3246120" cy="475488"/>
          </a:xfrm>
          <a:prstGeom prst="roundRect">
            <a:avLst>
              <a:gd name="adj" fmla="val 15385"/>
            </a:avLst>
          </a:prstGeom>
          <a:solidFill>
            <a:schemeClr val="bg1"/>
          </a:solidFill>
          <a:ln w="9525">
            <a:solidFill>
              <a:schemeClr val="accent6"/>
            </a:solidFill>
            <a:prstDash val="solid"/>
          </a:ln>
        </p:spPr>
      </p:sp>
      <p:sp>
        <p:nvSpPr>
          <p:cNvPr id="40" name="Icon badge 94"/>
          <p:cNvSpPr/>
          <p:nvPr/>
        </p:nvSpPr>
        <p:spPr>
          <a:xfrm>
            <a:off x="8229600" y="3191256"/>
            <a:ext cx="365760" cy="365760"/>
          </a:xfrm>
          <a:prstGeom prst="ellipse">
            <a:avLst/>
          </a:prstGeom>
          <a:solidFill>
            <a:schemeClr val="accent2">
              <a:alpha val="22000"/>
            </a:schemeClr>
          </a:solidFill>
          <a:ln w="9525">
            <a:solidFill>
              <a:schemeClr val="accent2"/>
            </a:solidFill>
            <a:prstDash val="solid"/>
          </a:ln>
        </p:spPr>
      </p:sp>
      <p:pic>
        <p:nvPicPr>
          <p:cNvPr id="41" name="Image 2" descr="Ambulance icon">    </p:cNvPr>
          <p:cNvPicPr>
            <a:picLocks noChangeAspect="1"/>
          </p:cNvPicPr>
          <p:nvPr/>
        </p:nvPicPr>
        <p:blipFill>
          <a:blip r:embed="rId3"/>
          <a:stretch>
            <a:fillRect/>
          </a:stretch>
        </p:blipFill>
        <p:spPr>
          <a:xfrm>
            <a:off x="8321040" y="3282696"/>
            <a:ext cx="182880" cy="182880"/>
          </a:xfrm>
          <a:prstGeom prst="rect">
            <a:avLst/>
          </a:prstGeom>
        </p:spPr>
      </p:pic>
      <p:sp>
        <p:nvSpPr>
          <p:cNvPr id="42" name="Text 36"/>
          <p:cNvSpPr txBox="1"/>
          <p:nvPr/>
        </p:nvSpPr>
        <p:spPr>
          <a:xfrm>
            <a:off x="8732520" y="3136392"/>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Ambulance</a:t>
            </a:r>
            <a:endParaRPr lang="en-US" sz="1500" dirty="0"/>
          </a:p>
        </p:txBody>
      </p:sp>
      <p:sp>
        <p:nvSpPr>
          <p:cNvPr id="43" name="Card 95"/>
          <p:cNvSpPr/>
          <p:nvPr/>
        </p:nvSpPr>
        <p:spPr>
          <a:xfrm>
            <a:off x="8138160" y="3721608"/>
            <a:ext cx="3246120" cy="475488"/>
          </a:xfrm>
          <a:prstGeom prst="roundRect">
            <a:avLst>
              <a:gd name="adj" fmla="val 15385"/>
            </a:avLst>
          </a:prstGeom>
          <a:solidFill>
            <a:schemeClr val="bg1"/>
          </a:solidFill>
          <a:ln w="9525">
            <a:solidFill>
              <a:schemeClr val="accent6"/>
            </a:solidFill>
            <a:prstDash val="solid"/>
          </a:ln>
        </p:spPr>
      </p:sp>
      <p:sp>
        <p:nvSpPr>
          <p:cNvPr id="44" name="Icon badge 96"/>
          <p:cNvSpPr/>
          <p:nvPr/>
        </p:nvSpPr>
        <p:spPr>
          <a:xfrm>
            <a:off x="8229600" y="3776472"/>
            <a:ext cx="365760" cy="365760"/>
          </a:xfrm>
          <a:prstGeom prst="ellipse">
            <a:avLst/>
          </a:prstGeom>
          <a:solidFill>
            <a:schemeClr val="accent1">
              <a:alpha val="22000"/>
            </a:schemeClr>
          </a:solidFill>
          <a:ln w="9525">
            <a:solidFill>
              <a:schemeClr val="accent1"/>
            </a:solidFill>
            <a:prstDash val="solid"/>
          </a:ln>
        </p:spPr>
      </p:sp>
      <p:pic>
        <p:nvPicPr>
          <p:cNvPr id="45" name="Image 3" descr="Hospital icon">    </p:cNvPr>
          <p:cNvPicPr>
            <a:picLocks noChangeAspect="1"/>
          </p:cNvPicPr>
          <p:nvPr/>
        </p:nvPicPr>
        <p:blipFill>
          <a:blip r:embed="rId4"/>
          <a:stretch>
            <a:fillRect/>
          </a:stretch>
        </p:blipFill>
        <p:spPr>
          <a:xfrm>
            <a:off x="8321040" y="3867912"/>
            <a:ext cx="182880" cy="182880"/>
          </a:xfrm>
          <a:prstGeom prst="rect">
            <a:avLst/>
          </a:prstGeom>
        </p:spPr>
      </p:pic>
      <p:sp>
        <p:nvSpPr>
          <p:cNvPr id="46" name="Text 39"/>
          <p:cNvSpPr txBox="1"/>
          <p:nvPr/>
        </p:nvSpPr>
        <p:spPr>
          <a:xfrm>
            <a:off x="8732520" y="3721608"/>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Hospital</a:t>
            </a:r>
            <a:endParaRPr lang="en-US" sz="1500" dirty="0"/>
          </a:p>
        </p:txBody>
      </p:sp>
      <p:sp>
        <p:nvSpPr>
          <p:cNvPr id="47" name="Card 97"/>
          <p:cNvSpPr/>
          <p:nvPr/>
        </p:nvSpPr>
        <p:spPr>
          <a:xfrm>
            <a:off x="8138160" y="4306824"/>
            <a:ext cx="3246120" cy="475488"/>
          </a:xfrm>
          <a:prstGeom prst="roundRect">
            <a:avLst>
              <a:gd name="adj" fmla="val 15385"/>
            </a:avLst>
          </a:prstGeom>
          <a:solidFill>
            <a:schemeClr val="bg1"/>
          </a:solidFill>
          <a:ln w="9525">
            <a:solidFill>
              <a:schemeClr val="accent6"/>
            </a:solidFill>
            <a:prstDash val="solid"/>
          </a:ln>
        </p:spPr>
      </p:sp>
      <p:sp>
        <p:nvSpPr>
          <p:cNvPr id="48" name="Icon badge 98"/>
          <p:cNvSpPr/>
          <p:nvPr/>
        </p:nvSpPr>
        <p:spPr>
          <a:xfrm>
            <a:off x="8229600" y="4361688"/>
            <a:ext cx="365760" cy="365760"/>
          </a:xfrm>
          <a:prstGeom prst="ellipse">
            <a:avLst/>
          </a:prstGeom>
          <a:solidFill>
            <a:schemeClr val="accent4">
              <a:alpha val="22000"/>
            </a:schemeClr>
          </a:solidFill>
          <a:ln w="9525">
            <a:solidFill>
              <a:schemeClr val="accent4"/>
            </a:solidFill>
            <a:prstDash val="solid"/>
          </a:ln>
        </p:spPr>
      </p:sp>
      <p:pic>
        <p:nvPicPr>
          <p:cNvPr id="49" name="Image 4" descr="Bell icon">    </p:cNvPr>
          <p:cNvPicPr>
            <a:picLocks noChangeAspect="1"/>
          </p:cNvPicPr>
          <p:nvPr/>
        </p:nvPicPr>
        <p:blipFill>
          <a:blip r:embed="rId5"/>
          <a:stretch>
            <a:fillRect/>
          </a:stretch>
        </p:blipFill>
        <p:spPr>
          <a:xfrm>
            <a:off x="8321040" y="4453128"/>
            <a:ext cx="182880" cy="182880"/>
          </a:xfrm>
          <a:prstGeom prst="rect">
            <a:avLst/>
          </a:prstGeom>
        </p:spPr>
      </p:pic>
      <p:sp>
        <p:nvSpPr>
          <p:cNvPr id="50" name="Text 42"/>
          <p:cNvSpPr txBox="1"/>
          <p:nvPr/>
        </p:nvSpPr>
        <p:spPr>
          <a:xfrm>
            <a:off x="8732520" y="4306824"/>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Alert</a:t>
            </a:r>
            <a:endParaRPr lang="en-US" sz="1500" dirty="0"/>
          </a:p>
        </p:txBody>
      </p:sp>
      <p:sp>
        <p:nvSpPr>
          <p:cNvPr id="51" name="Card 99"/>
          <p:cNvSpPr/>
          <p:nvPr/>
        </p:nvSpPr>
        <p:spPr>
          <a:xfrm>
            <a:off x="8138160" y="4892040"/>
            <a:ext cx="3246120" cy="475488"/>
          </a:xfrm>
          <a:prstGeom prst="roundRect">
            <a:avLst>
              <a:gd name="adj" fmla="val 15385"/>
            </a:avLst>
          </a:prstGeom>
          <a:solidFill>
            <a:schemeClr val="bg1"/>
          </a:solidFill>
          <a:ln w="9525">
            <a:solidFill>
              <a:schemeClr val="accent6"/>
            </a:solidFill>
            <a:prstDash val="solid"/>
          </a:ln>
        </p:spPr>
      </p:sp>
      <p:sp>
        <p:nvSpPr>
          <p:cNvPr id="52" name="Icon badge 100"/>
          <p:cNvSpPr/>
          <p:nvPr/>
        </p:nvSpPr>
        <p:spPr>
          <a:xfrm>
            <a:off x="8229600" y="4946904"/>
            <a:ext cx="365760" cy="365760"/>
          </a:xfrm>
          <a:prstGeom prst="ellipse">
            <a:avLst/>
          </a:prstGeom>
          <a:solidFill>
            <a:schemeClr val="accent1">
              <a:alpha val="22000"/>
            </a:schemeClr>
          </a:solidFill>
          <a:ln w="9525">
            <a:solidFill>
              <a:schemeClr val="accent1"/>
            </a:solidFill>
            <a:prstDash val="solid"/>
          </a:ln>
        </p:spPr>
      </p:sp>
      <p:pic>
        <p:nvPicPr>
          <p:cNvPr id="53" name="Image 5" descr="Bed icon">    </p:cNvPr>
          <p:cNvPicPr>
            <a:picLocks noChangeAspect="1"/>
          </p:cNvPicPr>
          <p:nvPr/>
        </p:nvPicPr>
        <p:blipFill>
          <a:blip r:embed="rId6"/>
          <a:stretch>
            <a:fillRect/>
          </a:stretch>
        </p:blipFill>
        <p:spPr>
          <a:xfrm>
            <a:off x="8321040" y="5038344"/>
            <a:ext cx="182880" cy="182880"/>
          </a:xfrm>
          <a:prstGeom prst="rect">
            <a:avLst/>
          </a:prstGeom>
        </p:spPr>
      </p:pic>
      <p:sp>
        <p:nvSpPr>
          <p:cNvPr id="54" name="Text 45"/>
          <p:cNvSpPr txBox="1"/>
          <p:nvPr/>
        </p:nvSpPr>
        <p:spPr>
          <a:xfrm>
            <a:off x="8732520" y="4892040"/>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HospitalResource</a:t>
            </a:r>
            <a:endParaRPr lang="en-US" sz="1500" dirty="0"/>
          </a:p>
        </p:txBody>
      </p:sp>
      <p:sp>
        <p:nvSpPr>
          <p:cNvPr id="55" name="Card 101"/>
          <p:cNvSpPr/>
          <p:nvPr/>
        </p:nvSpPr>
        <p:spPr>
          <a:xfrm>
            <a:off x="8138160" y="5477256"/>
            <a:ext cx="3246120" cy="475488"/>
          </a:xfrm>
          <a:prstGeom prst="roundRect">
            <a:avLst>
              <a:gd name="adj" fmla="val 15385"/>
            </a:avLst>
          </a:prstGeom>
          <a:solidFill>
            <a:schemeClr val="bg1"/>
          </a:solidFill>
          <a:ln w="9525">
            <a:solidFill>
              <a:schemeClr val="accent6"/>
            </a:solidFill>
            <a:prstDash val="solid"/>
          </a:ln>
        </p:spPr>
      </p:sp>
      <p:sp>
        <p:nvSpPr>
          <p:cNvPr id="56" name="Icon badge 102"/>
          <p:cNvSpPr/>
          <p:nvPr/>
        </p:nvSpPr>
        <p:spPr>
          <a:xfrm>
            <a:off x="8229600" y="5532120"/>
            <a:ext cx="365760" cy="365760"/>
          </a:xfrm>
          <a:prstGeom prst="ellipse">
            <a:avLst/>
          </a:prstGeom>
          <a:solidFill>
            <a:schemeClr val="accent2">
              <a:alpha val="22000"/>
            </a:schemeClr>
          </a:solidFill>
          <a:ln w="9525">
            <a:solidFill>
              <a:schemeClr val="accent2"/>
            </a:solidFill>
            <a:prstDash val="solid"/>
          </a:ln>
        </p:spPr>
      </p:sp>
      <p:pic>
        <p:nvPicPr>
          <p:cNvPr id="57" name="Image 6" descr="User icon">    </p:cNvPr>
          <p:cNvPicPr>
            <a:picLocks noChangeAspect="1"/>
          </p:cNvPicPr>
          <p:nvPr/>
        </p:nvPicPr>
        <p:blipFill>
          <a:blip r:embed="rId7"/>
          <a:stretch>
            <a:fillRect/>
          </a:stretch>
        </p:blipFill>
        <p:spPr>
          <a:xfrm>
            <a:off x="8321040" y="5623560"/>
            <a:ext cx="182880" cy="182880"/>
          </a:xfrm>
          <a:prstGeom prst="rect">
            <a:avLst/>
          </a:prstGeom>
        </p:spPr>
      </p:pic>
      <p:sp>
        <p:nvSpPr>
          <p:cNvPr id="58" name="Text 48"/>
          <p:cNvSpPr txBox="1"/>
          <p:nvPr/>
        </p:nvSpPr>
        <p:spPr>
          <a:xfrm>
            <a:off x="8732520" y="5477256"/>
            <a:ext cx="2560320" cy="475488"/>
          </a:xfrm>
          <a:prstGeom prst="rect">
            <a:avLst/>
          </a:prstGeom>
          <a:noFill/>
          <a:ln/>
        </p:spPr>
        <p:txBody>
          <a:bodyPr wrap="square" lIns="0" tIns="0" rIns="0" bIns="0" rtlCol="0" anchor="ctr"/>
          <a:lstStyle/>
          <a:p>
            <a:pPr indent="0" marL="0">
              <a:buNone/>
            </a:pPr>
            <a:r>
              <a:rPr lang="en-US" sz="1500" b="1" dirty="0">
                <a:solidFill>
                  <a:schemeClr val="tx1"/>
                </a:solidFill>
              </a:rPr>
              <a:t>User</a:t>
            </a:r>
            <a:endParaRPr lang="en-US" sz="15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SYSTEM WORKFLOW</a:t>
            </a:r>
            <a:endParaRPr lang="en-US" sz="3200" dirty="0"/>
          </a:p>
        </p:txBody>
      </p:sp>
      <p:sp>
        <p:nvSpPr>
          <p:cNvPr id="4" name="Workflow step 1"/>
          <p:cNvSpPr/>
          <p:nvPr/>
        </p:nvSpPr>
        <p:spPr>
          <a:xfrm>
            <a:off x="548640" y="1280160"/>
            <a:ext cx="2432304" cy="1920240"/>
          </a:xfrm>
          <a:prstGeom prst="roundRect">
            <a:avLst>
              <a:gd name="adj" fmla="val 4762"/>
            </a:avLst>
          </a:prstGeom>
          <a:solidFill>
            <a:schemeClr val="bg2"/>
          </a:solidFill>
          <a:ln w="9525">
            <a:solidFill>
              <a:schemeClr val="accent6"/>
            </a:solidFill>
            <a:prstDash val="solid"/>
          </a:ln>
        </p:spPr>
      </p:sp>
      <p:sp>
        <p:nvSpPr>
          <p:cNvPr id="5" name="Step 1"/>
          <p:cNvSpPr/>
          <p:nvPr/>
        </p:nvSpPr>
        <p:spPr>
          <a:xfrm>
            <a:off x="731520" y="146304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731520" y="14630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Icon badge 103"/>
          <p:cNvSpPr/>
          <p:nvPr/>
        </p:nvSpPr>
        <p:spPr>
          <a:xfrm>
            <a:off x="2295144" y="1444752"/>
            <a:ext cx="502920" cy="502920"/>
          </a:xfrm>
          <a:prstGeom prst="ellipse">
            <a:avLst/>
          </a:prstGeom>
          <a:solidFill>
            <a:schemeClr val="accent1">
              <a:alpha val="22000"/>
            </a:schemeClr>
          </a:solidFill>
          <a:ln w="9525">
            <a:solidFill>
              <a:schemeClr val="accent1"/>
            </a:solidFill>
            <a:prstDash val="solid"/>
          </a:ln>
        </p:spPr>
      </p:sp>
      <p:pic>
        <p:nvPicPr>
          <p:cNvPr id="8" name="Image 0" descr="ClipboardList icon">    </p:cNvPr>
          <p:cNvPicPr>
            <a:picLocks noChangeAspect="1"/>
          </p:cNvPicPr>
          <p:nvPr/>
        </p:nvPicPr>
        <p:blipFill>
          <a:blip r:embed="rId1"/>
          <a:stretch>
            <a:fillRect/>
          </a:stretch>
        </p:blipFill>
        <p:spPr>
          <a:xfrm>
            <a:off x="2420874" y="1570482"/>
            <a:ext cx="251460" cy="251460"/>
          </a:xfrm>
          <a:prstGeom prst="rect">
            <a:avLst/>
          </a:prstGeom>
        </p:spPr>
      </p:pic>
      <p:sp>
        <p:nvSpPr>
          <p:cNvPr id="9" name="Text 5"/>
          <p:cNvSpPr txBox="1"/>
          <p:nvPr/>
        </p:nvSpPr>
        <p:spPr>
          <a:xfrm>
            <a:off x="731520" y="2057400"/>
            <a:ext cx="2066544" cy="365760"/>
          </a:xfrm>
          <a:prstGeom prst="rect">
            <a:avLst/>
          </a:prstGeom>
          <a:noFill/>
          <a:ln/>
        </p:spPr>
        <p:txBody>
          <a:bodyPr wrap="square" lIns="0" tIns="0" rIns="0" bIns="0" rtlCol="0" anchor="t"/>
          <a:lstStyle/>
          <a:p>
            <a:pPr indent="0" marL="0">
              <a:buNone/>
            </a:pPr>
            <a:r>
              <a:rPr lang="en-US" sz="1600" b="1" dirty="0">
                <a:solidFill>
                  <a:schemeClr val="tx1"/>
                </a:solidFill>
              </a:rPr>
              <a:t>Enter information</a:t>
            </a:r>
            <a:endParaRPr lang="en-US" sz="1600" dirty="0"/>
          </a:p>
        </p:txBody>
      </p:sp>
      <p:sp>
        <p:nvSpPr>
          <p:cNvPr id="10" name="Text 6"/>
          <p:cNvSpPr txBox="1"/>
          <p:nvPr/>
        </p:nvSpPr>
        <p:spPr>
          <a:xfrm>
            <a:off x="731520" y="2450592"/>
            <a:ext cx="2066544" cy="685800"/>
          </a:xfrm>
          <a:prstGeom prst="rect">
            <a:avLst/>
          </a:prstGeom>
          <a:noFill/>
          <a:ln/>
        </p:spPr>
        <p:txBody>
          <a:bodyPr wrap="square" lIns="0" tIns="0" rIns="0" bIns="0" rtlCol="0" anchor="t"/>
          <a:lstStyle/>
          <a:p>
            <a:pPr indent="0" marL="0">
              <a:buNone/>
            </a:pPr>
            <a:r>
              <a:rPr lang="en-US" sz="1400" dirty="0">
                <a:solidFill>
                  <a:schemeClr val="tx2"/>
                </a:solidFill>
              </a:rPr>
              <a:t>Operator submits the case, location and patient details.</a:t>
            </a:r>
            <a:endParaRPr lang="en-US" sz="1400" dirty="0"/>
          </a:p>
        </p:txBody>
      </p:sp>
      <p:sp>
        <p:nvSpPr>
          <p:cNvPr id="11" name="Workflow step 2"/>
          <p:cNvSpPr/>
          <p:nvPr/>
        </p:nvSpPr>
        <p:spPr>
          <a:xfrm>
            <a:off x="3435401" y="1280160"/>
            <a:ext cx="2432304" cy="1920240"/>
          </a:xfrm>
          <a:prstGeom prst="roundRect">
            <a:avLst>
              <a:gd name="adj" fmla="val 4762"/>
            </a:avLst>
          </a:prstGeom>
          <a:solidFill>
            <a:schemeClr val="bg2"/>
          </a:solidFill>
          <a:ln w="9525">
            <a:solidFill>
              <a:schemeClr val="accent6"/>
            </a:solidFill>
            <a:prstDash val="solid"/>
          </a:ln>
        </p:spPr>
      </p:sp>
      <p:sp>
        <p:nvSpPr>
          <p:cNvPr id="12" name="Step 2"/>
          <p:cNvSpPr/>
          <p:nvPr/>
        </p:nvSpPr>
        <p:spPr>
          <a:xfrm>
            <a:off x="3618281" y="1463040"/>
            <a:ext cx="411480" cy="411480"/>
          </a:xfrm>
          <a:prstGeom prst="ellipse">
            <a:avLst/>
          </a:prstGeom>
          <a:solidFill>
            <a:schemeClr val="accent2"/>
          </a:solidFill>
          <a:ln w="6350">
            <a:solidFill>
              <a:schemeClr val="accent2"/>
            </a:solidFill>
            <a:prstDash val="solid"/>
          </a:ln>
        </p:spPr>
      </p:sp>
      <p:sp>
        <p:nvSpPr>
          <p:cNvPr id="13" name="Text 9"/>
          <p:cNvSpPr txBox="1"/>
          <p:nvPr/>
        </p:nvSpPr>
        <p:spPr>
          <a:xfrm>
            <a:off x="3618281" y="14630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Icon badge 104"/>
          <p:cNvSpPr/>
          <p:nvPr/>
        </p:nvSpPr>
        <p:spPr>
          <a:xfrm>
            <a:off x="5181905" y="1444752"/>
            <a:ext cx="502920" cy="502920"/>
          </a:xfrm>
          <a:prstGeom prst="ellipse">
            <a:avLst/>
          </a:prstGeom>
          <a:solidFill>
            <a:schemeClr val="accent2">
              <a:alpha val="22000"/>
            </a:schemeClr>
          </a:solidFill>
          <a:ln w="9525">
            <a:solidFill>
              <a:schemeClr val="accent2"/>
            </a:solidFill>
            <a:prstDash val="solid"/>
          </a:ln>
        </p:spPr>
      </p:sp>
      <p:pic>
        <p:nvPicPr>
          <p:cNvPr id="15" name="Image 1" descr="ShieldAlt icon">    </p:cNvPr>
          <p:cNvPicPr>
            <a:picLocks noChangeAspect="1"/>
          </p:cNvPicPr>
          <p:nvPr/>
        </p:nvPicPr>
        <p:blipFill>
          <a:blip r:embed="rId2"/>
          <a:stretch>
            <a:fillRect/>
          </a:stretch>
        </p:blipFill>
        <p:spPr>
          <a:xfrm>
            <a:off x="5307635" y="1570482"/>
            <a:ext cx="251460" cy="251460"/>
          </a:xfrm>
          <a:prstGeom prst="rect">
            <a:avLst/>
          </a:prstGeom>
        </p:spPr>
      </p:pic>
      <p:sp>
        <p:nvSpPr>
          <p:cNvPr id="16" name="Text 11"/>
          <p:cNvSpPr txBox="1"/>
          <p:nvPr/>
        </p:nvSpPr>
        <p:spPr>
          <a:xfrm>
            <a:off x="3618281" y="2057400"/>
            <a:ext cx="2066544" cy="365760"/>
          </a:xfrm>
          <a:prstGeom prst="rect">
            <a:avLst/>
          </a:prstGeom>
          <a:noFill/>
          <a:ln/>
        </p:spPr>
        <p:txBody>
          <a:bodyPr wrap="square" lIns="0" tIns="0" rIns="0" bIns="0" rtlCol="0" anchor="t"/>
          <a:lstStyle/>
          <a:p>
            <a:pPr indent="0" marL="0">
              <a:buNone/>
            </a:pPr>
            <a:r>
              <a:rPr lang="en-US" sz="1600" b="1" dirty="0">
                <a:solidFill>
                  <a:schemeClr val="tx1"/>
                </a:solidFill>
              </a:rPr>
              <a:t>Validate request</a:t>
            </a:r>
            <a:endParaRPr lang="en-US" sz="1600" dirty="0"/>
          </a:p>
        </p:txBody>
      </p:sp>
      <p:sp>
        <p:nvSpPr>
          <p:cNvPr id="17" name="Text 12"/>
          <p:cNvSpPr txBox="1"/>
          <p:nvPr/>
        </p:nvSpPr>
        <p:spPr>
          <a:xfrm>
            <a:off x="3618281" y="2450592"/>
            <a:ext cx="2066544" cy="685800"/>
          </a:xfrm>
          <a:prstGeom prst="rect">
            <a:avLst/>
          </a:prstGeom>
          <a:noFill/>
          <a:ln/>
        </p:spPr>
        <p:txBody>
          <a:bodyPr wrap="square" lIns="0" tIns="0" rIns="0" bIns="0" rtlCol="0" anchor="t"/>
          <a:lstStyle/>
          <a:p>
            <a:pPr indent="0" marL="0">
              <a:buNone/>
            </a:pPr>
            <a:r>
              <a:rPr lang="en-US" sz="1400" dirty="0">
                <a:solidFill>
                  <a:schemeClr val="tx2"/>
                </a:solidFill>
              </a:rPr>
              <a:t>Pydantic checks required fields and data types.</a:t>
            </a:r>
            <a:endParaRPr lang="en-US" sz="1400" dirty="0"/>
          </a:p>
        </p:txBody>
      </p:sp>
      <p:sp>
        <p:nvSpPr>
          <p:cNvPr id="18" name="Workflow step 3"/>
          <p:cNvSpPr/>
          <p:nvPr/>
        </p:nvSpPr>
        <p:spPr>
          <a:xfrm>
            <a:off x="6322162" y="1280160"/>
            <a:ext cx="2432304" cy="1920240"/>
          </a:xfrm>
          <a:prstGeom prst="roundRect">
            <a:avLst>
              <a:gd name="adj" fmla="val 4762"/>
            </a:avLst>
          </a:prstGeom>
          <a:solidFill>
            <a:schemeClr val="bg2"/>
          </a:solidFill>
          <a:ln w="9525">
            <a:solidFill>
              <a:schemeClr val="accent6"/>
            </a:solidFill>
            <a:prstDash val="solid"/>
          </a:ln>
        </p:spPr>
      </p:sp>
      <p:sp>
        <p:nvSpPr>
          <p:cNvPr id="19" name="Step 3"/>
          <p:cNvSpPr/>
          <p:nvPr/>
        </p:nvSpPr>
        <p:spPr>
          <a:xfrm>
            <a:off x="6505042" y="1463040"/>
            <a:ext cx="411480" cy="411480"/>
          </a:xfrm>
          <a:prstGeom prst="ellipse">
            <a:avLst/>
          </a:prstGeom>
          <a:solidFill>
            <a:schemeClr val="accent4"/>
          </a:solidFill>
          <a:ln w="6350">
            <a:solidFill>
              <a:schemeClr val="accent4"/>
            </a:solidFill>
            <a:prstDash val="solid"/>
          </a:ln>
        </p:spPr>
      </p:sp>
      <p:sp>
        <p:nvSpPr>
          <p:cNvPr id="20" name="Text 15"/>
          <p:cNvSpPr txBox="1"/>
          <p:nvPr/>
        </p:nvSpPr>
        <p:spPr>
          <a:xfrm>
            <a:off x="6505042" y="14630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Icon badge 105"/>
          <p:cNvSpPr/>
          <p:nvPr/>
        </p:nvSpPr>
        <p:spPr>
          <a:xfrm>
            <a:off x="8068666" y="1444752"/>
            <a:ext cx="502920" cy="502920"/>
          </a:xfrm>
          <a:prstGeom prst="ellipse">
            <a:avLst/>
          </a:prstGeom>
          <a:solidFill>
            <a:schemeClr val="accent4">
              <a:alpha val="22000"/>
            </a:schemeClr>
          </a:solidFill>
          <a:ln w="9525">
            <a:solidFill>
              <a:schemeClr val="accent4"/>
            </a:solidFill>
            <a:prstDash val="solid"/>
          </a:ln>
        </p:spPr>
      </p:sp>
      <p:pic>
        <p:nvPicPr>
          <p:cNvPr id="22" name="Image 2" descr="Stethoscope icon">    </p:cNvPr>
          <p:cNvPicPr>
            <a:picLocks noChangeAspect="1"/>
          </p:cNvPicPr>
          <p:nvPr/>
        </p:nvPicPr>
        <p:blipFill>
          <a:blip r:embed="rId3"/>
          <a:stretch>
            <a:fillRect/>
          </a:stretch>
        </p:blipFill>
        <p:spPr>
          <a:xfrm>
            <a:off x="8194396" y="1570482"/>
            <a:ext cx="251460" cy="251460"/>
          </a:xfrm>
          <a:prstGeom prst="rect">
            <a:avLst/>
          </a:prstGeom>
        </p:spPr>
      </p:pic>
      <p:sp>
        <p:nvSpPr>
          <p:cNvPr id="23" name="Text 17"/>
          <p:cNvSpPr txBox="1"/>
          <p:nvPr/>
        </p:nvSpPr>
        <p:spPr>
          <a:xfrm>
            <a:off x="6505042" y="2057400"/>
            <a:ext cx="2066544" cy="365760"/>
          </a:xfrm>
          <a:prstGeom prst="rect">
            <a:avLst/>
          </a:prstGeom>
          <a:noFill/>
          <a:ln/>
        </p:spPr>
        <p:txBody>
          <a:bodyPr wrap="square" lIns="0" tIns="0" rIns="0" bIns="0" rtlCol="0" anchor="t"/>
          <a:lstStyle/>
          <a:p>
            <a:pPr indent="0" marL="0">
              <a:buNone/>
            </a:pPr>
            <a:r>
              <a:rPr lang="en-US" sz="1600" b="1" dirty="0">
                <a:solidFill>
                  <a:schemeClr val="tx1"/>
                </a:solidFill>
              </a:rPr>
              <a:t>Assess risk factors</a:t>
            </a:r>
            <a:endParaRPr lang="en-US" sz="1600" dirty="0"/>
          </a:p>
        </p:txBody>
      </p:sp>
      <p:sp>
        <p:nvSpPr>
          <p:cNvPr id="24" name="Text 18"/>
          <p:cNvSpPr txBox="1"/>
          <p:nvPr/>
        </p:nvSpPr>
        <p:spPr>
          <a:xfrm>
            <a:off x="6505042" y="2450592"/>
            <a:ext cx="2066544" cy="685800"/>
          </a:xfrm>
          <a:prstGeom prst="rect">
            <a:avLst/>
          </a:prstGeom>
          <a:noFill/>
          <a:ln/>
        </p:spPr>
        <p:txBody>
          <a:bodyPr wrap="square" lIns="0" tIns="0" rIns="0" bIns="0" rtlCol="0" anchor="t"/>
          <a:lstStyle/>
          <a:p>
            <a:pPr indent="0" marL="0">
              <a:buNone/>
            </a:pPr>
            <a:r>
              <a:rPr lang="en-US" sz="1400" dirty="0">
                <a:solidFill>
                  <a:schemeClr val="tx2"/>
                </a:solidFill>
              </a:rPr>
              <a:t>Review patient observations and contextual risk factors.</a:t>
            </a:r>
            <a:endParaRPr lang="en-US" sz="1400" dirty="0"/>
          </a:p>
        </p:txBody>
      </p:sp>
      <p:sp>
        <p:nvSpPr>
          <p:cNvPr id="25" name="Workflow step 4"/>
          <p:cNvSpPr/>
          <p:nvPr/>
        </p:nvSpPr>
        <p:spPr>
          <a:xfrm>
            <a:off x="9208922" y="1280160"/>
            <a:ext cx="2432304" cy="1920240"/>
          </a:xfrm>
          <a:prstGeom prst="roundRect">
            <a:avLst>
              <a:gd name="adj" fmla="val 4762"/>
            </a:avLst>
          </a:prstGeom>
          <a:solidFill>
            <a:schemeClr val="bg2"/>
          </a:solidFill>
          <a:ln w="9525">
            <a:solidFill>
              <a:schemeClr val="accent6"/>
            </a:solidFill>
            <a:prstDash val="solid"/>
          </a:ln>
        </p:spPr>
      </p:sp>
      <p:sp>
        <p:nvSpPr>
          <p:cNvPr id="26" name="Step 4"/>
          <p:cNvSpPr/>
          <p:nvPr/>
        </p:nvSpPr>
        <p:spPr>
          <a:xfrm>
            <a:off x="9391802" y="1463040"/>
            <a:ext cx="411480" cy="411480"/>
          </a:xfrm>
          <a:prstGeom prst="ellipse">
            <a:avLst/>
          </a:prstGeom>
          <a:solidFill>
            <a:schemeClr val="accent3"/>
          </a:solidFill>
          <a:ln w="6350">
            <a:solidFill>
              <a:schemeClr val="accent3"/>
            </a:solidFill>
            <a:prstDash val="solid"/>
          </a:ln>
        </p:spPr>
      </p:sp>
      <p:sp>
        <p:nvSpPr>
          <p:cNvPr id="27" name="Text 21"/>
          <p:cNvSpPr txBox="1"/>
          <p:nvPr/>
        </p:nvSpPr>
        <p:spPr>
          <a:xfrm>
            <a:off x="9391802" y="14630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Icon badge 106"/>
          <p:cNvSpPr/>
          <p:nvPr/>
        </p:nvSpPr>
        <p:spPr>
          <a:xfrm>
            <a:off x="10955426" y="1444752"/>
            <a:ext cx="502920" cy="502920"/>
          </a:xfrm>
          <a:prstGeom prst="ellipse">
            <a:avLst/>
          </a:prstGeom>
          <a:solidFill>
            <a:schemeClr val="accent3">
              <a:alpha val="22000"/>
            </a:schemeClr>
          </a:solidFill>
          <a:ln w="9525">
            <a:solidFill>
              <a:schemeClr val="accent3"/>
            </a:solidFill>
            <a:prstDash val="solid"/>
          </a:ln>
        </p:spPr>
      </p:sp>
      <p:pic>
        <p:nvPicPr>
          <p:cNvPr id="29" name="Image 3" descr="Heartbeat icon">    </p:cNvPr>
          <p:cNvPicPr>
            <a:picLocks noChangeAspect="1"/>
          </p:cNvPicPr>
          <p:nvPr/>
        </p:nvPicPr>
        <p:blipFill>
          <a:blip r:embed="rId4"/>
          <a:stretch>
            <a:fillRect/>
          </a:stretch>
        </p:blipFill>
        <p:spPr>
          <a:xfrm>
            <a:off x="11081156" y="1570482"/>
            <a:ext cx="251460" cy="251460"/>
          </a:xfrm>
          <a:prstGeom prst="rect">
            <a:avLst/>
          </a:prstGeom>
        </p:spPr>
      </p:pic>
      <p:sp>
        <p:nvSpPr>
          <p:cNvPr id="30" name="Text 23"/>
          <p:cNvSpPr txBox="1"/>
          <p:nvPr/>
        </p:nvSpPr>
        <p:spPr>
          <a:xfrm>
            <a:off x="9391802" y="2057400"/>
            <a:ext cx="2066544" cy="365760"/>
          </a:xfrm>
          <a:prstGeom prst="rect">
            <a:avLst/>
          </a:prstGeom>
          <a:noFill/>
          <a:ln/>
        </p:spPr>
        <p:txBody>
          <a:bodyPr wrap="square" lIns="0" tIns="0" rIns="0" bIns="0" rtlCol="0" anchor="t"/>
          <a:lstStyle/>
          <a:p>
            <a:pPr indent="0" marL="0">
              <a:buNone/>
            </a:pPr>
            <a:r>
              <a:rPr lang="en-US" sz="1600" b="1" dirty="0">
                <a:solidFill>
                  <a:schemeClr val="tx1"/>
                </a:solidFill>
              </a:rPr>
              <a:t>Calculate score</a:t>
            </a:r>
            <a:endParaRPr lang="en-US" sz="1600" dirty="0"/>
          </a:p>
        </p:txBody>
      </p:sp>
      <p:sp>
        <p:nvSpPr>
          <p:cNvPr id="31" name="Text 24"/>
          <p:cNvSpPr txBox="1"/>
          <p:nvPr/>
        </p:nvSpPr>
        <p:spPr>
          <a:xfrm>
            <a:off x="9391802" y="2450592"/>
            <a:ext cx="2066544" cy="685800"/>
          </a:xfrm>
          <a:prstGeom prst="rect">
            <a:avLst/>
          </a:prstGeom>
          <a:noFill/>
          <a:ln/>
        </p:spPr>
        <p:txBody>
          <a:bodyPr wrap="square" lIns="0" tIns="0" rIns="0" bIns="0" rtlCol="0" anchor="t"/>
          <a:lstStyle/>
          <a:p>
            <a:pPr indent="0" marL="0">
              <a:buNone/>
            </a:pPr>
            <a:r>
              <a:rPr lang="en-US" sz="1400" dirty="0">
                <a:solidFill>
                  <a:schemeClr val="tx2"/>
                </a:solidFill>
              </a:rPr>
              <a:t>Cumulative prototype severity score, capped at 100.</a:t>
            </a:r>
            <a:endParaRPr lang="en-US" sz="1400" dirty="0"/>
          </a:p>
        </p:txBody>
      </p:sp>
      <p:sp>
        <p:nvSpPr>
          <p:cNvPr id="32" name="Workflow step 5"/>
          <p:cNvSpPr/>
          <p:nvPr/>
        </p:nvSpPr>
        <p:spPr>
          <a:xfrm>
            <a:off x="9208922" y="3474720"/>
            <a:ext cx="2432304" cy="1920240"/>
          </a:xfrm>
          <a:prstGeom prst="roundRect">
            <a:avLst>
              <a:gd name="adj" fmla="val 4762"/>
            </a:avLst>
          </a:prstGeom>
          <a:solidFill>
            <a:schemeClr val="bg2"/>
          </a:solidFill>
          <a:ln w="9525">
            <a:solidFill>
              <a:schemeClr val="accent6"/>
            </a:solidFill>
            <a:prstDash val="solid"/>
          </a:ln>
        </p:spPr>
      </p:sp>
      <p:sp>
        <p:nvSpPr>
          <p:cNvPr id="33" name="Step 5"/>
          <p:cNvSpPr/>
          <p:nvPr/>
        </p:nvSpPr>
        <p:spPr>
          <a:xfrm>
            <a:off x="9391802" y="3657600"/>
            <a:ext cx="411480" cy="411480"/>
          </a:xfrm>
          <a:prstGeom prst="ellipse">
            <a:avLst/>
          </a:prstGeom>
          <a:solidFill>
            <a:schemeClr val="accent5"/>
          </a:solidFill>
          <a:ln w="6350">
            <a:solidFill>
              <a:schemeClr val="accent5"/>
            </a:solidFill>
            <a:prstDash val="solid"/>
          </a:ln>
        </p:spPr>
      </p:sp>
      <p:sp>
        <p:nvSpPr>
          <p:cNvPr id="34" name="Text 27"/>
          <p:cNvSpPr txBox="1"/>
          <p:nvPr/>
        </p:nvSpPr>
        <p:spPr>
          <a:xfrm>
            <a:off x="9391802" y="36576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5" name="Icon badge 107"/>
          <p:cNvSpPr/>
          <p:nvPr/>
        </p:nvSpPr>
        <p:spPr>
          <a:xfrm>
            <a:off x="10955426" y="3639312"/>
            <a:ext cx="502920" cy="502920"/>
          </a:xfrm>
          <a:prstGeom prst="ellipse">
            <a:avLst/>
          </a:prstGeom>
          <a:solidFill>
            <a:schemeClr val="accent5">
              <a:alpha val="22000"/>
            </a:schemeClr>
          </a:solidFill>
          <a:ln w="9525">
            <a:solidFill>
              <a:schemeClr val="accent5"/>
            </a:solidFill>
            <a:prstDash val="solid"/>
          </a:ln>
        </p:spPr>
      </p:sp>
      <p:pic>
        <p:nvPicPr>
          <p:cNvPr id="36" name="Image 4" descr="Bullseye icon">    </p:cNvPr>
          <p:cNvPicPr>
            <a:picLocks noChangeAspect="1"/>
          </p:cNvPicPr>
          <p:nvPr/>
        </p:nvPicPr>
        <p:blipFill>
          <a:blip r:embed="rId5"/>
          <a:stretch>
            <a:fillRect/>
          </a:stretch>
        </p:blipFill>
        <p:spPr>
          <a:xfrm>
            <a:off x="11081156" y="3765042"/>
            <a:ext cx="251460" cy="251460"/>
          </a:xfrm>
          <a:prstGeom prst="rect">
            <a:avLst/>
          </a:prstGeom>
        </p:spPr>
      </p:pic>
      <p:sp>
        <p:nvSpPr>
          <p:cNvPr id="37" name="Text 29"/>
          <p:cNvSpPr txBox="1"/>
          <p:nvPr/>
        </p:nvSpPr>
        <p:spPr>
          <a:xfrm>
            <a:off x="9391802" y="4251960"/>
            <a:ext cx="2066544" cy="365760"/>
          </a:xfrm>
          <a:prstGeom prst="rect">
            <a:avLst/>
          </a:prstGeom>
          <a:noFill/>
          <a:ln/>
        </p:spPr>
        <p:txBody>
          <a:bodyPr wrap="square" lIns="0" tIns="0" rIns="0" bIns="0" rtlCol="0" anchor="t"/>
          <a:lstStyle/>
          <a:p>
            <a:pPr indent="0" marL="0">
              <a:buNone/>
            </a:pPr>
            <a:r>
              <a:rPr lang="en-US" sz="1600" b="1" dirty="0">
                <a:solidFill>
                  <a:schemeClr val="tx1"/>
                </a:solidFill>
              </a:rPr>
              <a:t>Assign category</a:t>
            </a:r>
            <a:endParaRPr lang="en-US" sz="1600" dirty="0"/>
          </a:p>
        </p:txBody>
      </p:sp>
      <p:sp>
        <p:nvSpPr>
          <p:cNvPr id="38" name="Text 30"/>
          <p:cNvSpPr txBox="1"/>
          <p:nvPr/>
        </p:nvSpPr>
        <p:spPr>
          <a:xfrm>
            <a:off x="9391802" y="4645152"/>
            <a:ext cx="2066544" cy="685800"/>
          </a:xfrm>
          <a:prstGeom prst="rect">
            <a:avLst/>
          </a:prstGeom>
          <a:noFill/>
          <a:ln/>
        </p:spPr>
        <p:txBody>
          <a:bodyPr wrap="square" lIns="0" tIns="0" rIns="0" bIns="0" rtlCol="0" anchor="t"/>
          <a:lstStyle/>
          <a:p>
            <a:pPr indent="0" marL="0">
              <a:buNone/>
            </a:pPr>
            <a:r>
              <a:rPr lang="en-US" sz="1400" dirty="0">
                <a:solidFill>
                  <a:schemeClr val="tx2"/>
                </a:solidFill>
              </a:rPr>
              <a:t>LOW, MEDIUM, HIGH or CRITICAL.</a:t>
            </a:r>
            <a:endParaRPr lang="en-US" sz="1400" dirty="0"/>
          </a:p>
        </p:txBody>
      </p:sp>
      <p:sp>
        <p:nvSpPr>
          <p:cNvPr id="39" name="Workflow step 6"/>
          <p:cNvSpPr/>
          <p:nvPr/>
        </p:nvSpPr>
        <p:spPr>
          <a:xfrm>
            <a:off x="6322162" y="3474720"/>
            <a:ext cx="2432304" cy="1920240"/>
          </a:xfrm>
          <a:prstGeom prst="roundRect">
            <a:avLst>
              <a:gd name="adj" fmla="val 4762"/>
            </a:avLst>
          </a:prstGeom>
          <a:solidFill>
            <a:schemeClr val="bg2"/>
          </a:solidFill>
          <a:ln w="9525">
            <a:solidFill>
              <a:schemeClr val="accent6"/>
            </a:solidFill>
            <a:prstDash val="solid"/>
          </a:ln>
        </p:spPr>
      </p:sp>
      <p:sp>
        <p:nvSpPr>
          <p:cNvPr id="40" name="Step 6"/>
          <p:cNvSpPr/>
          <p:nvPr/>
        </p:nvSpPr>
        <p:spPr>
          <a:xfrm>
            <a:off x="6505042" y="3657600"/>
            <a:ext cx="411480" cy="411480"/>
          </a:xfrm>
          <a:prstGeom prst="ellipse">
            <a:avLst/>
          </a:prstGeom>
          <a:solidFill>
            <a:schemeClr val="accent2"/>
          </a:solidFill>
          <a:ln w="6350">
            <a:solidFill>
              <a:schemeClr val="accent2"/>
            </a:solidFill>
            <a:prstDash val="solid"/>
          </a:ln>
        </p:spPr>
      </p:sp>
      <p:sp>
        <p:nvSpPr>
          <p:cNvPr id="41" name="Text 33"/>
          <p:cNvSpPr txBox="1"/>
          <p:nvPr/>
        </p:nvSpPr>
        <p:spPr>
          <a:xfrm>
            <a:off x="6505042" y="36576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2" name="Icon badge 108"/>
          <p:cNvSpPr/>
          <p:nvPr/>
        </p:nvSpPr>
        <p:spPr>
          <a:xfrm>
            <a:off x="8068666" y="3639312"/>
            <a:ext cx="502920" cy="502920"/>
          </a:xfrm>
          <a:prstGeom prst="ellipse">
            <a:avLst/>
          </a:prstGeom>
          <a:solidFill>
            <a:schemeClr val="accent2">
              <a:alpha val="22000"/>
            </a:schemeClr>
          </a:solidFill>
          <a:ln w="9525">
            <a:solidFill>
              <a:schemeClr val="accent2"/>
            </a:solidFill>
            <a:prstDash val="solid"/>
          </a:ln>
        </p:spPr>
      </p:sp>
      <p:pic>
        <p:nvPicPr>
          <p:cNvPr id="43" name="Image 5" descr="Ambulance icon">    </p:cNvPr>
          <p:cNvPicPr>
            <a:picLocks noChangeAspect="1"/>
          </p:cNvPicPr>
          <p:nvPr/>
        </p:nvPicPr>
        <p:blipFill>
          <a:blip r:embed="rId6"/>
          <a:stretch>
            <a:fillRect/>
          </a:stretch>
        </p:blipFill>
        <p:spPr>
          <a:xfrm>
            <a:off x="8194396" y="3765042"/>
            <a:ext cx="251460" cy="251460"/>
          </a:xfrm>
          <a:prstGeom prst="rect">
            <a:avLst/>
          </a:prstGeom>
        </p:spPr>
      </p:pic>
      <p:sp>
        <p:nvSpPr>
          <p:cNvPr id="44" name="Text 35"/>
          <p:cNvSpPr txBox="1"/>
          <p:nvPr/>
        </p:nvSpPr>
        <p:spPr>
          <a:xfrm>
            <a:off x="6505042" y="4251960"/>
            <a:ext cx="2066544" cy="365760"/>
          </a:xfrm>
          <a:prstGeom prst="rect">
            <a:avLst/>
          </a:prstGeom>
          <a:noFill/>
          <a:ln/>
        </p:spPr>
        <p:txBody>
          <a:bodyPr wrap="square" lIns="0" tIns="0" rIns="0" bIns="0" rtlCol="0" anchor="t"/>
          <a:lstStyle/>
          <a:p>
            <a:pPr indent="0" marL="0">
              <a:buNone/>
            </a:pPr>
            <a:r>
              <a:rPr lang="en-US" sz="1600" b="1" dirty="0">
                <a:solidFill>
                  <a:schemeClr val="tx1"/>
                </a:solidFill>
              </a:rPr>
              <a:t>Check ambulances</a:t>
            </a:r>
            <a:endParaRPr lang="en-US" sz="1600" dirty="0"/>
          </a:p>
        </p:txBody>
      </p:sp>
      <p:sp>
        <p:nvSpPr>
          <p:cNvPr id="45" name="Text 36"/>
          <p:cNvSpPr txBox="1"/>
          <p:nvPr/>
        </p:nvSpPr>
        <p:spPr>
          <a:xfrm>
            <a:off x="6505042" y="4645152"/>
            <a:ext cx="2066544" cy="685800"/>
          </a:xfrm>
          <a:prstGeom prst="rect">
            <a:avLst/>
          </a:prstGeom>
          <a:noFill/>
          <a:ln/>
        </p:spPr>
        <p:txBody>
          <a:bodyPr wrap="square" lIns="0" tIns="0" rIns="0" bIns="0" rtlCol="0" anchor="t"/>
          <a:lstStyle/>
          <a:p>
            <a:pPr indent="0" marL="0">
              <a:buNone/>
            </a:pPr>
            <a:r>
              <a:rPr lang="en-US" sz="1400" dirty="0">
                <a:solidFill>
                  <a:schemeClr val="tx2"/>
                </a:solidFill>
              </a:rPr>
              <a:t>Evaluate availability and relevant travel estimates.</a:t>
            </a:r>
            <a:endParaRPr lang="en-US" sz="1400" dirty="0"/>
          </a:p>
        </p:txBody>
      </p:sp>
      <p:sp>
        <p:nvSpPr>
          <p:cNvPr id="46" name="Workflow step 7"/>
          <p:cNvSpPr/>
          <p:nvPr/>
        </p:nvSpPr>
        <p:spPr>
          <a:xfrm>
            <a:off x="3435401" y="3474720"/>
            <a:ext cx="2432304" cy="1920240"/>
          </a:xfrm>
          <a:prstGeom prst="roundRect">
            <a:avLst>
              <a:gd name="adj" fmla="val 4762"/>
            </a:avLst>
          </a:prstGeom>
          <a:solidFill>
            <a:schemeClr val="bg2"/>
          </a:solidFill>
          <a:ln w="9525">
            <a:solidFill>
              <a:schemeClr val="accent6"/>
            </a:solidFill>
            <a:prstDash val="solid"/>
          </a:ln>
        </p:spPr>
      </p:sp>
      <p:sp>
        <p:nvSpPr>
          <p:cNvPr id="47" name="Step 7"/>
          <p:cNvSpPr/>
          <p:nvPr/>
        </p:nvSpPr>
        <p:spPr>
          <a:xfrm>
            <a:off x="3618281" y="3657600"/>
            <a:ext cx="411480" cy="411480"/>
          </a:xfrm>
          <a:prstGeom prst="ellipse">
            <a:avLst/>
          </a:prstGeom>
          <a:solidFill>
            <a:schemeClr val="accent1"/>
          </a:solidFill>
          <a:ln w="6350">
            <a:solidFill>
              <a:schemeClr val="accent1"/>
            </a:solidFill>
            <a:prstDash val="solid"/>
          </a:ln>
        </p:spPr>
      </p:sp>
      <p:sp>
        <p:nvSpPr>
          <p:cNvPr id="48" name="Text 39"/>
          <p:cNvSpPr txBox="1"/>
          <p:nvPr/>
        </p:nvSpPr>
        <p:spPr>
          <a:xfrm>
            <a:off x="3618281" y="36576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Icon badge 109"/>
          <p:cNvSpPr/>
          <p:nvPr/>
        </p:nvSpPr>
        <p:spPr>
          <a:xfrm>
            <a:off x="5181905" y="3639312"/>
            <a:ext cx="502920" cy="502920"/>
          </a:xfrm>
          <a:prstGeom prst="ellipse">
            <a:avLst/>
          </a:prstGeom>
          <a:solidFill>
            <a:schemeClr val="accent1">
              <a:alpha val="22000"/>
            </a:schemeClr>
          </a:solidFill>
          <a:ln w="9525">
            <a:solidFill>
              <a:schemeClr val="accent1"/>
            </a:solidFill>
            <a:prstDash val="solid"/>
          </a:ln>
        </p:spPr>
      </p:sp>
      <p:pic>
        <p:nvPicPr>
          <p:cNvPr id="50" name="Image 6" descr="Hospital icon">    </p:cNvPr>
          <p:cNvPicPr>
            <a:picLocks noChangeAspect="1"/>
          </p:cNvPicPr>
          <p:nvPr/>
        </p:nvPicPr>
        <p:blipFill>
          <a:blip r:embed="rId7"/>
          <a:stretch>
            <a:fillRect/>
          </a:stretch>
        </p:blipFill>
        <p:spPr>
          <a:xfrm>
            <a:off x="5307635" y="3765042"/>
            <a:ext cx="251460" cy="251460"/>
          </a:xfrm>
          <a:prstGeom prst="rect">
            <a:avLst/>
          </a:prstGeom>
        </p:spPr>
      </p:pic>
      <p:sp>
        <p:nvSpPr>
          <p:cNvPr id="51" name="Text 41"/>
          <p:cNvSpPr txBox="1"/>
          <p:nvPr/>
        </p:nvSpPr>
        <p:spPr>
          <a:xfrm>
            <a:off x="3618281" y="4251960"/>
            <a:ext cx="2066544" cy="365760"/>
          </a:xfrm>
          <a:prstGeom prst="rect">
            <a:avLst/>
          </a:prstGeom>
          <a:noFill/>
          <a:ln/>
        </p:spPr>
        <p:txBody>
          <a:bodyPr wrap="square" lIns="0" tIns="0" rIns="0" bIns="0" rtlCol="0" anchor="t"/>
          <a:lstStyle/>
          <a:p>
            <a:pPr indent="0" marL="0">
              <a:buNone/>
            </a:pPr>
            <a:r>
              <a:rPr lang="en-US" sz="1600" b="1" dirty="0">
                <a:solidFill>
                  <a:schemeClr val="tx1"/>
                </a:solidFill>
              </a:rPr>
              <a:t>Rank hospitals</a:t>
            </a:r>
            <a:endParaRPr lang="en-US" sz="1600" dirty="0"/>
          </a:p>
        </p:txBody>
      </p:sp>
      <p:sp>
        <p:nvSpPr>
          <p:cNvPr id="52" name="Text 42"/>
          <p:cNvSpPr txBox="1"/>
          <p:nvPr/>
        </p:nvSpPr>
        <p:spPr>
          <a:xfrm>
            <a:off x="3618281" y="4645152"/>
            <a:ext cx="2066544" cy="685800"/>
          </a:xfrm>
          <a:prstGeom prst="rect">
            <a:avLst/>
          </a:prstGeom>
          <a:noFill/>
          <a:ln/>
        </p:spPr>
        <p:txBody>
          <a:bodyPr wrap="square" lIns="0" tIns="0" rIns="0" bIns="0" rtlCol="0" anchor="t"/>
          <a:lstStyle/>
          <a:p>
            <a:pPr indent="0" marL="0">
              <a:buNone/>
            </a:pPr>
            <a:r>
              <a:rPr lang="en-US" sz="1400" dirty="0">
                <a:solidFill>
                  <a:schemeClr val="tx2"/>
                </a:solidFill>
              </a:rPr>
              <a:t>Use capacity, occupancy, specialists and other resources.</a:t>
            </a:r>
            <a:endParaRPr lang="en-US" sz="1400" dirty="0"/>
          </a:p>
        </p:txBody>
      </p:sp>
      <p:sp>
        <p:nvSpPr>
          <p:cNvPr id="53" name="Workflow step 8"/>
          <p:cNvSpPr/>
          <p:nvPr/>
        </p:nvSpPr>
        <p:spPr>
          <a:xfrm>
            <a:off x="548640" y="3474720"/>
            <a:ext cx="2432304" cy="1920240"/>
          </a:xfrm>
          <a:prstGeom prst="roundRect">
            <a:avLst>
              <a:gd name="adj" fmla="val 4762"/>
            </a:avLst>
          </a:prstGeom>
          <a:solidFill>
            <a:schemeClr val="bg2"/>
          </a:solidFill>
          <a:ln w="9525">
            <a:solidFill>
              <a:schemeClr val="accent6"/>
            </a:solidFill>
            <a:prstDash val="solid"/>
          </a:ln>
        </p:spPr>
      </p:sp>
      <p:sp>
        <p:nvSpPr>
          <p:cNvPr id="54" name="Step 8"/>
          <p:cNvSpPr/>
          <p:nvPr/>
        </p:nvSpPr>
        <p:spPr>
          <a:xfrm>
            <a:off x="731520" y="3657600"/>
            <a:ext cx="411480" cy="411480"/>
          </a:xfrm>
          <a:prstGeom prst="ellipse">
            <a:avLst/>
          </a:prstGeom>
          <a:solidFill>
            <a:schemeClr val="accent1"/>
          </a:solidFill>
          <a:ln w="6350">
            <a:solidFill>
              <a:schemeClr val="accent1"/>
            </a:solidFill>
            <a:prstDash val="solid"/>
          </a:ln>
        </p:spPr>
      </p:sp>
      <p:sp>
        <p:nvSpPr>
          <p:cNvPr id="55" name="Text 45"/>
          <p:cNvSpPr txBox="1"/>
          <p:nvPr/>
        </p:nvSpPr>
        <p:spPr>
          <a:xfrm>
            <a:off x="731520" y="36576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6" name="Icon badge 110"/>
          <p:cNvSpPr/>
          <p:nvPr/>
        </p:nvSpPr>
        <p:spPr>
          <a:xfrm>
            <a:off x="2295144" y="3639312"/>
            <a:ext cx="502920" cy="502920"/>
          </a:xfrm>
          <a:prstGeom prst="ellipse">
            <a:avLst/>
          </a:prstGeom>
          <a:solidFill>
            <a:schemeClr val="accent1">
              <a:alpha val="22000"/>
            </a:schemeClr>
          </a:solidFill>
          <a:ln w="9525">
            <a:solidFill>
              <a:schemeClr val="accent1"/>
            </a:solidFill>
            <a:prstDash val="solid"/>
          </a:ln>
        </p:spPr>
      </p:sp>
      <p:pic>
        <p:nvPicPr>
          <p:cNvPr id="57" name="Image 7" descr="TachometerAlt icon">    </p:cNvPr>
          <p:cNvPicPr>
            <a:picLocks noChangeAspect="1"/>
          </p:cNvPicPr>
          <p:nvPr/>
        </p:nvPicPr>
        <p:blipFill>
          <a:blip r:embed="rId8"/>
          <a:stretch>
            <a:fillRect/>
          </a:stretch>
        </p:blipFill>
        <p:spPr>
          <a:xfrm>
            <a:off x="2420874" y="3765042"/>
            <a:ext cx="251460" cy="251460"/>
          </a:xfrm>
          <a:prstGeom prst="rect">
            <a:avLst/>
          </a:prstGeom>
        </p:spPr>
      </p:pic>
      <p:sp>
        <p:nvSpPr>
          <p:cNvPr id="58" name="Text 47"/>
          <p:cNvSpPr txBox="1"/>
          <p:nvPr/>
        </p:nvSpPr>
        <p:spPr>
          <a:xfrm>
            <a:off x="731520" y="4251960"/>
            <a:ext cx="2066544" cy="365760"/>
          </a:xfrm>
          <a:prstGeom prst="rect">
            <a:avLst/>
          </a:prstGeom>
          <a:noFill/>
          <a:ln/>
        </p:spPr>
        <p:txBody>
          <a:bodyPr wrap="square" lIns="0" tIns="0" rIns="0" bIns="0" rtlCol="0" anchor="t"/>
          <a:lstStyle/>
          <a:p>
            <a:pPr indent="0" marL="0">
              <a:buNone/>
            </a:pPr>
            <a:r>
              <a:rPr lang="en-US" sz="1600" b="1" dirty="0">
                <a:solidFill>
                  <a:schemeClr val="tx1"/>
                </a:solidFill>
              </a:rPr>
              <a:t>Display and store</a:t>
            </a:r>
            <a:endParaRPr lang="en-US" sz="1600" dirty="0"/>
          </a:p>
        </p:txBody>
      </p:sp>
      <p:sp>
        <p:nvSpPr>
          <p:cNvPr id="59" name="Text 48"/>
          <p:cNvSpPr txBox="1"/>
          <p:nvPr/>
        </p:nvSpPr>
        <p:spPr>
          <a:xfrm>
            <a:off x="731520" y="4645152"/>
            <a:ext cx="2066544" cy="685800"/>
          </a:xfrm>
          <a:prstGeom prst="rect">
            <a:avLst/>
          </a:prstGeom>
          <a:noFill/>
          <a:ln/>
        </p:spPr>
        <p:txBody>
          <a:bodyPr wrap="square" lIns="0" tIns="0" rIns="0" bIns="0" rtlCol="0" anchor="t"/>
          <a:lstStyle/>
          <a:p>
            <a:pPr indent="0" marL="0">
              <a:buNone/>
            </a:pPr>
            <a:r>
              <a:rPr lang="en-US" sz="1400" dirty="0">
                <a:solidFill>
                  <a:schemeClr val="tx2"/>
                </a:solidFill>
              </a:rPr>
              <a:t>Show recommendations; store or retrieve records.</a:t>
            </a:r>
            <a:endParaRPr lang="en-US" sz="1400" dirty="0"/>
          </a:p>
        </p:txBody>
      </p:sp>
      <p:sp>
        <p:nvSpPr>
          <p:cNvPr id="60" name="Arrow 111"/>
          <p:cNvSpPr/>
          <p:nvPr/>
        </p:nvSpPr>
        <p:spPr>
          <a:xfrm>
            <a:off x="3017520" y="2240280"/>
            <a:ext cx="381305" cy="0"/>
          </a:xfrm>
          <a:prstGeom prst="line">
            <a:avLst/>
          </a:prstGeom>
          <a:noFill/>
          <a:ln w="19050">
            <a:solidFill>
              <a:schemeClr val="accent2"/>
            </a:solidFill>
            <a:prstDash val="solid"/>
            <a:tailEnd type="triangle"/>
          </a:ln>
        </p:spPr>
      </p:sp>
      <p:sp>
        <p:nvSpPr>
          <p:cNvPr id="61" name="Arrow 112"/>
          <p:cNvSpPr/>
          <p:nvPr/>
        </p:nvSpPr>
        <p:spPr>
          <a:xfrm>
            <a:off x="5904281" y="2240280"/>
            <a:ext cx="381305" cy="0"/>
          </a:xfrm>
          <a:prstGeom prst="line">
            <a:avLst/>
          </a:prstGeom>
          <a:noFill/>
          <a:ln w="19050">
            <a:solidFill>
              <a:schemeClr val="accent2"/>
            </a:solidFill>
            <a:prstDash val="solid"/>
            <a:tailEnd type="triangle"/>
          </a:ln>
        </p:spPr>
      </p:sp>
      <p:sp>
        <p:nvSpPr>
          <p:cNvPr id="62" name="Arrow 113"/>
          <p:cNvSpPr/>
          <p:nvPr/>
        </p:nvSpPr>
        <p:spPr>
          <a:xfrm>
            <a:off x="8791042" y="2240280"/>
            <a:ext cx="381305" cy="0"/>
          </a:xfrm>
          <a:prstGeom prst="line">
            <a:avLst/>
          </a:prstGeom>
          <a:noFill/>
          <a:ln w="19050">
            <a:solidFill>
              <a:schemeClr val="accent2"/>
            </a:solidFill>
            <a:prstDash val="solid"/>
            <a:tailEnd type="triangle"/>
          </a:ln>
        </p:spPr>
      </p:sp>
      <p:sp>
        <p:nvSpPr>
          <p:cNvPr id="63" name="Arrow 114"/>
          <p:cNvSpPr/>
          <p:nvPr/>
        </p:nvSpPr>
        <p:spPr>
          <a:xfrm>
            <a:off x="10425074" y="3200400"/>
            <a:ext cx="0" cy="274320"/>
          </a:xfrm>
          <a:prstGeom prst="line">
            <a:avLst/>
          </a:prstGeom>
          <a:noFill/>
          <a:ln w="19050">
            <a:solidFill>
              <a:schemeClr val="accent2"/>
            </a:solidFill>
            <a:prstDash val="solid"/>
            <a:tailEnd type="triangle"/>
          </a:ln>
        </p:spPr>
      </p:sp>
      <p:sp>
        <p:nvSpPr>
          <p:cNvPr id="64" name="Arrow 115"/>
          <p:cNvSpPr/>
          <p:nvPr/>
        </p:nvSpPr>
        <p:spPr>
          <a:xfrm flipH="1">
            <a:off x="3017520" y="4434840"/>
            <a:ext cx="381305" cy="0"/>
          </a:xfrm>
          <a:prstGeom prst="line">
            <a:avLst/>
          </a:prstGeom>
          <a:noFill/>
          <a:ln w="19050">
            <a:solidFill>
              <a:schemeClr val="accent2"/>
            </a:solidFill>
            <a:prstDash val="solid"/>
            <a:tailEnd type="triangle"/>
          </a:ln>
        </p:spPr>
      </p:sp>
      <p:sp>
        <p:nvSpPr>
          <p:cNvPr id="65" name="Arrow 116"/>
          <p:cNvSpPr/>
          <p:nvPr/>
        </p:nvSpPr>
        <p:spPr>
          <a:xfrm flipH="1">
            <a:off x="5904281" y="4434840"/>
            <a:ext cx="381305" cy="0"/>
          </a:xfrm>
          <a:prstGeom prst="line">
            <a:avLst/>
          </a:prstGeom>
          <a:noFill/>
          <a:ln w="19050">
            <a:solidFill>
              <a:schemeClr val="accent2"/>
            </a:solidFill>
            <a:prstDash val="solid"/>
            <a:tailEnd type="triangle"/>
          </a:ln>
        </p:spPr>
      </p:sp>
      <p:sp>
        <p:nvSpPr>
          <p:cNvPr id="66" name="Arrow 117"/>
          <p:cNvSpPr/>
          <p:nvPr/>
        </p:nvSpPr>
        <p:spPr>
          <a:xfrm flipH="1">
            <a:off x="8791042" y="4434840"/>
            <a:ext cx="381305" cy="0"/>
          </a:xfrm>
          <a:prstGeom prst="line">
            <a:avLst/>
          </a:prstGeom>
          <a:noFill/>
          <a:ln w="19050">
            <a:solidFill>
              <a:schemeClr val="accent2"/>
            </a:solidFill>
            <a:prstDash val="solid"/>
            <a:tailEnd type="triangle"/>
          </a:ln>
        </p:spPr>
      </p:sp>
      <p:sp>
        <p:nvSpPr>
          <p:cNvPr id="67" name="Severity categories band"/>
          <p:cNvSpPr/>
          <p:nvPr/>
        </p:nvSpPr>
        <p:spPr>
          <a:xfrm>
            <a:off x="548640" y="5577840"/>
            <a:ext cx="11091672" cy="640080"/>
          </a:xfrm>
          <a:prstGeom prst="roundRect">
            <a:avLst>
              <a:gd name="adj" fmla="val 14286"/>
            </a:avLst>
          </a:prstGeom>
          <a:solidFill>
            <a:schemeClr val="bg2"/>
          </a:solidFill>
          <a:ln w="9525">
            <a:solidFill>
              <a:schemeClr val="accent6"/>
            </a:solidFill>
            <a:prstDash val="solid"/>
          </a:ln>
        </p:spPr>
      </p:sp>
      <p:sp>
        <p:nvSpPr>
          <p:cNvPr id="68" name="Text 57"/>
          <p:cNvSpPr txBox="1"/>
          <p:nvPr/>
        </p:nvSpPr>
        <p:spPr>
          <a:xfrm>
            <a:off x="822960" y="5577840"/>
            <a:ext cx="2194560" cy="640080"/>
          </a:xfrm>
          <a:prstGeom prst="rect">
            <a:avLst/>
          </a:prstGeom>
          <a:noFill/>
          <a:ln/>
        </p:spPr>
        <p:txBody>
          <a:bodyPr wrap="square" lIns="0" tIns="0" rIns="0" bIns="0" rtlCol="0" anchor="ctr"/>
          <a:lstStyle/>
          <a:p>
            <a:pPr indent="0" marL="0">
              <a:buNone/>
            </a:pPr>
            <a:r>
              <a:rPr lang="en-US" sz="1500" b="1" dirty="0">
                <a:solidFill>
                  <a:schemeClr val="accent2"/>
                </a:solidFill>
              </a:rPr>
              <a:t>Severity categories</a:t>
            </a:r>
            <a:endParaRPr lang="en-US" sz="1500" dirty="0"/>
          </a:p>
        </p:txBody>
      </p:sp>
      <p:sp>
        <p:nvSpPr>
          <p:cNvPr id="69" name="Pill LOW"/>
          <p:cNvSpPr/>
          <p:nvPr/>
        </p:nvSpPr>
        <p:spPr>
          <a:xfrm>
            <a:off x="3108960" y="5715000"/>
            <a:ext cx="1828800" cy="365760"/>
          </a:xfrm>
          <a:prstGeom prst="roundRect">
            <a:avLst>
              <a:gd name="adj" fmla="val 25000"/>
            </a:avLst>
          </a:prstGeom>
          <a:solidFill>
            <a:schemeClr val="accent1"/>
          </a:solidFill>
          <a:ln w="3175">
            <a:solidFill>
              <a:schemeClr val="accent1"/>
            </a:solidFill>
            <a:prstDash val="solid"/>
          </a:ln>
        </p:spPr>
      </p:sp>
      <p:sp>
        <p:nvSpPr>
          <p:cNvPr id="70" name="Text 59"/>
          <p:cNvSpPr txBox="1"/>
          <p:nvPr/>
        </p:nvSpPr>
        <p:spPr>
          <a:xfrm>
            <a:off x="3108960" y="5715000"/>
            <a:ext cx="1828800" cy="365760"/>
          </a:xfrm>
          <a:prstGeom prst="rect">
            <a:avLst/>
          </a:prstGeom>
          <a:noFill/>
          <a:ln/>
        </p:spPr>
        <p:txBody>
          <a:bodyPr wrap="square" lIns="0" tIns="0" rIns="0" bIns="0" rtlCol="0" anchor="ctr"/>
          <a:lstStyle/>
          <a:p>
            <a:pPr algn="ctr" indent="0" marL="0">
              <a:buNone/>
            </a:pPr>
            <a:r>
              <a:rPr lang="en-US" sz="1400" b="1" dirty="0">
                <a:solidFill>
                  <a:schemeClr val="bg1"/>
                </a:solidFill>
              </a:rPr>
              <a:t>LOW</a:t>
            </a:r>
            <a:endParaRPr lang="en-US" sz="1400" dirty="0"/>
          </a:p>
        </p:txBody>
      </p:sp>
      <p:sp>
        <p:nvSpPr>
          <p:cNvPr id="71" name="Pill MEDIUM"/>
          <p:cNvSpPr/>
          <p:nvPr/>
        </p:nvSpPr>
        <p:spPr>
          <a:xfrm>
            <a:off x="5212080" y="5715000"/>
            <a:ext cx="1828800" cy="365760"/>
          </a:xfrm>
          <a:prstGeom prst="roundRect">
            <a:avLst>
              <a:gd name="adj" fmla="val 25000"/>
            </a:avLst>
          </a:prstGeom>
          <a:solidFill>
            <a:schemeClr val="accent4"/>
          </a:solidFill>
          <a:ln w="3175">
            <a:solidFill>
              <a:schemeClr val="accent4"/>
            </a:solidFill>
            <a:prstDash val="solid"/>
          </a:ln>
        </p:spPr>
      </p:sp>
      <p:sp>
        <p:nvSpPr>
          <p:cNvPr id="72" name="Text 61"/>
          <p:cNvSpPr txBox="1"/>
          <p:nvPr/>
        </p:nvSpPr>
        <p:spPr>
          <a:xfrm>
            <a:off x="5212080" y="5715000"/>
            <a:ext cx="1828800" cy="365760"/>
          </a:xfrm>
          <a:prstGeom prst="rect">
            <a:avLst/>
          </a:prstGeom>
          <a:noFill/>
          <a:ln/>
        </p:spPr>
        <p:txBody>
          <a:bodyPr wrap="square" lIns="0" tIns="0" rIns="0" bIns="0" rtlCol="0" anchor="ctr"/>
          <a:lstStyle/>
          <a:p>
            <a:pPr algn="ctr" indent="0" marL="0">
              <a:buNone/>
            </a:pPr>
            <a:r>
              <a:rPr lang="en-US" sz="1400" b="1" dirty="0">
                <a:solidFill>
                  <a:schemeClr val="bg1"/>
                </a:solidFill>
              </a:rPr>
              <a:t>MEDIUM</a:t>
            </a:r>
            <a:endParaRPr lang="en-US" sz="1400" dirty="0"/>
          </a:p>
        </p:txBody>
      </p:sp>
      <p:sp>
        <p:nvSpPr>
          <p:cNvPr id="73" name="Pill HIGH"/>
          <p:cNvSpPr/>
          <p:nvPr/>
        </p:nvSpPr>
        <p:spPr>
          <a:xfrm>
            <a:off x="7315200" y="5715000"/>
            <a:ext cx="1828800" cy="365760"/>
          </a:xfrm>
          <a:prstGeom prst="roundRect">
            <a:avLst>
              <a:gd name="adj" fmla="val 25000"/>
            </a:avLst>
          </a:prstGeom>
          <a:solidFill>
            <a:schemeClr val="accent5"/>
          </a:solidFill>
          <a:ln w="3175">
            <a:solidFill>
              <a:schemeClr val="accent5"/>
            </a:solidFill>
            <a:prstDash val="solid"/>
          </a:ln>
        </p:spPr>
      </p:sp>
      <p:sp>
        <p:nvSpPr>
          <p:cNvPr id="74" name="Text 63"/>
          <p:cNvSpPr txBox="1"/>
          <p:nvPr/>
        </p:nvSpPr>
        <p:spPr>
          <a:xfrm>
            <a:off x="7315200" y="5715000"/>
            <a:ext cx="1828800" cy="365760"/>
          </a:xfrm>
          <a:prstGeom prst="rect">
            <a:avLst/>
          </a:prstGeom>
          <a:noFill/>
          <a:ln/>
        </p:spPr>
        <p:txBody>
          <a:bodyPr wrap="square" lIns="0" tIns="0" rIns="0" bIns="0" rtlCol="0" anchor="ctr"/>
          <a:lstStyle/>
          <a:p>
            <a:pPr algn="ctr" indent="0" marL="0">
              <a:buNone/>
            </a:pPr>
            <a:r>
              <a:rPr lang="en-US" sz="1400" b="1" dirty="0">
                <a:solidFill>
                  <a:schemeClr val="bg1"/>
                </a:solidFill>
              </a:rPr>
              <a:t>HIGH</a:t>
            </a:r>
            <a:endParaRPr lang="en-US" sz="1400" dirty="0"/>
          </a:p>
        </p:txBody>
      </p:sp>
      <p:sp>
        <p:nvSpPr>
          <p:cNvPr id="75" name="Pill CRITICAL"/>
          <p:cNvSpPr/>
          <p:nvPr/>
        </p:nvSpPr>
        <p:spPr>
          <a:xfrm>
            <a:off x="9418320" y="5715000"/>
            <a:ext cx="1828800" cy="365760"/>
          </a:xfrm>
          <a:prstGeom prst="roundRect">
            <a:avLst>
              <a:gd name="adj" fmla="val 25000"/>
            </a:avLst>
          </a:prstGeom>
          <a:solidFill>
            <a:schemeClr val="accent3"/>
          </a:solidFill>
          <a:ln w="3175">
            <a:solidFill>
              <a:schemeClr val="accent3"/>
            </a:solidFill>
            <a:prstDash val="solid"/>
          </a:ln>
        </p:spPr>
      </p:sp>
      <p:sp>
        <p:nvSpPr>
          <p:cNvPr id="76" name="Text 65"/>
          <p:cNvSpPr txBox="1"/>
          <p:nvPr/>
        </p:nvSpPr>
        <p:spPr>
          <a:xfrm>
            <a:off x="9418320" y="5715000"/>
            <a:ext cx="1828800" cy="365760"/>
          </a:xfrm>
          <a:prstGeom prst="rect">
            <a:avLst/>
          </a:prstGeom>
          <a:noFill/>
          <a:ln/>
        </p:spPr>
        <p:txBody>
          <a:bodyPr wrap="square" lIns="0" tIns="0" rIns="0" bIns="0" rtlCol="0" anchor="ctr"/>
          <a:lstStyle/>
          <a:p>
            <a:pPr algn="ctr" indent="0" marL="0">
              <a:buNone/>
            </a:pPr>
            <a:r>
              <a:rPr lang="en-US" sz="1400" b="1" dirty="0">
                <a:solidFill>
                  <a:schemeClr val="tx1"/>
                </a:solidFill>
              </a:rPr>
              <a:t>CRITICAL</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SEVERITY ANALYSIS</a:t>
            </a:r>
            <a:endParaRPr lang="en-US" sz="3200" dirty="0"/>
          </a:p>
        </p:txBody>
      </p:sp>
      <p:sp>
        <p:nvSpPr>
          <p:cNvPr id="4" name="Text 1"/>
          <p:cNvSpPr txBox="1"/>
          <p:nvPr/>
        </p:nvSpPr>
        <p:spPr>
          <a:xfrm>
            <a:off x="548640" y="1188720"/>
            <a:ext cx="7315200" cy="320040"/>
          </a:xfrm>
          <a:prstGeom prst="rect">
            <a:avLst/>
          </a:prstGeom>
          <a:noFill/>
          <a:ln/>
        </p:spPr>
        <p:txBody>
          <a:bodyPr wrap="square" lIns="0" tIns="0" rIns="0" bIns="0" rtlCol="0" anchor="t"/>
          <a:lstStyle/>
          <a:p>
            <a:pPr indent="0" marL="0">
              <a:buNone/>
            </a:pPr>
            <a:r>
              <a:rPr lang="en-US" sz="1600" b="1" dirty="0">
                <a:solidFill>
                  <a:schemeClr val="accent2"/>
                </a:solidFill>
              </a:rPr>
              <a:t>Indicators considered (examples)</a:t>
            </a:r>
            <a:endParaRPr lang="en-US" sz="1600" dirty="0"/>
          </a:p>
        </p:txBody>
      </p:sp>
      <p:sp>
        <p:nvSpPr>
          <p:cNvPr id="5" name="Card 118"/>
          <p:cNvSpPr/>
          <p:nvPr/>
        </p:nvSpPr>
        <p:spPr>
          <a:xfrm>
            <a:off x="548640" y="1645920"/>
            <a:ext cx="2567178" cy="1051560"/>
          </a:xfrm>
          <a:prstGeom prst="roundRect">
            <a:avLst>
              <a:gd name="adj" fmla="val 8696"/>
            </a:avLst>
          </a:prstGeom>
          <a:solidFill>
            <a:schemeClr val="bg2"/>
          </a:solidFill>
          <a:ln w="9525">
            <a:solidFill>
              <a:schemeClr val="accent6"/>
            </a:solidFill>
            <a:prstDash val="solid"/>
          </a:ln>
        </p:spPr>
      </p:sp>
      <p:sp>
        <p:nvSpPr>
          <p:cNvPr id="6" name="Icon badge 119"/>
          <p:cNvSpPr/>
          <p:nvPr/>
        </p:nvSpPr>
        <p:spPr>
          <a:xfrm>
            <a:off x="731520" y="1920240"/>
            <a:ext cx="502920" cy="502920"/>
          </a:xfrm>
          <a:prstGeom prst="ellipse">
            <a:avLst/>
          </a:prstGeom>
          <a:solidFill>
            <a:schemeClr val="accent2">
              <a:alpha val="22000"/>
            </a:schemeClr>
          </a:solidFill>
          <a:ln w="9525">
            <a:solidFill>
              <a:schemeClr val="accent2"/>
            </a:solidFill>
            <a:prstDash val="solid"/>
          </a:ln>
        </p:spPr>
      </p:sp>
      <p:pic>
        <p:nvPicPr>
          <p:cNvPr id="7" name="Image 0" descr="Lungs icon">    </p:cNvPr>
          <p:cNvPicPr>
            <a:picLocks noChangeAspect="1"/>
          </p:cNvPicPr>
          <p:nvPr/>
        </p:nvPicPr>
        <p:blipFill>
          <a:blip r:embed="rId1"/>
          <a:stretch>
            <a:fillRect/>
          </a:stretch>
        </p:blipFill>
        <p:spPr>
          <a:xfrm>
            <a:off x="857250" y="2045970"/>
            <a:ext cx="251460" cy="251460"/>
          </a:xfrm>
          <a:prstGeom prst="rect">
            <a:avLst/>
          </a:prstGeom>
        </p:spPr>
      </p:pic>
      <p:sp>
        <p:nvSpPr>
          <p:cNvPr id="8" name="Text 4"/>
          <p:cNvSpPr txBox="1"/>
          <p:nvPr/>
        </p:nvSpPr>
        <p:spPr>
          <a:xfrm>
            <a:off x="1371600" y="1645920"/>
            <a:ext cx="1607058" cy="1051560"/>
          </a:xfrm>
          <a:prstGeom prst="rect">
            <a:avLst/>
          </a:prstGeom>
          <a:noFill/>
          <a:ln/>
        </p:spPr>
        <p:txBody>
          <a:bodyPr wrap="square" lIns="0" tIns="0" rIns="0" bIns="0" rtlCol="0" anchor="ctr"/>
          <a:lstStyle/>
          <a:p>
            <a:pPr indent="0" marL="0">
              <a:buNone/>
            </a:pPr>
            <a:r>
              <a:rPr lang="en-US" sz="1400" dirty="0">
                <a:solidFill>
                  <a:schemeClr val="tx1"/>
                </a:solidFill>
              </a:rPr>
              <a:t>Low oxygen saturation (SpO₂)</a:t>
            </a:r>
            <a:endParaRPr lang="en-US" sz="1400" dirty="0"/>
          </a:p>
        </p:txBody>
      </p:sp>
      <p:sp>
        <p:nvSpPr>
          <p:cNvPr id="9" name="Card 120"/>
          <p:cNvSpPr/>
          <p:nvPr/>
        </p:nvSpPr>
        <p:spPr>
          <a:xfrm>
            <a:off x="3390138" y="1645920"/>
            <a:ext cx="2567178" cy="1051560"/>
          </a:xfrm>
          <a:prstGeom prst="roundRect">
            <a:avLst>
              <a:gd name="adj" fmla="val 8696"/>
            </a:avLst>
          </a:prstGeom>
          <a:solidFill>
            <a:schemeClr val="bg2"/>
          </a:solidFill>
          <a:ln w="9525">
            <a:solidFill>
              <a:schemeClr val="accent6"/>
            </a:solidFill>
            <a:prstDash val="solid"/>
          </a:ln>
        </p:spPr>
      </p:sp>
      <p:sp>
        <p:nvSpPr>
          <p:cNvPr id="10" name="Icon badge 121"/>
          <p:cNvSpPr/>
          <p:nvPr/>
        </p:nvSpPr>
        <p:spPr>
          <a:xfrm>
            <a:off x="3573018" y="1920240"/>
            <a:ext cx="502920" cy="502920"/>
          </a:xfrm>
          <a:prstGeom prst="ellipse">
            <a:avLst/>
          </a:prstGeom>
          <a:solidFill>
            <a:schemeClr val="accent3">
              <a:alpha val="22000"/>
            </a:schemeClr>
          </a:solidFill>
          <a:ln w="9525">
            <a:solidFill>
              <a:schemeClr val="accent3"/>
            </a:solidFill>
            <a:prstDash val="solid"/>
          </a:ln>
        </p:spPr>
      </p:sp>
      <p:pic>
        <p:nvPicPr>
          <p:cNvPr id="11" name="Image 1" descr="Heartbeat icon">    </p:cNvPr>
          <p:cNvPicPr>
            <a:picLocks noChangeAspect="1"/>
          </p:cNvPicPr>
          <p:nvPr/>
        </p:nvPicPr>
        <p:blipFill>
          <a:blip r:embed="rId2"/>
          <a:stretch>
            <a:fillRect/>
          </a:stretch>
        </p:blipFill>
        <p:spPr>
          <a:xfrm>
            <a:off x="3698748" y="2045970"/>
            <a:ext cx="251460" cy="251460"/>
          </a:xfrm>
          <a:prstGeom prst="rect">
            <a:avLst/>
          </a:prstGeom>
        </p:spPr>
      </p:pic>
      <p:sp>
        <p:nvSpPr>
          <p:cNvPr id="12" name="Text 7"/>
          <p:cNvSpPr txBox="1"/>
          <p:nvPr/>
        </p:nvSpPr>
        <p:spPr>
          <a:xfrm>
            <a:off x="4213098" y="1645920"/>
            <a:ext cx="1607058" cy="1051560"/>
          </a:xfrm>
          <a:prstGeom prst="rect">
            <a:avLst/>
          </a:prstGeom>
          <a:noFill/>
          <a:ln/>
        </p:spPr>
        <p:txBody>
          <a:bodyPr wrap="square" lIns="0" tIns="0" rIns="0" bIns="0" rtlCol="0" anchor="ctr"/>
          <a:lstStyle/>
          <a:p>
            <a:pPr indent="0" marL="0">
              <a:buNone/>
            </a:pPr>
            <a:r>
              <a:rPr lang="en-US" sz="1400" dirty="0">
                <a:solidFill>
                  <a:schemeClr val="tx1"/>
                </a:solidFill>
              </a:rPr>
              <a:t>Elevated heart rate</a:t>
            </a:r>
            <a:endParaRPr lang="en-US" sz="1400" dirty="0"/>
          </a:p>
        </p:txBody>
      </p:sp>
      <p:sp>
        <p:nvSpPr>
          <p:cNvPr id="13" name="Card 122"/>
          <p:cNvSpPr/>
          <p:nvPr/>
        </p:nvSpPr>
        <p:spPr>
          <a:xfrm>
            <a:off x="6231636" y="1645920"/>
            <a:ext cx="2567178" cy="1051560"/>
          </a:xfrm>
          <a:prstGeom prst="roundRect">
            <a:avLst>
              <a:gd name="adj" fmla="val 8696"/>
            </a:avLst>
          </a:prstGeom>
          <a:solidFill>
            <a:schemeClr val="bg2"/>
          </a:solidFill>
          <a:ln w="9525">
            <a:solidFill>
              <a:schemeClr val="accent6"/>
            </a:solidFill>
            <a:prstDash val="solid"/>
          </a:ln>
        </p:spPr>
      </p:sp>
      <p:sp>
        <p:nvSpPr>
          <p:cNvPr id="14" name="Icon badge 123"/>
          <p:cNvSpPr/>
          <p:nvPr/>
        </p:nvSpPr>
        <p:spPr>
          <a:xfrm>
            <a:off x="6414516" y="1920240"/>
            <a:ext cx="502920" cy="502920"/>
          </a:xfrm>
          <a:prstGeom prst="ellipse">
            <a:avLst/>
          </a:prstGeom>
          <a:solidFill>
            <a:schemeClr val="accent4">
              <a:alpha val="22000"/>
            </a:schemeClr>
          </a:solidFill>
          <a:ln w="9525">
            <a:solidFill>
              <a:schemeClr val="accent4"/>
            </a:solidFill>
            <a:prstDash val="solid"/>
          </a:ln>
        </p:spPr>
      </p:sp>
      <p:pic>
        <p:nvPicPr>
          <p:cNvPr id="15" name="Image 2" descr="TachometerAlt icon">    </p:cNvPr>
          <p:cNvPicPr>
            <a:picLocks noChangeAspect="1"/>
          </p:cNvPicPr>
          <p:nvPr/>
        </p:nvPicPr>
        <p:blipFill>
          <a:blip r:embed="rId3"/>
          <a:stretch>
            <a:fillRect/>
          </a:stretch>
        </p:blipFill>
        <p:spPr>
          <a:xfrm>
            <a:off x="6540246" y="2045970"/>
            <a:ext cx="251460" cy="251460"/>
          </a:xfrm>
          <a:prstGeom prst="rect">
            <a:avLst/>
          </a:prstGeom>
        </p:spPr>
      </p:pic>
      <p:sp>
        <p:nvSpPr>
          <p:cNvPr id="16" name="Text 10"/>
          <p:cNvSpPr txBox="1"/>
          <p:nvPr/>
        </p:nvSpPr>
        <p:spPr>
          <a:xfrm>
            <a:off x="7054596" y="1645920"/>
            <a:ext cx="1607058" cy="1051560"/>
          </a:xfrm>
          <a:prstGeom prst="rect">
            <a:avLst/>
          </a:prstGeom>
          <a:noFill/>
          <a:ln/>
        </p:spPr>
        <p:txBody>
          <a:bodyPr wrap="square" lIns="0" tIns="0" rIns="0" bIns="0" rtlCol="0" anchor="ctr"/>
          <a:lstStyle/>
          <a:p>
            <a:pPr indent="0" marL="0">
              <a:buNone/>
            </a:pPr>
            <a:r>
              <a:rPr lang="en-US" sz="1400" dirty="0">
                <a:solidFill>
                  <a:schemeClr val="tx1"/>
                </a:solidFill>
              </a:rPr>
              <a:t>Low systolic blood pressure</a:t>
            </a:r>
            <a:endParaRPr lang="en-US" sz="1400" dirty="0"/>
          </a:p>
        </p:txBody>
      </p:sp>
      <p:sp>
        <p:nvSpPr>
          <p:cNvPr id="17" name="Card 124"/>
          <p:cNvSpPr/>
          <p:nvPr/>
        </p:nvSpPr>
        <p:spPr>
          <a:xfrm>
            <a:off x="9073134" y="1645920"/>
            <a:ext cx="2567178" cy="1051560"/>
          </a:xfrm>
          <a:prstGeom prst="roundRect">
            <a:avLst>
              <a:gd name="adj" fmla="val 8696"/>
            </a:avLst>
          </a:prstGeom>
          <a:solidFill>
            <a:schemeClr val="bg2"/>
          </a:solidFill>
          <a:ln w="9525">
            <a:solidFill>
              <a:schemeClr val="accent6"/>
            </a:solidFill>
            <a:prstDash val="solid"/>
          </a:ln>
        </p:spPr>
      </p:sp>
      <p:sp>
        <p:nvSpPr>
          <p:cNvPr id="18" name="Icon badge 125"/>
          <p:cNvSpPr/>
          <p:nvPr/>
        </p:nvSpPr>
        <p:spPr>
          <a:xfrm>
            <a:off x="9256014" y="1920240"/>
            <a:ext cx="502920" cy="502920"/>
          </a:xfrm>
          <a:prstGeom prst="ellipse">
            <a:avLst/>
          </a:prstGeom>
          <a:solidFill>
            <a:schemeClr val="accent2">
              <a:alpha val="22000"/>
            </a:schemeClr>
          </a:solidFill>
          <a:ln w="9525">
            <a:solidFill>
              <a:schemeClr val="accent2"/>
            </a:solidFill>
            <a:prstDash val="solid"/>
          </a:ln>
        </p:spPr>
      </p:sp>
      <p:pic>
        <p:nvPicPr>
          <p:cNvPr id="19" name="Image 3" descr="Wind icon">    </p:cNvPr>
          <p:cNvPicPr>
            <a:picLocks noChangeAspect="1"/>
          </p:cNvPicPr>
          <p:nvPr/>
        </p:nvPicPr>
        <p:blipFill>
          <a:blip r:embed="rId4"/>
          <a:stretch>
            <a:fillRect/>
          </a:stretch>
        </p:blipFill>
        <p:spPr>
          <a:xfrm>
            <a:off x="9381744" y="2045970"/>
            <a:ext cx="251460" cy="251460"/>
          </a:xfrm>
          <a:prstGeom prst="rect">
            <a:avLst/>
          </a:prstGeom>
        </p:spPr>
      </p:pic>
      <p:sp>
        <p:nvSpPr>
          <p:cNvPr id="20" name="Text 13"/>
          <p:cNvSpPr txBox="1"/>
          <p:nvPr/>
        </p:nvSpPr>
        <p:spPr>
          <a:xfrm>
            <a:off x="9896094" y="1645920"/>
            <a:ext cx="1607058" cy="1051560"/>
          </a:xfrm>
          <a:prstGeom prst="rect">
            <a:avLst/>
          </a:prstGeom>
          <a:noFill/>
          <a:ln/>
        </p:spPr>
        <p:txBody>
          <a:bodyPr wrap="square" lIns="0" tIns="0" rIns="0" bIns="0" rtlCol="0" anchor="ctr"/>
          <a:lstStyle/>
          <a:p>
            <a:pPr indent="0" marL="0">
              <a:buNone/>
            </a:pPr>
            <a:r>
              <a:rPr lang="en-US" sz="1400" dirty="0">
                <a:solidFill>
                  <a:schemeClr val="tx1"/>
                </a:solidFill>
              </a:rPr>
              <a:t>Rapid breathing</a:t>
            </a:r>
            <a:endParaRPr lang="en-US" sz="1400" dirty="0"/>
          </a:p>
        </p:txBody>
      </p:sp>
      <p:sp>
        <p:nvSpPr>
          <p:cNvPr id="21" name="Card 126"/>
          <p:cNvSpPr/>
          <p:nvPr/>
        </p:nvSpPr>
        <p:spPr>
          <a:xfrm>
            <a:off x="548640" y="2880360"/>
            <a:ext cx="2567178" cy="1051560"/>
          </a:xfrm>
          <a:prstGeom prst="roundRect">
            <a:avLst>
              <a:gd name="adj" fmla="val 8696"/>
            </a:avLst>
          </a:prstGeom>
          <a:solidFill>
            <a:schemeClr val="bg2"/>
          </a:solidFill>
          <a:ln w="9525">
            <a:solidFill>
              <a:schemeClr val="accent6"/>
            </a:solidFill>
            <a:prstDash val="solid"/>
          </a:ln>
        </p:spPr>
      </p:sp>
      <p:sp>
        <p:nvSpPr>
          <p:cNvPr id="22" name="Icon badge 127"/>
          <p:cNvSpPr/>
          <p:nvPr/>
        </p:nvSpPr>
        <p:spPr>
          <a:xfrm>
            <a:off x="731520" y="3154680"/>
            <a:ext cx="502920" cy="502920"/>
          </a:xfrm>
          <a:prstGeom prst="ellipse">
            <a:avLst/>
          </a:prstGeom>
          <a:solidFill>
            <a:schemeClr val="accent5">
              <a:alpha val="22000"/>
            </a:schemeClr>
          </a:solidFill>
          <a:ln w="9525">
            <a:solidFill>
              <a:schemeClr val="accent5"/>
            </a:solidFill>
            <a:prstDash val="solid"/>
          </a:ln>
        </p:spPr>
      </p:sp>
      <p:pic>
        <p:nvPicPr>
          <p:cNvPr id="23" name="Image 4" descr="ThermometerHalf icon">    </p:cNvPr>
          <p:cNvPicPr>
            <a:picLocks noChangeAspect="1"/>
          </p:cNvPicPr>
          <p:nvPr/>
        </p:nvPicPr>
        <p:blipFill>
          <a:blip r:embed="rId5"/>
          <a:stretch>
            <a:fillRect/>
          </a:stretch>
        </p:blipFill>
        <p:spPr>
          <a:xfrm>
            <a:off x="857250" y="3280410"/>
            <a:ext cx="251460" cy="251460"/>
          </a:xfrm>
          <a:prstGeom prst="rect">
            <a:avLst/>
          </a:prstGeom>
        </p:spPr>
      </p:pic>
      <p:sp>
        <p:nvSpPr>
          <p:cNvPr id="24" name="Text 16"/>
          <p:cNvSpPr txBox="1"/>
          <p:nvPr/>
        </p:nvSpPr>
        <p:spPr>
          <a:xfrm>
            <a:off x="1371600" y="2880360"/>
            <a:ext cx="1607058" cy="1051560"/>
          </a:xfrm>
          <a:prstGeom prst="rect">
            <a:avLst/>
          </a:prstGeom>
          <a:noFill/>
          <a:ln/>
        </p:spPr>
        <p:txBody>
          <a:bodyPr wrap="square" lIns="0" tIns="0" rIns="0" bIns="0" rtlCol="0" anchor="ctr"/>
          <a:lstStyle/>
          <a:p>
            <a:pPr indent="0" marL="0">
              <a:buNone/>
            </a:pPr>
            <a:r>
              <a:rPr lang="en-US" sz="1400" dirty="0">
                <a:solidFill>
                  <a:schemeClr val="tx1"/>
                </a:solidFill>
              </a:rPr>
              <a:t>Elevated temperature</a:t>
            </a:r>
            <a:endParaRPr lang="en-US" sz="1400" dirty="0"/>
          </a:p>
        </p:txBody>
      </p:sp>
      <p:sp>
        <p:nvSpPr>
          <p:cNvPr id="25" name="Card 128"/>
          <p:cNvSpPr/>
          <p:nvPr/>
        </p:nvSpPr>
        <p:spPr>
          <a:xfrm>
            <a:off x="3390138" y="2880360"/>
            <a:ext cx="2567178" cy="1051560"/>
          </a:xfrm>
          <a:prstGeom prst="roundRect">
            <a:avLst>
              <a:gd name="adj" fmla="val 8696"/>
            </a:avLst>
          </a:prstGeom>
          <a:solidFill>
            <a:schemeClr val="bg2"/>
          </a:solidFill>
          <a:ln w="9525">
            <a:solidFill>
              <a:schemeClr val="accent6"/>
            </a:solidFill>
            <a:prstDash val="solid"/>
          </a:ln>
        </p:spPr>
      </p:sp>
      <p:sp>
        <p:nvSpPr>
          <p:cNvPr id="26" name="Icon badge 129"/>
          <p:cNvSpPr/>
          <p:nvPr/>
        </p:nvSpPr>
        <p:spPr>
          <a:xfrm>
            <a:off x="3573018" y="3154680"/>
            <a:ext cx="502920" cy="502920"/>
          </a:xfrm>
          <a:prstGeom prst="ellipse">
            <a:avLst/>
          </a:prstGeom>
          <a:solidFill>
            <a:schemeClr val="accent3">
              <a:alpha val="22000"/>
            </a:schemeClr>
          </a:solidFill>
          <a:ln w="9525">
            <a:solidFill>
              <a:schemeClr val="accent3"/>
            </a:solidFill>
            <a:prstDash val="solid"/>
          </a:ln>
        </p:spPr>
      </p:sp>
      <p:pic>
        <p:nvPicPr>
          <p:cNvPr id="27" name="Image 5" descr="UserInjured icon">    </p:cNvPr>
          <p:cNvPicPr>
            <a:picLocks noChangeAspect="1"/>
          </p:cNvPicPr>
          <p:nvPr/>
        </p:nvPicPr>
        <p:blipFill>
          <a:blip r:embed="rId6"/>
          <a:stretch>
            <a:fillRect/>
          </a:stretch>
        </p:blipFill>
        <p:spPr>
          <a:xfrm>
            <a:off x="3698748" y="3280410"/>
            <a:ext cx="251460" cy="251460"/>
          </a:xfrm>
          <a:prstGeom prst="rect">
            <a:avLst/>
          </a:prstGeom>
        </p:spPr>
      </p:pic>
      <p:sp>
        <p:nvSpPr>
          <p:cNvPr id="28" name="Text 19"/>
          <p:cNvSpPr txBox="1"/>
          <p:nvPr/>
        </p:nvSpPr>
        <p:spPr>
          <a:xfrm>
            <a:off x="4213098" y="2880360"/>
            <a:ext cx="1607058" cy="1051560"/>
          </a:xfrm>
          <a:prstGeom prst="rect">
            <a:avLst/>
          </a:prstGeom>
          <a:noFill/>
          <a:ln/>
        </p:spPr>
        <p:txBody>
          <a:bodyPr wrap="square" lIns="0" tIns="0" rIns="0" bIns="0" rtlCol="0" anchor="ctr"/>
          <a:lstStyle/>
          <a:p>
            <a:pPr indent="0" marL="0">
              <a:buNone/>
            </a:pPr>
            <a:r>
              <a:rPr lang="en-US" sz="1400" dirty="0">
                <a:solidFill>
                  <a:schemeClr val="tx1"/>
                </a:solidFill>
              </a:rPr>
              <a:t>Severe injury information</a:t>
            </a:r>
            <a:endParaRPr lang="en-US" sz="1400" dirty="0"/>
          </a:p>
        </p:txBody>
      </p:sp>
      <p:sp>
        <p:nvSpPr>
          <p:cNvPr id="29" name="Card 130"/>
          <p:cNvSpPr/>
          <p:nvPr/>
        </p:nvSpPr>
        <p:spPr>
          <a:xfrm>
            <a:off x="6231636" y="2880360"/>
            <a:ext cx="2567178" cy="1051560"/>
          </a:xfrm>
          <a:prstGeom prst="roundRect">
            <a:avLst>
              <a:gd name="adj" fmla="val 8696"/>
            </a:avLst>
          </a:prstGeom>
          <a:solidFill>
            <a:schemeClr val="bg2"/>
          </a:solidFill>
          <a:ln w="9525">
            <a:solidFill>
              <a:schemeClr val="accent6"/>
            </a:solidFill>
            <a:prstDash val="solid"/>
          </a:ln>
        </p:spPr>
      </p:sp>
      <p:sp>
        <p:nvSpPr>
          <p:cNvPr id="30" name="Icon badge 131"/>
          <p:cNvSpPr/>
          <p:nvPr/>
        </p:nvSpPr>
        <p:spPr>
          <a:xfrm>
            <a:off x="6414516" y="3154680"/>
            <a:ext cx="502920" cy="502920"/>
          </a:xfrm>
          <a:prstGeom prst="ellipse">
            <a:avLst/>
          </a:prstGeom>
          <a:solidFill>
            <a:schemeClr val="accent4">
              <a:alpha val="22000"/>
            </a:schemeClr>
          </a:solidFill>
          <a:ln w="9525">
            <a:solidFill>
              <a:schemeClr val="accent4"/>
            </a:solidFill>
            <a:prstDash val="solid"/>
          </a:ln>
        </p:spPr>
      </p:sp>
      <p:pic>
        <p:nvPicPr>
          <p:cNvPr id="31" name="Image 6" descr="Procedures icon">    </p:cNvPr>
          <p:cNvPicPr>
            <a:picLocks noChangeAspect="1"/>
          </p:cNvPicPr>
          <p:nvPr/>
        </p:nvPicPr>
        <p:blipFill>
          <a:blip r:embed="rId7"/>
          <a:stretch>
            <a:fillRect/>
          </a:stretch>
        </p:blipFill>
        <p:spPr>
          <a:xfrm>
            <a:off x="6540246" y="3280410"/>
            <a:ext cx="251460" cy="251460"/>
          </a:xfrm>
          <a:prstGeom prst="rect">
            <a:avLst/>
          </a:prstGeom>
        </p:spPr>
      </p:pic>
      <p:sp>
        <p:nvSpPr>
          <p:cNvPr id="32" name="Text 22"/>
          <p:cNvSpPr txBox="1"/>
          <p:nvPr/>
        </p:nvSpPr>
        <p:spPr>
          <a:xfrm>
            <a:off x="7054596" y="2880360"/>
            <a:ext cx="1607058" cy="1051560"/>
          </a:xfrm>
          <a:prstGeom prst="rect">
            <a:avLst/>
          </a:prstGeom>
          <a:noFill/>
          <a:ln/>
        </p:spPr>
        <p:txBody>
          <a:bodyPr wrap="square" lIns="0" tIns="0" rIns="0" bIns="0" rtlCol="0" anchor="ctr"/>
          <a:lstStyle/>
          <a:p>
            <a:pPr indent="0" marL="0">
              <a:buNone/>
            </a:pPr>
            <a:r>
              <a:rPr lang="en-US" sz="1400" dirty="0">
                <a:solidFill>
                  <a:schemeClr val="tx1"/>
                </a:solidFill>
              </a:rPr>
              <a:t>Chest pain or breathing difficulty</a:t>
            </a:r>
            <a:endParaRPr lang="en-US" sz="1400" dirty="0"/>
          </a:p>
        </p:txBody>
      </p:sp>
      <p:sp>
        <p:nvSpPr>
          <p:cNvPr id="33" name="Card 132"/>
          <p:cNvSpPr/>
          <p:nvPr/>
        </p:nvSpPr>
        <p:spPr>
          <a:xfrm>
            <a:off x="9073134" y="2880360"/>
            <a:ext cx="2567178" cy="1051560"/>
          </a:xfrm>
          <a:prstGeom prst="roundRect">
            <a:avLst>
              <a:gd name="adj" fmla="val 8696"/>
            </a:avLst>
          </a:prstGeom>
          <a:solidFill>
            <a:schemeClr val="bg2"/>
          </a:solidFill>
          <a:ln w="9525">
            <a:solidFill>
              <a:schemeClr val="accent6"/>
            </a:solidFill>
            <a:prstDash val="solid"/>
          </a:ln>
        </p:spPr>
      </p:sp>
      <p:sp>
        <p:nvSpPr>
          <p:cNvPr id="34" name="Icon badge 133"/>
          <p:cNvSpPr/>
          <p:nvPr/>
        </p:nvSpPr>
        <p:spPr>
          <a:xfrm>
            <a:off x="9256014" y="3154680"/>
            <a:ext cx="502920" cy="502920"/>
          </a:xfrm>
          <a:prstGeom prst="ellipse">
            <a:avLst/>
          </a:prstGeom>
          <a:solidFill>
            <a:schemeClr val="accent1">
              <a:alpha val="22000"/>
            </a:schemeClr>
          </a:solidFill>
          <a:ln w="9525">
            <a:solidFill>
              <a:schemeClr val="accent1"/>
            </a:solidFill>
            <a:prstDash val="solid"/>
          </a:ln>
        </p:spPr>
      </p:sp>
      <p:pic>
        <p:nvPicPr>
          <p:cNvPr id="35" name="Image 7" descr="Brain icon">    </p:cNvPr>
          <p:cNvPicPr>
            <a:picLocks noChangeAspect="1"/>
          </p:cNvPicPr>
          <p:nvPr/>
        </p:nvPicPr>
        <p:blipFill>
          <a:blip r:embed="rId8"/>
          <a:stretch>
            <a:fillRect/>
          </a:stretch>
        </p:blipFill>
        <p:spPr>
          <a:xfrm>
            <a:off x="9381744" y="3280410"/>
            <a:ext cx="251460" cy="251460"/>
          </a:xfrm>
          <a:prstGeom prst="rect">
            <a:avLst/>
          </a:prstGeom>
        </p:spPr>
      </p:pic>
      <p:sp>
        <p:nvSpPr>
          <p:cNvPr id="36" name="Text 25"/>
          <p:cNvSpPr txBox="1"/>
          <p:nvPr/>
        </p:nvSpPr>
        <p:spPr>
          <a:xfrm>
            <a:off x="9896094" y="2880360"/>
            <a:ext cx="1607058" cy="1051560"/>
          </a:xfrm>
          <a:prstGeom prst="rect">
            <a:avLst/>
          </a:prstGeom>
          <a:noFill/>
          <a:ln/>
        </p:spPr>
        <p:txBody>
          <a:bodyPr wrap="square" lIns="0" tIns="0" rIns="0" bIns="0" rtlCol="0" anchor="ctr"/>
          <a:lstStyle/>
          <a:p>
            <a:pPr indent="0" marL="0">
              <a:buNone/>
            </a:pPr>
            <a:r>
              <a:rPr lang="en-US" sz="1400" dirty="0">
                <a:solidFill>
                  <a:schemeClr val="tx1"/>
                </a:solidFill>
              </a:rPr>
              <a:t>Loss of consciousness</a:t>
            </a:r>
            <a:endParaRPr lang="en-US" sz="1400" dirty="0"/>
          </a:p>
        </p:txBody>
      </p:sp>
      <p:sp>
        <p:nvSpPr>
          <p:cNvPr id="37" name="Text 26"/>
          <p:cNvSpPr txBox="1"/>
          <p:nvPr/>
        </p:nvSpPr>
        <p:spPr>
          <a:xfrm>
            <a:off x="548640" y="4160520"/>
            <a:ext cx="7315200" cy="320040"/>
          </a:xfrm>
          <a:prstGeom prst="rect">
            <a:avLst/>
          </a:prstGeom>
          <a:noFill/>
          <a:ln/>
        </p:spPr>
        <p:txBody>
          <a:bodyPr wrap="square" lIns="0" tIns="0" rIns="0" bIns="0" rtlCol="0" anchor="t"/>
          <a:lstStyle/>
          <a:p>
            <a:pPr indent="0" marL="0">
              <a:buNone/>
            </a:pPr>
            <a:r>
              <a:rPr lang="en-US" sz="1600" b="1" dirty="0">
                <a:solidFill>
                  <a:schemeClr val="accent2"/>
                </a:solidFill>
              </a:rPr>
              <a:t>Conceptual process</a:t>
            </a:r>
            <a:endParaRPr lang="en-US" sz="1600" dirty="0"/>
          </a:p>
        </p:txBody>
      </p:sp>
      <p:sp>
        <p:nvSpPr>
          <p:cNvPr id="38" name="Box 134"/>
          <p:cNvSpPr/>
          <p:nvPr/>
        </p:nvSpPr>
        <p:spPr>
          <a:xfrm>
            <a:off x="548640" y="4526280"/>
            <a:ext cx="1925726" cy="868680"/>
          </a:xfrm>
          <a:prstGeom prst="roundRect">
            <a:avLst>
              <a:gd name="adj" fmla="val 8421"/>
            </a:avLst>
          </a:prstGeom>
          <a:solidFill>
            <a:schemeClr val="bg2"/>
          </a:solidFill>
          <a:ln w="12700">
            <a:solidFill>
              <a:schemeClr val="accent2"/>
            </a:solidFill>
            <a:prstDash val="solid"/>
          </a:ln>
        </p:spPr>
      </p:sp>
      <p:sp>
        <p:nvSpPr>
          <p:cNvPr id="39" name="Text 28"/>
          <p:cNvSpPr txBox="1"/>
          <p:nvPr/>
        </p:nvSpPr>
        <p:spPr>
          <a:xfrm>
            <a:off x="640080" y="4526280"/>
            <a:ext cx="1742846" cy="868680"/>
          </a:xfrm>
          <a:prstGeom prst="rect">
            <a:avLst/>
          </a:prstGeom>
          <a:noFill/>
          <a:ln/>
        </p:spPr>
        <p:txBody>
          <a:bodyPr wrap="square" lIns="0" tIns="0" rIns="0" bIns="0" rtlCol="0" anchor="ctr"/>
          <a:lstStyle/>
          <a:p>
            <a:pPr algn="ctr" indent="0" marL="0">
              <a:buNone/>
            </a:pPr>
            <a:r>
              <a:rPr lang="en-US" sz="1400" b="1" dirty="0">
                <a:solidFill>
                  <a:schemeClr val="tx1"/>
                </a:solidFill>
              </a:rPr>
              <a:t>Input observations</a:t>
            </a:r>
            <a:endParaRPr lang="en-US" sz="1400" dirty="0"/>
          </a:p>
        </p:txBody>
      </p:sp>
      <p:sp>
        <p:nvSpPr>
          <p:cNvPr id="40" name="Arrow 135"/>
          <p:cNvSpPr/>
          <p:nvPr/>
        </p:nvSpPr>
        <p:spPr>
          <a:xfrm>
            <a:off x="2510942" y="4960620"/>
            <a:ext cx="292608" cy="0"/>
          </a:xfrm>
          <a:prstGeom prst="line">
            <a:avLst/>
          </a:prstGeom>
          <a:noFill/>
          <a:ln w="19050">
            <a:solidFill>
              <a:schemeClr val="accent2"/>
            </a:solidFill>
            <a:prstDash val="solid"/>
            <a:tailEnd type="triangle"/>
          </a:ln>
        </p:spPr>
      </p:sp>
      <p:sp>
        <p:nvSpPr>
          <p:cNvPr id="41" name="Box 136"/>
          <p:cNvSpPr/>
          <p:nvPr/>
        </p:nvSpPr>
        <p:spPr>
          <a:xfrm>
            <a:off x="2840126" y="4526280"/>
            <a:ext cx="1925726" cy="868680"/>
          </a:xfrm>
          <a:prstGeom prst="roundRect">
            <a:avLst>
              <a:gd name="adj" fmla="val 8421"/>
            </a:avLst>
          </a:prstGeom>
          <a:solidFill>
            <a:schemeClr val="bg2"/>
          </a:solidFill>
          <a:ln w="12700">
            <a:solidFill>
              <a:schemeClr val="accent2"/>
            </a:solidFill>
            <a:prstDash val="solid"/>
          </a:ln>
        </p:spPr>
      </p:sp>
      <p:sp>
        <p:nvSpPr>
          <p:cNvPr id="42" name="Text 31"/>
          <p:cNvSpPr txBox="1"/>
          <p:nvPr/>
        </p:nvSpPr>
        <p:spPr>
          <a:xfrm>
            <a:off x="2931566" y="4526280"/>
            <a:ext cx="1742846" cy="868680"/>
          </a:xfrm>
          <a:prstGeom prst="rect">
            <a:avLst/>
          </a:prstGeom>
          <a:noFill/>
          <a:ln/>
        </p:spPr>
        <p:txBody>
          <a:bodyPr wrap="square" lIns="0" tIns="0" rIns="0" bIns="0" rtlCol="0" anchor="ctr"/>
          <a:lstStyle/>
          <a:p>
            <a:pPr algn="ctr" indent="0" marL="0">
              <a:buNone/>
            </a:pPr>
            <a:r>
              <a:rPr lang="en-US" sz="1400" b="1" dirty="0">
                <a:solidFill>
                  <a:schemeClr val="tx1"/>
                </a:solidFill>
              </a:rPr>
              <a:t>Rule evaluation</a:t>
            </a:r>
            <a:endParaRPr lang="en-US" sz="1400" dirty="0"/>
          </a:p>
        </p:txBody>
      </p:sp>
      <p:sp>
        <p:nvSpPr>
          <p:cNvPr id="43" name="Arrow 137"/>
          <p:cNvSpPr/>
          <p:nvPr/>
        </p:nvSpPr>
        <p:spPr>
          <a:xfrm>
            <a:off x="4802429" y="4960620"/>
            <a:ext cx="292608" cy="0"/>
          </a:xfrm>
          <a:prstGeom prst="line">
            <a:avLst/>
          </a:prstGeom>
          <a:noFill/>
          <a:ln w="19050">
            <a:solidFill>
              <a:schemeClr val="accent2"/>
            </a:solidFill>
            <a:prstDash val="solid"/>
            <a:tailEnd type="triangle"/>
          </a:ln>
        </p:spPr>
      </p:sp>
      <p:sp>
        <p:nvSpPr>
          <p:cNvPr id="44" name="Box 138"/>
          <p:cNvSpPr/>
          <p:nvPr/>
        </p:nvSpPr>
        <p:spPr>
          <a:xfrm>
            <a:off x="5131613" y="4526280"/>
            <a:ext cx="1925726" cy="868680"/>
          </a:xfrm>
          <a:prstGeom prst="roundRect">
            <a:avLst>
              <a:gd name="adj" fmla="val 8421"/>
            </a:avLst>
          </a:prstGeom>
          <a:solidFill>
            <a:schemeClr val="bg2"/>
          </a:solidFill>
          <a:ln w="12700">
            <a:solidFill>
              <a:schemeClr val="accent2"/>
            </a:solidFill>
            <a:prstDash val="solid"/>
          </a:ln>
        </p:spPr>
      </p:sp>
      <p:sp>
        <p:nvSpPr>
          <p:cNvPr id="45" name="Text 34"/>
          <p:cNvSpPr txBox="1"/>
          <p:nvPr/>
        </p:nvSpPr>
        <p:spPr>
          <a:xfrm>
            <a:off x="5223053" y="4526280"/>
            <a:ext cx="1742846" cy="868680"/>
          </a:xfrm>
          <a:prstGeom prst="rect">
            <a:avLst/>
          </a:prstGeom>
          <a:noFill/>
          <a:ln/>
        </p:spPr>
        <p:txBody>
          <a:bodyPr wrap="square" lIns="0" tIns="0" rIns="0" bIns="0" rtlCol="0" anchor="ctr"/>
          <a:lstStyle/>
          <a:p>
            <a:pPr algn="ctr" indent="0" marL="0">
              <a:buNone/>
            </a:pPr>
            <a:r>
              <a:rPr lang="en-US" sz="1400" b="1" dirty="0">
                <a:solidFill>
                  <a:schemeClr val="tx1"/>
                </a:solidFill>
              </a:rPr>
              <a:t>Cumulative score (capped at 100)</a:t>
            </a:r>
            <a:endParaRPr lang="en-US" sz="1400" dirty="0"/>
          </a:p>
        </p:txBody>
      </p:sp>
      <p:sp>
        <p:nvSpPr>
          <p:cNvPr id="46" name="Arrow 139"/>
          <p:cNvSpPr/>
          <p:nvPr/>
        </p:nvSpPr>
        <p:spPr>
          <a:xfrm>
            <a:off x="7093915" y="4960620"/>
            <a:ext cx="292608" cy="0"/>
          </a:xfrm>
          <a:prstGeom prst="line">
            <a:avLst/>
          </a:prstGeom>
          <a:noFill/>
          <a:ln w="19050">
            <a:solidFill>
              <a:schemeClr val="accent2"/>
            </a:solidFill>
            <a:prstDash val="solid"/>
            <a:tailEnd type="triangle"/>
          </a:ln>
        </p:spPr>
      </p:sp>
      <p:sp>
        <p:nvSpPr>
          <p:cNvPr id="47" name="Box 140"/>
          <p:cNvSpPr/>
          <p:nvPr/>
        </p:nvSpPr>
        <p:spPr>
          <a:xfrm>
            <a:off x="7423099" y="4526280"/>
            <a:ext cx="1925726" cy="868680"/>
          </a:xfrm>
          <a:prstGeom prst="roundRect">
            <a:avLst>
              <a:gd name="adj" fmla="val 8421"/>
            </a:avLst>
          </a:prstGeom>
          <a:solidFill>
            <a:schemeClr val="bg2"/>
          </a:solidFill>
          <a:ln w="12700">
            <a:solidFill>
              <a:schemeClr val="accent2"/>
            </a:solidFill>
            <a:prstDash val="solid"/>
          </a:ln>
        </p:spPr>
      </p:sp>
      <p:sp>
        <p:nvSpPr>
          <p:cNvPr id="48" name="Text 37"/>
          <p:cNvSpPr txBox="1"/>
          <p:nvPr/>
        </p:nvSpPr>
        <p:spPr>
          <a:xfrm>
            <a:off x="7514539" y="4526280"/>
            <a:ext cx="1742846" cy="868680"/>
          </a:xfrm>
          <a:prstGeom prst="rect">
            <a:avLst/>
          </a:prstGeom>
          <a:noFill/>
          <a:ln/>
        </p:spPr>
        <p:txBody>
          <a:bodyPr wrap="square" lIns="0" tIns="0" rIns="0" bIns="0" rtlCol="0" anchor="ctr"/>
          <a:lstStyle/>
          <a:p>
            <a:pPr algn="ctr" indent="0" marL="0">
              <a:buNone/>
            </a:pPr>
            <a:r>
              <a:rPr lang="en-US" sz="1400" b="1" dirty="0">
                <a:solidFill>
                  <a:schemeClr val="tx1"/>
                </a:solidFill>
              </a:rPr>
              <a:t>Severity category</a:t>
            </a:r>
            <a:endParaRPr lang="en-US" sz="1400" dirty="0"/>
          </a:p>
        </p:txBody>
      </p:sp>
      <p:sp>
        <p:nvSpPr>
          <p:cNvPr id="49" name="Arrow 141"/>
          <p:cNvSpPr/>
          <p:nvPr/>
        </p:nvSpPr>
        <p:spPr>
          <a:xfrm>
            <a:off x="9385402" y="4960620"/>
            <a:ext cx="292608" cy="0"/>
          </a:xfrm>
          <a:prstGeom prst="line">
            <a:avLst/>
          </a:prstGeom>
          <a:noFill/>
          <a:ln w="19050">
            <a:solidFill>
              <a:schemeClr val="accent2"/>
            </a:solidFill>
            <a:prstDash val="solid"/>
            <a:tailEnd type="triangle"/>
          </a:ln>
        </p:spPr>
      </p:sp>
      <p:sp>
        <p:nvSpPr>
          <p:cNvPr id="50" name="Box 142"/>
          <p:cNvSpPr/>
          <p:nvPr/>
        </p:nvSpPr>
        <p:spPr>
          <a:xfrm>
            <a:off x="9714586" y="4526280"/>
            <a:ext cx="1925726" cy="868680"/>
          </a:xfrm>
          <a:prstGeom prst="roundRect">
            <a:avLst>
              <a:gd name="adj" fmla="val 8421"/>
            </a:avLst>
          </a:prstGeom>
          <a:solidFill>
            <a:schemeClr val="accent1">
              <a:alpha val="35000"/>
            </a:schemeClr>
          </a:solidFill>
          <a:ln w="12700">
            <a:solidFill>
              <a:schemeClr val="accent1"/>
            </a:solidFill>
            <a:prstDash val="solid"/>
          </a:ln>
        </p:spPr>
      </p:sp>
      <p:sp>
        <p:nvSpPr>
          <p:cNvPr id="51" name="Text 40"/>
          <p:cNvSpPr txBox="1"/>
          <p:nvPr/>
        </p:nvSpPr>
        <p:spPr>
          <a:xfrm>
            <a:off x="9806026" y="4526280"/>
            <a:ext cx="1742846" cy="868680"/>
          </a:xfrm>
          <a:prstGeom prst="rect">
            <a:avLst/>
          </a:prstGeom>
          <a:noFill/>
          <a:ln/>
        </p:spPr>
        <p:txBody>
          <a:bodyPr wrap="square" lIns="0" tIns="0" rIns="0" bIns="0" rtlCol="0" anchor="ctr"/>
          <a:lstStyle/>
          <a:p>
            <a:pPr algn="ctr" indent="0" marL="0">
              <a:buNone/>
            </a:pPr>
            <a:r>
              <a:rPr lang="en-US" sz="1400" b="1" dirty="0">
                <a:solidFill>
                  <a:schemeClr val="tx1"/>
                </a:solidFill>
              </a:rPr>
              <a:t>Suggested action</a:t>
            </a:r>
            <a:endParaRPr lang="en-US" sz="1400" dirty="0"/>
          </a:p>
        </p:txBody>
      </p:sp>
      <p:sp>
        <p:nvSpPr>
          <p:cNvPr id="52" name="Prototype notice"/>
          <p:cNvSpPr/>
          <p:nvPr/>
        </p:nvSpPr>
        <p:spPr>
          <a:xfrm>
            <a:off x="548640" y="5596128"/>
            <a:ext cx="11091672" cy="640080"/>
          </a:xfrm>
          <a:prstGeom prst="roundRect">
            <a:avLst>
              <a:gd name="adj" fmla="val 14286"/>
            </a:avLst>
          </a:prstGeom>
          <a:solidFill>
            <a:schemeClr val="accent4">
              <a:alpha val="12000"/>
            </a:schemeClr>
          </a:solidFill>
          <a:ln w="12700">
            <a:solidFill>
              <a:schemeClr val="accent4"/>
            </a:solidFill>
            <a:prstDash val="solid"/>
          </a:ln>
        </p:spPr>
      </p:sp>
      <p:sp>
        <p:nvSpPr>
          <p:cNvPr id="53" name="Icon badge 143"/>
          <p:cNvSpPr/>
          <p:nvPr/>
        </p:nvSpPr>
        <p:spPr>
          <a:xfrm>
            <a:off x="731520" y="5687568"/>
            <a:ext cx="457200" cy="457200"/>
          </a:xfrm>
          <a:prstGeom prst="ellipse">
            <a:avLst/>
          </a:prstGeom>
          <a:solidFill>
            <a:schemeClr val="accent4">
              <a:alpha val="22000"/>
            </a:schemeClr>
          </a:solidFill>
          <a:ln w="9525">
            <a:solidFill>
              <a:schemeClr val="accent4"/>
            </a:solidFill>
            <a:prstDash val="solid"/>
          </a:ln>
        </p:spPr>
      </p:sp>
      <p:pic>
        <p:nvPicPr>
          <p:cNvPr id="54" name="Image 8" descr="ExclamationTriangle icon">    </p:cNvPr>
          <p:cNvPicPr>
            <a:picLocks noChangeAspect="1"/>
          </p:cNvPicPr>
          <p:nvPr/>
        </p:nvPicPr>
        <p:blipFill>
          <a:blip r:embed="rId9"/>
          <a:stretch>
            <a:fillRect/>
          </a:stretch>
        </p:blipFill>
        <p:spPr>
          <a:xfrm>
            <a:off x="845820" y="5801868"/>
            <a:ext cx="228600" cy="228600"/>
          </a:xfrm>
          <a:prstGeom prst="rect">
            <a:avLst/>
          </a:prstGeom>
        </p:spPr>
      </p:pic>
      <p:sp>
        <p:nvSpPr>
          <p:cNvPr id="55" name="Text 43"/>
          <p:cNvSpPr txBox="1"/>
          <p:nvPr/>
        </p:nvSpPr>
        <p:spPr>
          <a:xfrm>
            <a:off x="1371600" y="5596128"/>
            <a:ext cx="10058400" cy="640080"/>
          </a:xfrm>
          <a:prstGeom prst="rect">
            <a:avLst/>
          </a:prstGeom>
          <a:noFill/>
          <a:ln/>
        </p:spPr>
        <p:txBody>
          <a:bodyPr wrap="square" lIns="0" tIns="0" rIns="0" bIns="0" rtlCol="0" anchor="ctr"/>
          <a:lstStyle/>
          <a:p>
            <a:pPr indent="0" marL="0">
              <a:buNone/>
            </a:pPr>
            <a:r>
              <a:rPr lang="en-US" sz="1400" dirty="0">
                <a:solidFill>
                  <a:schemeClr val="tx1"/>
                </a:solidFill>
              </a:rPr>
              <a:t>Prototype heuristics only: exact weights and thresholds are not specified here, and the rules are not clinically validated.</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SMART AMBULANCE AND HOSPITAL ALLOCATION</a:t>
            </a:r>
            <a:endParaRPr lang="en-US" sz="3200" dirty="0"/>
          </a:p>
        </p:txBody>
      </p:sp>
      <p:sp>
        <p:nvSpPr>
          <p:cNvPr id="4" name="Ambulance recommendation panel"/>
          <p:cNvSpPr/>
          <p:nvPr/>
        </p:nvSpPr>
        <p:spPr>
          <a:xfrm>
            <a:off x="548640" y="1280160"/>
            <a:ext cx="5394960" cy="4343400"/>
          </a:xfrm>
          <a:prstGeom prst="roundRect">
            <a:avLst>
              <a:gd name="adj" fmla="val 2105"/>
            </a:avLst>
          </a:prstGeom>
          <a:solidFill>
            <a:schemeClr val="bg2"/>
          </a:solidFill>
          <a:ln w="15875">
            <a:solidFill>
              <a:schemeClr val="accent2"/>
            </a:solidFill>
            <a:prstDash val="solid"/>
          </a:ln>
        </p:spPr>
      </p:sp>
      <p:sp>
        <p:nvSpPr>
          <p:cNvPr id="5" name="Icon badge 144"/>
          <p:cNvSpPr/>
          <p:nvPr/>
        </p:nvSpPr>
        <p:spPr>
          <a:xfrm>
            <a:off x="777240" y="1463040"/>
            <a:ext cx="548640" cy="548640"/>
          </a:xfrm>
          <a:prstGeom prst="ellipse">
            <a:avLst/>
          </a:prstGeom>
          <a:solidFill>
            <a:schemeClr val="accent2">
              <a:alpha val="22000"/>
            </a:schemeClr>
          </a:solidFill>
          <a:ln w="9525">
            <a:solidFill>
              <a:schemeClr val="accent2"/>
            </a:solidFill>
            <a:prstDash val="solid"/>
          </a:ln>
        </p:spPr>
      </p:sp>
      <p:pic>
        <p:nvPicPr>
          <p:cNvPr id="6" name="Image 0" descr="Ambulance icon">    </p:cNvPr>
          <p:cNvPicPr>
            <a:picLocks noChangeAspect="1"/>
          </p:cNvPicPr>
          <p:nvPr/>
        </p:nvPicPr>
        <p:blipFill>
          <a:blip r:embed="rId1"/>
          <a:stretch>
            <a:fillRect/>
          </a:stretch>
        </p:blipFill>
        <p:spPr>
          <a:xfrm>
            <a:off x="914400" y="1600200"/>
            <a:ext cx="274320" cy="274320"/>
          </a:xfrm>
          <a:prstGeom prst="rect">
            <a:avLst/>
          </a:prstGeom>
        </p:spPr>
      </p:pic>
      <p:sp>
        <p:nvSpPr>
          <p:cNvPr id="7" name="Text 3"/>
          <p:cNvSpPr txBox="1"/>
          <p:nvPr/>
        </p:nvSpPr>
        <p:spPr>
          <a:xfrm>
            <a:off x="1508760" y="1463040"/>
            <a:ext cx="4206240" cy="548640"/>
          </a:xfrm>
          <a:prstGeom prst="rect">
            <a:avLst/>
          </a:prstGeom>
          <a:noFill/>
          <a:ln/>
        </p:spPr>
        <p:txBody>
          <a:bodyPr wrap="square" lIns="0" tIns="0" rIns="0" bIns="0" rtlCol="0" anchor="ctr"/>
          <a:lstStyle/>
          <a:p>
            <a:pPr indent="0" marL="0">
              <a:buNone/>
            </a:pPr>
            <a:r>
              <a:rPr lang="en-US" sz="2000" b="1" dirty="0">
                <a:solidFill>
                  <a:schemeClr val="accent2"/>
                </a:solidFill>
              </a:rPr>
              <a:t>Ambulance recommendation</a:t>
            </a:r>
            <a:endParaRPr lang="en-US" sz="2000" dirty="0"/>
          </a:p>
        </p:txBody>
      </p:sp>
      <p:sp>
        <p:nvSpPr>
          <p:cNvPr id="8" name="Card 145"/>
          <p:cNvSpPr/>
          <p:nvPr/>
        </p:nvSpPr>
        <p:spPr>
          <a:xfrm>
            <a:off x="777240" y="2103120"/>
            <a:ext cx="4937760" cy="512064"/>
          </a:xfrm>
          <a:prstGeom prst="roundRect">
            <a:avLst>
              <a:gd name="adj" fmla="val 14286"/>
            </a:avLst>
          </a:prstGeom>
          <a:solidFill>
            <a:schemeClr val="bg1"/>
          </a:solidFill>
          <a:ln w="9525">
            <a:solidFill>
              <a:schemeClr val="accent6"/>
            </a:solidFill>
            <a:prstDash val="solid"/>
          </a:ln>
        </p:spPr>
      </p:sp>
      <p:sp>
        <p:nvSpPr>
          <p:cNvPr id="9" name="Icon badge 146"/>
          <p:cNvSpPr/>
          <p:nvPr/>
        </p:nvSpPr>
        <p:spPr>
          <a:xfrm>
            <a:off x="868680" y="2176272"/>
            <a:ext cx="365760" cy="365760"/>
          </a:xfrm>
          <a:prstGeom prst="ellipse">
            <a:avLst/>
          </a:prstGeom>
          <a:solidFill>
            <a:schemeClr val="accent2">
              <a:alpha val="22000"/>
            </a:schemeClr>
          </a:solidFill>
          <a:ln w="9525">
            <a:solidFill>
              <a:schemeClr val="accent2"/>
            </a:solidFill>
            <a:prstDash val="solid"/>
          </a:ln>
        </p:spPr>
      </p:sp>
      <p:pic>
        <p:nvPicPr>
          <p:cNvPr id="10" name="Image 1" descr="CheckCircle icon">    </p:cNvPr>
          <p:cNvPicPr>
            <a:picLocks noChangeAspect="1"/>
          </p:cNvPicPr>
          <p:nvPr/>
        </p:nvPicPr>
        <p:blipFill>
          <a:blip r:embed="rId2"/>
          <a:stretch>
            <a:fillRect/>
          </a:stretch>
        </p:blipFill>
        <p:spPr>
          <a:xfrm>
            <a:off x="960120" y="2267712"/>
            <a:ext cx="182880" cy="182880"/>
          </a:xfrm>
          <a:prstGeom prst="rect">
            <a:avLst/>
          </a:prstGeom>
        </p:spPr>
      </p:pic>
      <p:sp>
        <p:nvSpPr>
          <p:cNvPr id="11" name="Text 6"/>
          <p:cNvSpPr txBox="1"/>
          <p:nvPr/>
        </p:nvSpPr>
        <p:spPr>
          <a:xfrm>
            <a:off x="1417320" y="2103120"/>
            <a:ext cx="4206240" cy="512064"/>
          </a:xfrm>
          <a:prstGeom prst="rect">
            <a:avLst/>
          </a:prstGeom>
          <a:noFill/>
          <a:ln/>
        </p:spPr>
        <p:txBody>
          <a:bodyPr wrap="square" lIns="0" tIns="0" rIns="0" bIns="0" rtlCol="0" anchor="ctr"/>
          <a:lstStyle/>
          <a:p>
            <a:pPr indent="0" marL="0">
              <a:buNone/>
            </a:pPr>
            <a:r>
              <a:rPr lang="en-US" sz="1500" dirty="0">
                <a:solidFill>
                  <a:schemeClr val="tx1"/>
                </a:solidFill>
              </a:rPr>
              <a:t>Availability</a:t>
            </a:r>
            <a:endParaRPr lang="en-US" sz="1500" dirty="0"/>
          </a:p>
        </p:txBody>
      </p:sp>
      <p:sp>
        <p:nvSpPr>
          <p:cNvPr id="12" name="Card 147"/>
          <p:cNvSpPr/>
          <p:nvPr/>
        </p:nvSpPr>
        <p:spPr>
          <a:xfrm>
            <a:off x="777240" y="2688336"/>
            <a:ext cx="4937760" cy="512064"/>
          </a:xfrm>
          <a:prstGeom prst="roundRect">
            <a:avLst>
              <a:gd name="adj" fmla="val 14286"/>
            </a:avLst>
          </a:prstGeom>
          <a:solidFill>
            <a:schemeClr val="bg1"/>
          </a:solidFill>
          <a:ln w="9525">
            <a:solidFill>
              <a:schemeClr val="accent6"/>
            </a:solidFill>
            <a:prstDash val="solid"/>
          </a:ln>
        </p:spPr>
      </p:sp>
      <p:sp>
        <p:nvSpPr>
          <p:cNvPr id="13" name="Icon badge 148"/>
          <p:cNvSpPr/>
          <p:nvPr/>
        </p:nvSpPr>
        <p:spPr>
          <a:xfrm>
            <a:off x="868680" y="2761488"/>
            <a:ext cx="365760" cy="365760"/>
          </a:xfrm>
          <a:prstGeom prst="ellipse">
            <a:avLst/>
          </a:prstGeom>
          <a:solidFill>
            <a:schemeClr val="accent2">
              <a:alpha val="22000"/>
            </a:schemeClr>
          </a:solidFill>
          <a:ln w="9525">
            <a:solidFill>
              <a:schemeClr val="accent2"/>
            </a:solidFill>
            <a:prstDash val="solid"/>
          </a:ln>
        </p:spPr>
      </p:sp>
      <p:pic>
        <p:nvPicPr>
          <p:cNvPr id="14" name="Image 2" descr="Route icon">    </p:cNvPr>
          <p:cNvPicPr>
            <a:picLocks noChangeAspect="1"/>
          </p:cNvPicPr>
          <p:nvPr/>
        </p:nvPicPr>
        <p:blipFill>
          <a:blip r:embed="rId3"/>
          <a:stretch>
            <a:fillRect/>
          </a:stretch>
        </p:blipFill>
        <p:spPr>
          <a:xfrm>
            <a:off x="960120" y="2852928"/>
            <a:ext cx="182880" cy="182880"/>
          </a:xfrm>
          <a:prstGeom prst="rect">
            <a:avLst/>
          </a:prstGeom>
        </p:spPr>
      </p:pic>
      <p:sp>
        <p:nvSpPr>
          <p:cNvPr id="15" name="Text 9"/>
          <p:cNvSpPr txBox="1"/>
          <p:nvPr/>
        </p:nvSpPr>
        <p:spPr>
          <a:xfrm>
            <a:off x="1417320" y="2688336"/>
            <a:ext cx="4206240" cy="512064"/>
          </a:xfrm>
          <a:prstGeom prst="rect">
            <a:avLst/>
          </a:prstGeom>
          <a:noFill/>
          <a:ln/>
        </p:spPr>
        <p:txBody>
          <a:bodyPr wrap="square" lIns="0" tIns="0" rIns="0" bIns="0" rtlCol="0" anchor="ctr"/>
          <a:lstStyle/>
          <a:p>
            <a:pPr indent="0" marL="0">
              <a:buNone/>
            </a:pPr>
            <a:r>
              <a:rPr lang="en-US" sz="1500" dirty="0">
                <a:solidFill>
                  <a:schemeClr val="tx1"/>
                </a:solidFill>
              </a:rPr>
              <a:t>Estimated distance</a:t>
            </a:r>
            <a:endParaRPr lang="en-US" sz="1500" dirty="0"/>
          </a:p>
        </p:txBody>
      </p:sp>
      <p:sp>
        <p:nvSpPr>
          <p:cNvPr id="16" name="Card 149"/>
          <p:cNvSpPr/>
          <p:nvPr/>
        </p:nvSpPr>
        <p:spPr>
          <a:xfrm>
            <a:off x="777240" y="3273552"/>
            <a:ext cx="4937760" cy="512064"/>
          </a:xfrm>
          <a:prstGeom prst="roundRect">
            <a:avLst>
              <a:gd name="adj" fmla="val 14286"/>
            </a:avLst>
          </a:prstGeom>
          <a:solidFill>
            <a:schemeClr val="bg1"/>
          </a:solidFill>
          <a:ln w="9525">
            <a:solidFill>
              <a:schemeClr val="accent6"/>
            </a:solidFill>
            <a:prstDash val="solid"/>
          </a:ln>
        </p:spPr>
      </p:sp>
      <p:sp>
        <p:nvSpPr>
          <p:cNvPr id="17" name="Icon badge 150"/>
          <p:cNvSpPr/>
          <p:nvPr/>
        </p:nvSpPr>
        <p:spPr>
          <a:xfrm>
            <a:off x="868680" y="3346704"/>
            <a:ext cx="365760" cy="365760"/>
          </a:xfrm>
          <a:prstGeom prst="ellipse">
            <a:avLst/>
          </a:prstGeom>
          <a:solidFill>
            <a:schemeClr val="accent2">
              <a:alpha val="22000"/>
            </a:schemeClr>
          </a:solidFill>
          <a:ln w="9525">
            <a:solidFill>
              <a:schemeClr val="accent2"/>
            </a:solidFill>
            <a:prstDash val="solid"/>
          </a:ln>
        </p:spPr>
      </p:sp>
      <p:pic>
        <p:nvPicPr>
          <p:cNvPr id="18" name="Image 3" descr="Clock icon">    </p:cNvPr>
          <p:cNvPicPr>
            <a:picLocks noChangeAspect="1"/>
          </p:cNvPicPr>
          <p:nvPr/>
        </p:nvPicPr>
        <p:blipFill>
          <a:blip r:embed="rId4"/>
          <a:stretch>
            <a:fillRect/>
          </a:stretch>
        </p:blipFill>
        <p:spPr>
          <a:xfrm>
            <a:off x="960120" y="3438144"/>
            <a:ext cx="182880" cy="182880"/>
          </a:xfrm>
          <a:prstGeom prst="rect">
            <a:avLst/>
          </a:prstGeom>
        </p:spPr>
      </p:pic>
      <p:sp>
        <p:nvSpPr>
          <p:cNvPr id="19" name="Text 12"/>
          <p:cNvSpPr txBox="1"/>
          <p:nvPr/>
        </p:nvSpPr>
        <p:spPr>
          <a:xfrm>
            <a:off x="1417320" y="3273552"/>
            <a:ext cx="4206240" cy="512064"/>
          </a:xfrm>
          <a:prstGeom prst="rect">
            <a:avLst/>
          </a:prstGeom>
          <a:noFill/>
          <a:ln/>
        </p:spPr>
        <p:txBody>
          <a:bodyPr wrap="square" lIns="0" tIns="0" rIns="0" bIns="0" rtlCol="0" anchor="ctr"/>
          <a:lstStyle/>
          <a:p>
            <a:pPr indent="0" marL="0">
              <a:buNone/>
            </a:pPr>
            <a:r>
              <a:rPr lang="en-US" sz="1500" dirty="0">
                <a:solidFill>
                  <a:schemeClr val="tx1"/>
                </a:solidFill>
              </a:rPr>
              <a:t>Likely travel time</a:t>
            </a:r>
            <a:endParaRPr lang="en-US" sz="1500" dirty="0"/>
          </a:p>
        </p:txBody>
      </p:sp>
      <p:sp>
        <p:nvSpPr>
          <p:cNvPr id="20" name="Card 151"/>
          <p:cNvSpPr/>
          <p:nvPr/>
        </p:nvSpPr>
        <p:spPr>
          <a:xfrm>
            <a:off x="777240" y="3858768"/>
            <a:ext cx="4937760" cy="512064"/>
          </a:xfrm>
          <a:prstGeom prst="roundRect">
            <a:avLst>
              <a:gd name="adj" fmla="val 14286"/>
            </a:avLst>
          </a:prstGeom>
          <a:solidFill>
            <a:schemeClr val="bg1"/>
          </a:solidFill>
          <a:ln w="9525">
            <a:solidFill>
              <a:schemeClr val="accent6"/>
            </a:solidFill>
            <a:prstDash val="solid"/>
          </a:ln>
        </p:spPr>
      </p:sp>
      <p:sp>
        <p:nvSpPr>
          <p:cNvPr id="21" name="Icon badge 152"/>
          <p:cNvSpPr/>
          <p:nvPr/>
        </p:nvSpPr>
        <p:spPr>
          <a:xfrm>
            <a:off x="868680" y="3931920"/>
            <a:ext cx="365760" cy="365760"/>
          </a:xfrm>
          <a:prstGeom prst="ellipse">
            <a:avLst/>
          </a:prstGeom>
          <a:solidFill>
            <a:schemeClr val="accent2">
              <a:alpha val="22000"/>
            </a:schemeClr>
          </a:solidFill>
          <a:ln w="9525">
            <a:solidFill>
              <a:schemeClr val="accent2"/>
            </a:solidFill>
            <a:prstDash val="solid"/>
          </a:ln>
        </p:spPr>
      </p:sp>
      <p:pic>
        <p:nvPicPr>
          <p:cNvPr id="22" name="Image 4" descr="ExclamationTriangle icon">    </p:cNvPr>
          <p:cNvPicPr>
            <a:picLocks noChangeAspect="1"/>
          </p:cNvPicPr>
          <p:nvPr/>
        </p:nvPicPr>
        <p:blipFill>
          <a:blip r:embed="rId5"/>
          <a:stretch>
            <a:fillRect/>
          </a:stretch>
        </p:blipFill>
        <p:spPr>
          <a:xfrm>
            <a:off x="960120" y="4023360"/>
            <a:ext cx="182880" cy="182880"/>
          </a:xfrm>
          <a:prstGeom prst="rect">
            <a:avLst/>
          </a:prstGeom>
        </p:spPr>
      </p:pic>
      <p:sp>
        <p:nvSpPr>
          <p:cNvPr id="23" name="Text 15"/>
          <p:cNvSpPr txBox="1"/>
          <p:nvPr/>
        </p:nvSpPr>
        <p:spPr>
          <a:xfrm>
            <a:off x="1417320" y="3858768"/>
            <a:ext cx="4206240" cy="512064"/>
          </a:xfrm>
          <a:prstGeom prst="rect">
            <a:avLst/>
          </a:prstGeom>
          <a:noFill/>
          <a:ln/>
        </p:spPr>
        <p:txBody>
          <a:bodyPr wrap="square" lIns="0" tIns="0" rIns="0" bIns="0" rtlCol="0" anchor="ctr"/>
          <a:lstStyle/>
          <a:p>
            <a:pPr indent="0" marL="0">
              <a:buNone/>
            </a:pPr>
            <a:r>
              <a:rPr lang="en-US" sz="1500" dirty="0">
                <a:solidFill>
                  <a:schemeClr val="tx1"/>
                </a:solidFill>
              </a:rPr>
              <a:t>Case urgency</a:t>
            </a:r>
            <a:endParaRPr lang="en-US" sz="1500" dirty="0"/>
          </a:p>
        </p:txBody>
      </p:sp>
      <p:sp>
        <p:nvSpPr>
          <p:cNvPr id="24" name="Text 16"/>
          <p:cNvSpPr txBox="1"/>
          <p:nvPr/>
        </p:nvSpPr>
        <p:spPr>
          <a:xfrm>
            <a:off x="777240" y="5120640"/>
            <a:ext cx="4937760" cy="365760"/>
          </a:xfrm>
          <a:prstGeom prst="rect">
            <a:avLst/>
          </a:prstGeom>
          <a:noFill/>
          <a:ln/>
        </p:spPr>
        <p:txBody>
          <a:bodyPr wrap="square" lIns="0" tIns="0" rIns="0" bIns="0" rtlCol="0" anchor="ctr"/>
          <a:lstStyle/>
          <a:p>
            <a:pPr indent="0" marL="0">
              <a:buNone/>
            </a:pPr>
            <a:r>
              <a:rPr lang="en-US" sz="1400" i="1" dirty="0">
                <a:solidFill>
                  <a:schemeClr val="tx2"/>
                </a:solidFill>
              </a:rPr>
              <a:t>Output: a suggested ambulance</a:t>
            </a:r>
            <a:endParaRPr lang="en-US" sz="1400" dirty="0"/>
          </a:p>
        </p:txBody>
      </p:sp>
      <p:sp>
        <p:nvSpPr>
          <p:cNvPr id="25" name="Hospital recommendation panel"/>
          <p:cNvSpPr/>
          <p:nvPr/>
        </p:nvSpPr>
        <p:spPr>
          <a:xfrm>
            <a:off x="6245352" y="1280160"/>
            <a:ext cx="5394960" cy="4343400"/>
          </a:xfrm>
          <a:prstGeom prst="roundRect">
            <a:avLst>
              <a:gd name="adj" fmla="val 2105"/>
            </a:avLst>
          </a:prstGeom>
          <a:solidFill>
            <a:schemeClr val="bg2"/>
          </a:solidFill>
          <a:ln w="15875">
            <a:solidFill>
              <a:schemeClr val="accent1"/>
            </a:solidFill>
            <a:prstDash val="solid"/>
          </a:ln>
        </p:spPr>
      </p:sp>
      <p:sp>
        <p:nvSpPr>
          <p:cNvPr id="26" name="Icon badge 153"/>
          <p:cNvSpPr/>
          <p:nvPr/>
        </p:nvSpPr>
        <p:spPr>
          <a:xfrm>
            <a:off x="6473952" y="1463040"/>
            <a:ext cx="548640" cy="548640"/>
          </a:xfrm>
          <a:prstGeom prst="ellipse">
            <a:avLst/>
          </a:prstGeom>
          <a:solidFill>
            <a:schemeClr val="accent1">
              <a:alpha val="22000"/>
            </a:schemeClr>
          </a:solidFill>
          <a:ln w="9525">
            <a:solidFill>
              <a:schemeClr val="accent1"/>
            </a:solidFill>
            <a:prstDash val="solid"/>
          </a:ln>
        </p:spPr>
      </p:sp>
      <p:pic>
        <p:nvPicPr>
          <p:cNvPr id="27" name="Image 5" descr="Hospital icon">    </p:cNvPr>
          <p:cNvPicPr>
            <a:picLocks noChangeAspect="1"/>
          </p:cNvPicPr>
          <p:nvPr/>
        </p:nvPicPr>
        <p:blipFill>
          <a:blip r:embed="rId6"/>
          <a:stretch>
            <a:fillRect/>
          </a:stretch>
        </p:blipFill>
        <p:spPr>
          <a:xfrm>
            <a:off x="6611112" y="1600200"/>
            <a:ext cx="274320" cy="274320"/>
          </a:xfrm>
          <a:prstGeom prst="rect">
            <a:avLst/>
          </a:prstGeom>
        </p:spPr>
      </p:pic>
      <p:sp>
        <p:nvSpPr>
          <p:cNvPr id="28" name="Text 19"/>
          <p:cNvSpPr txBox="1"/>
          <p:nvPr/>
        </p:nvSpPr>
        <p:spPr>
          <a:xfrm>
            <a:off x="7205472" y="1463040"/>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Hospital recommendation</a:t>
            </a:r>
            <a:endParaRPr lang="en-US" sz="2000" dirty="0"/>
          </a:p>
        </p:txBody>
      </p:sp>
      <p:sp>
        <p:nvSpPr>
          <p:cNvPr id="29" name="Card 154"/>
          <p:cNvSpPr/>
          <p:nvPr/>
        </p:nvSpPr>
        <p:spPr>
          <a:xfrm>
            <a:off x="6473952" y="2103120"/>
            <a:ext cx="4937760" cy="512064"/>
          </a:xfrm>
          <a:prstGeom prst="roundRect">
            <a:avLst>
              <a:gd name="adj" fmla="val 14286"/>
            </a:avLst>
          </a:prstGeom>
          <a:solidFill>
            <a:schemeClr val="bg1"/>
          </a:solidFill>
          <a:ln w="9525">
            <a:solidFill>
              <a:schemeClr val="accent6"/>
            </a:solidFill>
            <a:prstDash val="solid"/>
          </a:ln>
        </p:spPr>
      </p:sp>
      <p:sp>
        <p:nvSpPr>
          <p:cNvPr id="30" name="Icon badge 155"/>
          <p:cNvSpPr/>
          <p:nvPr/>
        </p:nvSpPr>
        <p:spPr>
          <a:xfrm>
            <a:off x="6565392" y="2176272"/>
            <a:ext cx="365760" cy="365760"/>
          </a:xfrm>
          <a:prstGeom prst="ellipse">
            <a:avLst/>
          </a:prstGeom>
          <a:solidFill>
            <a:schemeClr val="accent1">
              <a:alpha val="22000"/>
            </a:schemeClr>
          </a:solidFill>
          <a:ln w="9525">
            <a:solidFill>
              <a:schemeClr val="accent1"/>
            </a:solidFill>
            <a:prstDash val="solid"/>
          </a:ln>
        </p:spPr>
      </p:sp>
      <p:pic>
        <p:nvPicPr>
          <p:cNvPr id="31" name="Image 6" descr="Bed icon">    </p:cNvPr>
          <p:cNvPicPr>
            <a:picLocks noChangeAspect="1"/>
          </p:cNvPicPr>
          <p:nvPr/>
        </p:nvPicPr>
        <p:blipFill>
          <a:blip r:embed="rId7"/>
          <a:stretch>
            <a:fillRect/>
          </a:stretch>
        </p:blipFill>
        <p:spPr>
          <a:xfrm>
            <a:off x="6656832" y="2267712"/>
            <a:ext cx="182880" cy="182880"/>
          </a:xfrm>
          <a:prstGeom prst="rect">
            <a:avLst/>
          </a:prstGeom>
        </p:spPr>
      </p:pic>
      <p:sp>
        <p:nvSpPr>
          <p:cNvPr id="32" name="Text 22"/>
          <p:cNvSpPr txBox="1"/>
          <p:nvPr/>
        </p:nvSpPr>
        <p:spPr>
          <a:xfrm>
            <a:off x="7114032" y="2103120"/>
            <a:ext cx="4206240" cy="512064"/>
          </a:xfrm>
          <a:prstGeom prst="rect">
            <a:avLst/>
          </a:prstGeom>
          <a:noFill/>
          <a:ln/>
        </p:spPr>
        <p:txBody>
          <a:bodyPr wrap="square" lIns="0" tIns="0" rIns="0" bIns="0" rtlCol="0" anchor="ctr"/>
          <a:lstStyle/>
          <a:p>
            <a:pPr indent="0" marL="0">
              <a:buNone/>
            </a:pPr>
            <a:r>
              <a:rPr lang="en-US" sz="1500" dirty="0">
                <a:solidFill>
                  <a:schemeClr val="tx1"/>
                </a:solidFill>
              </a:rPr>
              <a:t>ICU and emergency capacity</a:t>
            </a:r>
            <a:endParaRPr lang="en-US" sz="1500" dirty="0"/>
          </a:p>
        </p:txBody>
      </p:sp>
      <p:sp>
        <p:nvSpPr>
          <p:cNvPr id="33" name="Card 156"/>
          <p:cNvSpPr/>
          <p:nvPr/>
        </p:nvSpPr>
        <p:spPr>
          <a:xfrm>
            <a:off x="6473952" y="2688336"/>
            <a:ext cx="4937760" cy="512064"/>
          </a:xfrm>
          <a:prstGeom prst="roundRect">
            <a:avLst>
              <a:gd name="adj" fmla="val 14286"/>
            </a:avLst>
          </a:prstGeom>
          <a:solidFill>
            <a:schemeClr val="bg1"/>
          </a:solidFill>
          <a:ln w="9525">
            <a:solidFill>
              <a:schemeClr val="accent6"/>
            </a:solidFill>
            <a:prstDash val="solid"/>
          </a:ln>
        </p:spPr>
      </p:sp>
      <p:sp>
        <p:nvSpPr>
          <p:cNvPr id="34" name="Icon badge 157"/>
          <p:cNvSpPr/>
          <p:nvPr/>
        </p:nvSpPr>
        <p:spPr>
          <a:xfrm>
            <a:off x="6565392" y="2761488"/>
            <a:ext cx="365760" cy="365760"/>
          </a:xfrm>
          <a:prstGeom prst="ellipse">
            <a:avLst/>
          </a:prstGeom>
          <a:solidFill>
            <a:schemeClr val="accent1">
              <a:alpha val="22000"/>
            </a:schemeClr>
          </a:solidFill>
          <a:ln w="9525">
            <a:solidFill>
              <a:schemeClr val="accent1"/>
            </a:solidFill>
            <a:prstDash val="solid"/>
          </a:ln>
        </p:spPr>
      </p:sp>
      <p:pic>
        <p:nvPicPr>
          <p:cNvPr id="35" name="Image 7" descr="Lungs icon">    </p:cNvPr>
          <p:cNvPicPr>
            <a:picLocks noChangeAspect="1"/>
          </p:cNvPicPr>
          <p:nvPr/>
        </p:nvPicPr>
        <p:blipFill>
          <a:blip r:embed="rId8"/>
          <a:stretch>
            <a:fillRect/>
          </a:stretch>
        </p:blipFill>
        <p:spPr>
          <a:xfrm>
            <a:off x="6656832" y="2852928"/>
            <a:ext cx="182880" cy="182880"/>
          </a:xfrm>
          <a:prstGeom prst="rect">
            <a:avLst/>
          </a:prstGeom>
        </p:spPr>
      </p:pic>
      <p:sp>
        <p:nvSpPr>
          <p:cNvPr id="36" name="Text 25"/>
          <p:cNvSpPr txBox="1"/>
          <p:nvPr/>
        </p:nvSpPr>
        <p:spPr>
          <a:xfrm>
            <a:off x="7114032" y="2688336"/>
            <a:ext cx="4206240" cy="512064"/>
          </a:xfrm>
          <a:prstGeom prst="rect">
            <a:avLst/>
          </a:prstGeom>
          <a:noFill/>
          <a:ln/>
        </p:spPr>
        <p:txBody>
          <a:bodyPr wrap="square" lIns="0" tIns="0" rIns="0" bIns="0" rtlCol="0" anchor="ctr"/>
          <a:lstStyle/>
          <a:p>
            <a:pPr indent="0" marL="0">
              <a:buNone/>
            </a:pPr>
            <a:r>
              <a:rPr lang="en-US" sz="1500" dirty="0">
                <a:solidFill>
                  <a:schemeClr val="tx1"/>
                </a:solidFill>
              </a:rPr>
              <a:t>Ventilator availability</a:t>
            </a:r>
            <a:endParaRPr lang="en-US" sz="1500" dirty="0"/>
          </a:p>
        </p:txBody>
      </p:sp>
      <p:sp>
        <p:nvSpPr>
          <p:cNvPr id="37" name="Card 158"/>
          <p:cNvSpPr/>
          <p:nvPr/>
        </p:nvSpPr>
        <p:spPr>
          <a:xfrm>
            <a:off x="6473952" y="3273552"/>
            <a:ext cx="4937760" cy="512064"/>
          </a:xfrm>
          <a:prstGeom prst="roundRect">
            <a:avLst>
              <a:gd name="adj" fmla="val 14286"/>
            </a:avLst>
          </a:prstGeom>
          <a:solidFill>
            <a:schemeClr val="bg1"/>
          </a:solidFill>
          <a:ln w="9525">
            <a:solidFill>
              <a:schemeClr val="accent6"/>
            </a:solidFill>
            <a:prstDash val="solid"/>
          </a:ln>
        </p:spPr>
      </p:sp>
      <p:sp>
        <p:nvSpPr>
          <p:cNvPr id="38" name="Icon badge 159"/>
          <p:cNvSpPr/>
          <p:nvPr/>
        </p:nvSpPr>
        <p:spPr>
          <a:xfrm>
            <a:off x="6565392" y="3346704"/>
            <a:ext cx="365760" cy="365760"/>
          </a:xfrm>
          <a:prstGeom prst="ellipse">
            <a:avLst/>
          </a:prstGeom>
          <a:solidFill>
            <a:schemeClr val="accent1">
              <a:alpha val="22000"/>
            </a:schemeClr>
          </a:solidFill>
          <a:ln w="9525">
            <a:solidFill>
              <a:schemeClr val="accent1"/>
            </a:solidFill>
            <a:prstDash val="solid"/>
          </a:ln>
        </p:spPr>
      </p:sp>
      <p:pic>
        <p:nvPicPr>
          <p:cNvPr id="39" name="Image 8" descr="UserMd icon">    </p:cNvPr>
          <p:cNvPicPr>
            <a:picLocks noChangeAspect="1"/>
          </p:cNvPicPr>
          <p:nvPr/>
        </p:nvPicPr>
        <p:blipFill>
          <a:blip r:embed="rId9"/>
          <a:stretch>
            <a:fillRect/>
          </a:stretch>
        </p:blipFill>
        <p:spPr>
          <a:xfrm>
            <a:off x="6656832" y="3438144"/>
            <a:ext cx="182880" cy="182880"/>
          </a:xfrm>
          <a:prstGeom prst="rect">
            <a:avLst/>
          </a:prstGeom>
        </p:spPr>
      </p:pic>
      <p:sp>
        <p:nvSpPr>
          <p:cNvPr id="40" name="Text 28"/>
          <p:cNvSpPr txBox="1"/>
          <p:nvPr/>
        </p:nvSpPr>
        <p:spPr>
          <a:xfrm>
            <a:off x="7114032" y="3273552"/>
            <a:ext cx="4206240" cy="512064"/>
          </a:xfrm>
          <a:prstGeom prst="rect">
            <a:avLst/>
          </a:prstGeom>
          <a:noFill/>
          <a:ln/>
        </p:spPr>
        <p:txBody>
          <a:bodyPr wrap="square" lIns="0" tIns="0" rIns="0" bIns="0" rtlCol="0" anchor="ctr"/>
          <a:lstStyle/>
          <a:p>
            <a:pPr indent="0" marL="0">
              <a:buNone/>
            </a:pPr>
            <a:r>
              <a:rPr lang="en-US" sz="1500" dirty="0">
                <a:solidFill>
                  <a:schemeClr val="tx1"/>
                </a:solidFill>
              </a:rPr>
              <a:t>Specialist matching</a:t>
            </a:r>
            <a:endParaRPr lang="en-US" sz="1500" dirty="0"/>
          </a:p>
        </p:txBody>
      </p:sp>
      <p:sp>
        <p:nvSpPr>
          <p:cNvPr id="41" name="Card 160"/>
          <p:cNvSpPr/>
          <p:nvPr/>
        </p:nvSpPr>
        <p:spPr>
          <a:xfrm>
            <a:off x="6473952" y="3858768"/>
            <a:ext cx="4937760" cy="512064"/>
          </a:xfrm>
          <a:prstGeom prst="roundRect">
            <a:avLst>
              <a:gd name="adj" fmla="val 14286"/>
            </a:avLst>
          </a:prstGeom>
          <a:solidFill>
            <a:schemeClr val="bg1"/>
          </a:solidFill>
          <a:ln w="9525">
            <a:solidFill>
              <a:schemeClr val="accent6"/>
            </a:solidFill>
            <a:prstDash val="solid"/>
          </a:ln>
        </p:spPr>
      </p:sp>
      <p:sp>
        <p:nvSpPr>
          <p:cNvPr id="42" name="Icon badge 161"/>
          <p:cNvSpPr/>
          <p:nvPr/>
        </p:nvSpPr>
        <p:spPr>
          <a:xfrm>
            <a:off x="6565392" y="3931920"/>
            <a:ext cx="365760" cy="365760"/>
          </a:xfrm>
          <a:prstGeom prst="ellipse">
            <a:avLst/>
          </a:prstGeom>
          <a:solidFill>
            <a:schemeClr val="accent1">
              <a:alpha val="22000"/>
            </a:schemeClr>
          </a:solidFill>
          <a:ln w="9525">
            <a:solidFill>
              <a:schemeClr val="accent1"/>
            </a:solidFill>
            <a:prstDash val="solid"/>
          </a:ln>
        </p:spPr>
      </p:sp>
      <p:pic>
        <p:nvPicPr>
          <p:cNvPr id="43" name="Image 9" descr="Users icon">    </p:cNvPr>
          <p:cNvPicPr>
            <a:picLocks noChangeAspect="1"/>
          </p:cNvPicPr>
          <p:nvPr/>
        </p:nvPicPr>
        <p:blipFill>
          <a:blip r:embed="rId10"/>
          <a:stretch>
            <a:fillRect/>
          </a:stretch>
        </p:blipFill>
        <p:spPr>
          <a:xfrm>
            <a:off x="6656832" y="4023360"/>
            <a:ext cx="182880" cy="182880"/>
          </a:xfrm>
          <a:prstGeom prst="rect">
            <a:avLst/>
          </a:prstGeom>
        </p:spPr>
      </p:pic>
      <p:sp>
        <p:nvSpPr>
          <p:cNvPr id="44" name="Text 31"/>
          <p:cNvSpPr txBox="1"/>
          <p:nvPr/>
        </p:nvSpPr>
        <p:spPr>
          <a:xfrm>
            <a:off x="7114032" y="3858768"/>
            <a:ext cx="4206240" cy="512064"/>
          </a:xfrm>
          <a:prstGeom prst="rect">
            <a:avLst/>
          </a:prstGeom>
          <a:noFill/>
          <a:ln/>
        </p:spPr>
        <p:txBody>
          <a:bodyPr wrap="square" lIns="0" tIns="0" rIns="0" bIns="0" rtlCol="0" anchor="ctr"/>
          <a:lstStyle/>
          <a:p>
            <a:pPr indent="0" marL="0">
              <a:buNone/>
            </a:pPr>
            <a:r>
              <a:rPr lang="en-US" sz="1500" dirty="0">
                <a:solidFill>
                  <a:schemeClr val="tx1"/>
                </a:solidFill>
              </a:rPr>
              <a:t>Occupancy</a:t>
            </a:r>
            <a:endParaRPr lang="en-US" sz="1500" dirty="0"/>
          </a:p>
        </p:txBody>
      </p:sp>
      <p:sp>
        <p:nvSpPr>
          <p:cNvPr id="45" name="Card 162"/>
          <p:cNvSpPr/>
          <p:nvPr/>
        </p:nvSpPr>
        <p:spPr>
          <a:xfrm>
            <a:off x="6473952" y="4443984"/>
            <a:ext cx="4937760" cy="512064"/>
          </a:xfrm>
          <a:prstGeom prst="roundRect">
            <a:avLst>
              <a:gd name="adj" fmla="val 14286"/>
            </a:avLst>
          </a:prstGeom>
          <a:solidFill>
            <a:schemeClr val="bg1"/>
          </a:solidFill>
          <a:ln w="9525">
            <a:solidFill>
              <a:schemeClr val="accent6"/>
            </a:solidFill>
            <a:prstDash val="solid"/>
          </a:ln>
        </p:spPr>
      </p:sp>
      <p:sp>
        <p:nvSpPr>
          <p:cNvPr id="46" name="Icon badge 163"/>
          <p:cNvSpPr/>
          <p:nvPr/>
        </p:nvSpPr>
        <p:spPr>
          <a:xfrm>
            <a:off x="6565392" y="4517136"/>
            <a:ext cx="365760" cy="365760"/>
          </a:xfrm>
          <a:prstGeom prst="ellipse">
            <a:avLst/>
          </a:prstGeom>
          <a:solidFill>
            <a:schemeClr val="accent1">
              <a:alpha val="22000"/>
            </a:schemeClr>
          </a:solidFill>
          <a:ln w="9525">
            <a:solidFill>
              <a:schemeClr val="accent1"/>
            </a:solidFill>
            <a:prstDash val="solid"/>
          </a:ln>
        </p:spPr>
      </p:sp>
      <p:pic>
        <p:nvPicPr>
          <p:cNvPr id="47" name="Image 10" descr="Route icon">    </p:cNvPr>
          <p:cNvPicPr>
            <a:picLocks noChangeAspect="1"/>
          </p:cNvPicPr>
          <p:nvPr/>
        </p:nvPicPr>
        <p:blipFill>
          <a:blip r:embed="rId11"/>
          <a:stretch>
            <a:fillRect/>
          </a:stretch>
        </p:blipFill>
        <p:spPr>
          <a:xfrm>
            <a:off x="6656832" y="4608576"/>
            <a:ext cx="182880" cy="182880"/>
          </a:xfrm>
          <a:prstGeom prst="rect">
            <a:avLst/>
          </a:prstGeom>
        </p:spPr>
      </p:pic>
      <p:sp>
        <p:nvSpPr>
          <p:cNvPr id="48" name="Text 34"/>
          <p:cNvSpPr txBox="1"/>
          <p:nvPr/>
        </p:nvSpPr>
        <p:spPr>
          <a:xfrm>
            <a:off x="7114032" y="4443984"/>
            <a:ext cx="4206240" cy="512064"/>
          </a:xfrm>
          <a:prstGeom prst="rect">
            <a:avLst/>
          </a:prstGeom>
          <a:noFill/>
          <a:ln/>
        </p:spPr>
        <p:txBody>
          <a:bodyPr wrap="square" lIns="0" tIns="0" rIns="0" bIns="0" rtlCol="0" anchor="ctr"/>
          <a:lstStyle/>
          <a:p>
            <a:pPr indent="0" marL="0">
              <a:buNone/>
            </a:pPr>
            <a:r>
              <a:rPr lang="en-US" sz="1500" dirty="0">
                <a:solidFill>
                  <a:schemeClr val="tx1"/>
                </a:solidFill>
              </a:rPr>
              <a:t>Estimated distance and travel time</a:t>
            </a:r>
            <a:endParaRPr lang="en-US" sz="1500" dirty="0"/>
          </a:p>
        </p:txBody>
      </p:sp>
      <p:sp>
        <p:nvSpPr>
          <p:cNvPr id="49" name="Text 35"/>
          <p:cNvSpPr txBox="1"/>
          <p:nvPr/>
        </p:nvSpPr>
        <p:spPr>
          <a:xfrm>
            <a:off x="6473952" y="5120640"/>
            <a:ext cx="4937760" cy="365760"/>
          </a:xfrm>
          <a:prstGeom prst="rect">
            <a:avLst/>
          </a:prstGeom>
          <a:noFill/>
          <a:ln/>
        </p:spPr>
        <p:txBody>
          <a:bodyPr wrap="square" lIns="0" tIns="0" rIns="0" bIns="0" rtlCol="0" anchor="ctr"/>
          <a:lstStyle/>
          <a:p>
            <a:pPr indent="0" marL="0">
              <a:buNone/>
            </a:pPr>
            <a:r>
              <a:rPr lang="en-US" sz="1400" i="1" dirty="0">
                <a:solidFill>
                  <a:schemeClr val="tx2"/>
                </a:solidFill>
              </a:rPr>
              <a:t>Output: a ranked hospital list</a:t>
            </a:r>
            <a:endParaRPr lang="en-US" sz="1400" dirty="0"/>
          </a:p>
        </p:txBody>
      </p:sp>
      <p:sp>
        <p:nvSpPr>
          <p:cNvPr id="50" name="Data notice"/>
          <p:cNvSpPr/>
          <p:nvPr/>
        </p:nvSpPr>
        <p:spPr>
          <a:xfrm>
            <a:off x="548640" y="5760720"/>
            <a:ext cx="11091672" cy="502920"/>
          </a:xfrm>
          <a:prstGeom prst="roundRect">
            <a:avLst>
              <a:gd name="adj" fmla="val 18182"/>
            </a:avLst>
          </a:prstGeom>
          <a:solidFill>
            <a:schemeClr val="accent4">
              <a:alpha val="12000"/>
            </a:schemeClr>
          </a:solidFill>
          <a:ln w="12700">
            <a:solidFill>
              <a:schemeClr val="accent4"/>
            </a:solidFill>
            <a:prstDash val="solid"/>
          </a:ln>
        </p:spPr>
      </p:sp>
      <p:sp>
        <p:nvSpPr>
          <p:cNvPr id="51" name="Text 37"/>
          <p:cNvSpPr txBox="1"/>
          <p:nvPr/>
        </p:nvSpPr>
        <p:spPr>
          <a:xfrm>
            <a:off x="548640" y="5760720"/>
            <a:ext cx="11091672" cy="502920"/>
          </a:xfrm>
          <a:prstGeom prst="rect">
            <a:avLst/>
          </a:prstGeom>
          <a:noFill/>
          <a:ln/>
        </p:spPr>
        <p:txBody>
          <a:bodyPr wrap="square" lIns="0" tIns="0" rIns="0" bIns="0" rtlCol="0" anchor="ctr"/>
          <a:lstStyle/>
          <a:p>
            <a:pPr algn="ctr" indent="0" marL="0">
              <a:buNone/>
            </a:pPr>
            <a:r>
              <a:rPr lang="en-US" sz="1400" b="1" dirty="0">
                <a:solidFill>
                  <a:schemeClr val="tx1"/>
                </a:solidFill>
              </a:rPr>
              <a:t>Recommendations use prototype data and heuristic ranking – not live operational feeds.</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MAIN MODULES</a:t>
            </a:r>
            <a:endParaRPr lang="en-US" sz="3200" dirty="0"/>
          </a:p>
        </p:txBody>
      </p:sp>
      <p:sp>
        <p:nvSpPr>
          <p:cNvPr id="4" name="Module 1"/>
          <p:cNvSpPr/>
          <p:nvPr/>
        </p:nvSpPr>
        <p:spPr>
          <a:xfrm>
            <a:off x="548640" y="1280160"/>
            <a:ext cx="2587752" cy="2331720"/>
          </a:xfrm>
          <a:prstGeom prst="roundRect">
            <a:avLst>
              <a:gd name="adj" fmla="val 3922"/>
            </a:avLst>
          </a:prstGeom>
          <a:solidFill>
            <a:schemeClr val="bg2"/>
          </a:solidFill>
          <a:ln w="9525">
            <a:solidFill>
              <a:schemeClr val="accent6"/>
            </a:solidFill>
            <a:prstDash val="solid"/>
          </a:ln>
        </p:spPr>
      </p:sp>
      <p:sp>
        <p:nvSpPr>
          <p:cNvPr id="5" name="Icon badge 164"/>
          <p:cNvSpPr/>
          <p:nvPr/>
        </p:nvSpPr>
        <p:spPr>
          <a:xfrm>
            <a:off x="731520" y="1463040"/>
            <a:ext cx="548640" cy="548640"/>
          </a:xfrm>
          <a:prstGeom prst="ellipse">
            <a:avLst/>
          </a:prstGeom>
          <a:solidFill>
            <a:schemeClr val="accent1">
              <a:alpha val="22000"/>
            </a:schemeClr>
          </a:solidFill>
          <a:ln w="9525">
            <a:solidFill>
              <a:schemeClr val="accent1"/>
            </a:solidFill>
            <a:prstDash val="solid"/>
          </a:ln>
        </p:spPr>
      </p:sp>
      <p:pic>
        <p:nvPicPr>
          <p:cNvPr id="6" name="Image 0" descr="ClipboardList icon">    </p:cNvPr>
          <p:cNvPicPr>
            <a:picLocks noChangeAspect="1"/>
          </p:cNvPicPr>
          <p:nvPr/>
        </p:nvPicPr>
        <p:blipFill>
          <a:blip r:embed="rId1"/>
          <a:stretch>
            <a:fillRect/>
          </a:stretch>
        </p:blipFill>
        <p:spPr>
          <a:xfrm>
            <a:off x="868680" y="1600200"/>
            <a:ext cx="274320" cy="274320"/>
          </a:xfrm>
          <a:prstGeom prst="rect">
            <a:avLst/>
          </a:prstGeom>
        </p:spPr>
      </p:pic>
      <p:sp>
        <p:nvSpPr>
          <p:cNvPr id="7" name="Text 3"/>
          <p:cNvSpPr txBox="1"/>
          <p:nvPr/>
        </p:nvSpPr>
        <p:spPr>
          <a:xfrm>
            <a:off x="2587752" y="146304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1</a:t>
            </a:r>
            <a:endParaRPr lang="en-US" sz="1800" dirty="0"/>
          </a:p>
        </p:txBody>
      </p:sp>
      <p:sp>
        <p:nvSpPr>
          <p:cNvPr id="8" name="Text 4"/>
          <p:cNvSpPr txBox="1"/>
          <p:nvPr/>
        </p:nvSpPr>
        <p:spPr>
          <a:xfrm>
            <a:off x="731520" y="2148840"/>
            <a:ext cx="2221992" cy="685800"/>
          </a:xfrm>
          <a:prstGeom prst="rect">
            <a:avLst/>
          </a:prstGeom>
          <a:noFill/>
          <a:ln/>
        </p:spPr>
        <p:txBody>
          <a:bodyPr wrap="square" lIns="0" tIns="0" rIns="0" bIns="0" rtlCol="0" anchor="t"/>
          <a:lstStyle/>
          <a:p>
            <a:pPr indent="0" marL="0">
              <a:buNone/>
            </a:pPr>
            <a:r>
              <a:rPr lang="en-US" sz="1600" b="1" dirty="0">
                <a:solidFill>
                  <a:schemeClr val="tx1"/>
                </a:solidFill>
              </a:rPr>
              <a:t>Emergency Intake and Case Management</a:t>
            </a:r>
            <a:endParaRPr lang="en-US" sz="1600" dirty="0"/>
          </a:p>
        </p:txBody>
      </p:sp>
      <p:sp>
        <p:nvSpPr>
          <p:cNvPr id="9" name="Text 5"/>
          <p:cNvSpPr txBox="1"/>
          <p:nvPr/>
        </p:nvSpPr>
        <p:spPr>
          <a:xfrm>
            <a:off x="731520" y="2880360"/>
            <a:ext cx="2221992" cy="640080"/>
          </a:xfrm>
          <a:prstGeom prst="rect">
            <a:avLst/>
          </a:prstGeom>
          <a:noFill/>
          <a:ln/>
        </p:spPr>
        <p:txBody>
          <a:bodyPr wrap="square" lIns="0" tIns="0" rIns="0" bIns="0" rtlCol="0" anchor="t"/>
          <a:lstStyle/>
          <a:p>
            <a:pPr indent="0" marL="0">
              <a:buNone/>
            </a:pPr>
            <a:r>
              <a:rPr lang="en-US" sz="1400" dirty="0">
                <a:solidFill>
                  <a:schemeClr val="tx2"/>
                </a:solidFill>
              </a:rPr>
              <a:t>Record structured emergency and patient details.</a:t>
            </a:r>
            <a:endParaRPr lang="en-US" sz="1400" dirty="0"/>
          </a:p>
        </p:txBody>
      </p:sp>
      <p:sp>
        <p:nvSpPr>
          <p:cNvPr id="10" name="Module 2"/>
          <p:cNvSpPr/>
          <p:nvPr/>
        </p:nvSpPr>
        <p:spPr>
          <a:xfrm>
            <a:off x="3383280" y="1280160"/>
            <a:ext cx="2587752" cy="2331720"/>
          </a:xfrm>
          <a:prstGeom prst="roundRect">
            <a:avLst>
              <a:gd name="adj" fmla="val 3922"/>
            </a:avLst>
          </a:prstGeom>
          <a:solidFill>
            <a:schemeClr val="bg2"/>
          </a:solidFill>
          <a:ln w="9525">
            <a:solidFill>
              <a:schemeClr val="accent6"/>
            </a:solidFill>
            <a:prstDash val="solid"/>
          </a:ln>
        </p:spPr>
      </p:sp>
      <p:sp>
        <p:nvSpPr>
          <p:cNvPr id="11" name="Icon badge 165"/>
          <p:cNvSpPr/>
          <p:nvPr/>
        </p:nvSpPr>
        <p:spPr>
          <a:xfrm>
            <a:off x="3566160" y="1463040"/>
            <a:ext cx="548640" cy="548640"/>
          </a:xfrm>
          <a:prstGeom prst="ellipse">
            <a:avLst/>
          </a:prstGeom>
          <a:solidFill>
            <a:schemeClr val="accent3">
              <a:alpha val="22000"/>
            </a:schemeClr>
          </a:solidFill>
          <a:ln w="9525">
            <a:solidFill>
              <a:schemeClr val="accent3"/>
            </a:solidFill>
            <a:prstDash val="solid"/>
          </a:ln>
        </p:spPr>
      </p:sp>
      <p:pic>
        <p:nvPicPr>
          <p:cNvPr id="12" name="Image 1" descr="Heartbeat icon">    </p:cNvPr>
          <p:cNvPicPr>
            <a:picLocks noChangeAspect="1"/>
          </p:cNvPicPr>
          <p:nvPr/>
        </p:nvPicPr>
        <p:blipFill>
          <a:blip r:embed="rId2"/>
          <a:stretch>
            <a:fillRect/>
          </a:stretch>
        </p:blipFill>
        <p:spPr>
          <a:xfrm>
            <a:off x="3703320" y="1600200"/>
            <a:ext cx="274320" cy="274320"/>
          </a:xfrm>
          <a:prstGeom prst="rect">
            <a:avLst/>
          </a:prstGeom>
        </p:spPr>
      </p:pic>
      <p:sp>
        <p:nvSpPr>
          <p:cNvPr id="13" name="Text 8"/>
          <p:cNvSpPr txBox="1"/>
          <p:nvPr/>
        </p:nvSpPr>
        <p:spPr>
          <a:xfrm>
            <a:off x="5422392" y="146304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2</a:t>
            </a:r>
            <a:endParaRPr lang="en-US" sz="1800" dirty="0"/>
          </a:p>
        </p:txBody>
      </p:sp>
      <p:sp>
        <p:nvSpPr>
          <p:cNvPr id="14" name="Text 9"/>
          <p:cNvSpPr txBox="1"/>
          <p:nvPr/>
        </p:nvSpPr>
        <p:spPr>
          <a:xfrm>
            <a:off x="3566160" y="2148840"/>
            <a:ext cx="2221992" cy="685800"/>
          </a:xfrm>
          <a:prstGeom prst="rect">
            <a:avLst/>
          </a:prstGeom>
          <a:noFill/>
          <a:ln/>
        </p:spPr>
        <p:txBody>
          <a:bodyPr wrap="square" lIns="0" tIns="0" rIns="0" bIns="0" rtlCol="0" anchor="t"/>
          <a:lstStyle/>
          <a:p>
            <a:pPr indent="0" marL="0">
              <a:buNone/>
            </a:pPr>
            <a:r>
              <a:rPr lang="en-US" sz="1600" b="1" dirty="0">
                <a:solidFill>
                  <a:schemeClr val="tx1"/>
                </a:solidFill>
              </a:rPr>
              <a:t>Rule-Based Severity Analysis</a:t>
            </a:r>
            <a:endParaRPr lang="en-US" sz="1600" dirty="0"/>
          </a:p>
        </p:txBody>
      </p:sp>
      <p:sp>
        <p:nvSpPr>
          <p:cNvPr id="15" name="Text 10"/>
          <p:cNvSpPr txBox="1"/>
          <p:nvPr/>
        </p:nvSpPr>
        <p:spPr>
          <a:xfrm>
            <a:off x="3566160" y="2880360"/>
            <a:ext cx="2221992" cy="640080"/>
          </a:xfrm>
          <a:prstGeom prst="rect">
            <a:avLst/>
          </a:prstGeom>
          <a:noFill/>
          <a:ln/>
        </p:spPr>
        <p:txBody>
          <a:bodyPr wrap="square" lIns="0" tIns="0" rIns="0" bIns="0" rtlCol="0" anchor="t"/>
          <a:lstStyle/>
          <a:p>
            <a:pPr indent="0" marL="0">
              <a:buNone/>
            </a:pPr>
            <a:r>
              <a:rPr lang="en-US" sz="1400" dirty="0">
                <a:solidFill>
                  <a:schemeClr val="tx2"/>
                </a:solidFill>
              </a:rPr>
              <a:t>Score observations and assign a category.</a:t>
            </a:r>
            <a:endParaRPr lang="en-US" sz="1400" dirty="0"/>
          </a:p>
        </p:txBody>
      </p:sp>
      <p:sp>
        <p:nvSpPr>
          <p:cNvPr id="16" name="Module 3"/>
          <p:cNvSpPr/>
          <p:nvPr/>
        </p:nvSpPr>
        <p:spPr>
          <a:xfrm>
            <a:off x="6217920" y="1280160"/>
            <a:ext cx="2587752" cy="2331720"/>
          </a:xfrm>
          <a:prstGeom prst="roundRect">
            <a:avLst>
              <a:gd name="adj" fmla="val 3922"/>
            </a:avLst>
          </a:prstGeom>
          <a:solidFill>
            <a:schemeClr val="bg2"/>
          </a:solidFill>
          <a:ln w="9525">
            <a:solidFill>
              <a:schemeClr val="accent6"/>
            </a:solidFill>
            <a:prstDash val="solid"/>
          </a:ln>
        </p:spPr>
      </p:sp>
      <p:sp>
        <p:nvSpPr>
          <p:cNvPr id="17" name="Icon badge 166"/>
          <p:cNvSpPr/>
          <p:nvPr/>
        </p:nvSpPr>
        <p:spPr>
          <a:xfrm>
            <a:off x="6400800" y="1463040"/>
            <a:ext cx="548640" cy="548640"/>
          </a:xfrm>
          <a:prstGeom prst="ellipse">
            <a:avLst/>
          </a:prstGeom>
          <a:solidFill>
            <a:schemeClr val="accent2">
              <a:alpha val="22000"/>
            </a:schemeClr>
          </a:solidFill>
          <a:ln w="9525">
            <a:solidFill>
              <a:schemeClr val="accent2"/>
            </a:solidFill>
            <a:prstDash val="solid"/>
          </a:ln>
        </p:spPr>
      </p:sp>
      <p:pic>
        <p:nvPicPr>
          <p:cNvPr id="18" name="Image 2" descr="Ambulance icon">    </p:cNvPr>
          <p:cNvPicPr>
            <a:picLocks noChangeAspect="1"/>
          </p:cNvPicPr>
          <p:nvPr/>
        </p:nvPicPr>
        <p:blipFill>
          <a:blip r:embed="rId3"/>
          <a:stretch>
            <a:fillRect/>
          </a:stretch>
        </p:blipFill>
        <p:spPr>
          <a:xfrm>
            <a:off x="6537960" y="1600200"/>
            <a:ext cx="274320" cy="274320"/>
          </a:xfrm>
          <a:prstGeom prst="rect">
            <a:avLst/>
          </a:prstGeom>
        </p:spPr>
      </p:pic>
      <p:sp>
        <p:nvSpPr>
          <p:cNvPr id="19" name="Text 13"/>
          <p:cNvSpPr txBox="1"/>
          <p:nvPr/>
        </p:nvSpPr>
        <p:spPr>
          <a:xfrm>
            <a:off x="8257032" y="146304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3</a:t>
            </a:r>
            <a:endParaRPr lang="en-US" sz="1800" dirty="0"/>
          </a:p>
        </p:txBody>
      </p:sp>
      <p:sp>
        <p:nvSpPr>
          <p:cNvPr id="20" name="Text 14"/>
          <p:cNvSpPr txBox="1"/>
          <p:nvPr/>
        </p:nvSpPr>
        <p:spPr>
          <a:xfrm>
            <a:off x="6400800" y="2148840"/>
            <a:ext cx="2221992" cy="685800"/>
          </a:xfrm>
          <a:prstGeom prst="rect">
            <a:avLst/>
          </a:prstGeom>
          <a:noFill/>
          <a:ln/>
        </p:spPr>
        <p:txBody>
          <a:bodyPr wrap="square" lIns="0" tIns="0" rIns="0" bIns="0" rtlCol="0" anchor="t"/>
          <a:lstStyle/>
          <a:p>
            <a:pPr indent="0" marL="0">
              <a:buNone/>
            </a:pPr>
            <a:r>
              <a:rPr lang="en-US" sz="1600" b="1" dirty="0">
                <a:solidFill>
                  <a:schemeClr val="tx1"/>
                </a:solidFill>
              </a:rPr>
              <a:t>Ambulance Operations</a:t>
            </a:r>
            <a:endParaRPr lang="en-US" sz="1600" dirty="0"/>
          </a:p>
        </p:txBody>
      </p:sp>
      <p:sp>
        <p:nvSpPr>
          <p:cNvPr id="21" name="Text 15"/>
          <p:cNvSpPr txBox="1"/>
          <p:nvPr/>
        </p:nvSpPr>
        <p:spPr>
          <a:xfrm>
            <a:off x="6400800" y="2880360"/>
            <a:ext cx="2221992" cy="640080"/>
          </a:xfrm>
          <a:prstGeom prst="rect">
            <a:avLst/>
          </a:prstGeom>
          <a:noFill/>
          <a:ln/>
        </p:spPr>
        <p:txBody>
          <a:bodyPr wrap="square" lIns="0" tIns="0" rIns="0" bIns="0" rtlCol="0" anchor="t"/>
          <a:lstStyle/>
          <a:p>
            <a:pPr indent="0" marL="0">
              <a:buNone/>
            </a:pPr>
            <a:r>
              <a:rPr lang="en-US" sz="1400" dirty="0">
                <a:solidFill>
                  <a:schemeClr val="tx2"/>
                </a:solidFill>
              </a:rPr>
              <a:t>Track availability and suggest a unit.</a:t>
            </a:r>
            <a:endParaRPr lang="en-US" sz="1400" dirty="0"/>
          </a:p>
        </p:txBody>
      </p:sp>
      <p:sp>
        <p:nvSpPr>
          <p:cNvPr id="22" name="Module 4"/>
          <p:cNvSpPr/>
          <p:nvPr/>
        </p:nvSpPr>
        <p:spPr>
          <a:xfrm>
            <a:off x="9052560" y="1280160"/>
            <a:ext cx="2587752" cy="2331720"/>
          </a:xfrm>
          <a:prstGeom prst="roundRect">
            <a:avLst>
              <a:gd name="adj" fmla="val 3922"/>
            </a:avLst>
          </a:prstGeom>
          <a:solidFill>
            <a:schemeClr val="bg2"/>
          </a:solidFill>
          <a:ln w="9525">
            <a:solidFill>
              <a:schemeClr val="accent6"/>
            </a:solidFill>
            <a:prstDash val="solid"/>
          </a:ln>
        </p:spPr>
      </p:sp>
      <p:sp>
        <p:nvSpPr>
          <p:cNvPr id="23" name="Icon badge 167"/>
          <p:cNvSpPr/>
          <p:nvPr/>
        </p:nvSpPr>
        <p:spPr>
          <a:xfrm>
            <a:off x="9235440" y="1463040"/>
            <a:ext cx="548640" cy="548640"/>
          </a:xfrm>
          <a:prstGeom prst="ellipse">
            <a:avLst/>
          </a:prstGeom>
          <a:solidFill>
            <a:schemeClr val="accent1">
              <a:alpha val="22000"/>
            </a:schemeClr>
          </a:solidFill>
          <a:ln w="9525">
            <a:solidFill>
              <a:schemeClr val="accent1"/>
            </a:solidFill>
            <a:prstDash val="solid"/>
          </a:ln>
        </p:spPr>
      </p:sp>
      <p:pic>
        <p:nvPicPr>
          <p:cNvPr id="24" name="Image 3" descr="Hospital icon">    </p:cNvPr>
          <p:cNvPicPr>
            <a:picLocks noChangeAspect="1"/>
          </p:cNvPicPr>
          <p:nvPr/>
        </p:nvPicPr>
        <p:blipFill>
          <a:blip r:embed="rId4"/>
          <a:stretch>
            <a:fillRect/>
          </a:stretch>
        </p:blipFill>
        <p:spPr>
          <a:xfrm>
            <a:off x="9372600" y="1600200"/>
            <a:ext cx="274320" cy="274320"/>
          </a:xfrm>
          <a:prstGeom prst="rect">
            <a:avLst/>
          </a:prstGeom>
        </p:spPr>
      </p:pic>
      <p:sp>
        <p:nvSpPr>
          <p:cNvPr id="25" name="Text 18"/>
          <p:cNvSpPr txBox="1"/>
          <p:nvPr/>
        </p:nvSpPr>
        <p:spPr>
          <a:xfrm>
            <a:off x="11091672" y="146304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4</a:t>
            </a:r>
            <a:endParaRPr lang="en-US" sz="1800" dirty="0"/>
          </a:p>
        </p:txBody>
      </p:sp>
      <p:sp>
        <p:nvSpPr>
          <p:cNvPr id="26" name="Text 19"/>
          <p:cNvSpPr txBox="1"/>
          <p:nvPr/>
        </p:nvSpPr>
        <p:spPr>
          <a:xfrm>
            <a:off x="9235440" y="2148840"/>
            <a:ext cx="2221992" cy="685800"/>
          </a:xfrm>
          <a:prstGeom prst="rect">
            <a:avLst/>
          </a:prstGeom>
          <a:noFill/>
          <a:ln/>
        </p:spPr>
        <p:txBody>
          <a:bodyPr wrap="square" lIns="0" tIns="0" rIns="0" bIns="0" rtlCol="0" anchor="t"/>
          <a:lstStyle/>
          <a:p>
            <a:pPr indent="0" marL="0">
              <a:buNone/>
            </a:pPr>
            <a:r>
              <a:rPr lang="en-US" sz="1600" b="1" dirty="0">
                <a:solidFill>
                  <a:schemeClr val="tx1"/>
                </a:solidFill>
              </a:rPr>
              <a:t>Hospital Operations and Resource Matching</a:t>
            </a:r>
            <a:endParaRPr lang="en-US" sz="1600" dirty="0"/>
          </a:p>
        </p:txBody>
      </p:sp>
      <p:sp>
        <p:nvSpPr>
          <p:cNvPr id="27" name="Text 20"/>
          <p:cNvSpPr txBox="1"/>
          <p:nvPr/>
        </p:nvSpPr>
        <p:spPr>
          <a:xfrm>
            <a:off x="9235440" y="2880360"/>
            <a:ext cx="2221992" cy="640080"/>
          </a:xfrm>
          <a:prstGeom prst="rect">
            <a:avLst/>
          </a:prstGeom>
          <a:noFill/>
          <a:ln/>
        </p:spPr>
        <p:txBody>
          <a:bodyPr wrap="square" lIns="0" tIns="0" rIns="0" bIns="0" rtlCol="0" anchor="t"/>
          <a:lstStyle/>
          <a:p>
            <a:pPr indent="0" marL="0">
              <a:buNone/>
            </a:pPr>
            <a:r>
              <a:rPr lang="en-US" sz="1400" dirty="0">
                <a:solidFill>
                  <a:schemeClr val="tx2"/>
                </a:solidFill>
              </a:rPr>
              <a:t>Compare capacity, specialists and distance.</a:t>
            </a:r>
            <a:endParaRPr lang="en-US" sz="1400" dirty="0"/>
          </a:p>
        </p:txBody>
      </p:sp>
      <p:sp>
        <p:nvSpPr>
          <p:cNvPr id="28" name="Module 5"/>
          <p:cNvSpPr/>
          <p:nvPr/>
        </p:nvSpPr>
        <p:spPr>
          <a:xfrm>
            <a:off x="548640" y="3840480"/>
            <a:ext cx="2587752" cy="2331720"/>
          </a:xfrm>
          <a:prstGeom prst="roundRect">
            <a:avLst>
              <a:gd name="adj" fmla="val 3922"/>
            </a:avLst>
          </a:prstGeom>
          <a:solidFill>
            <a:schemeClr val="bg2"/>
          </a:solidFill>
          <a:ln w="9525">
            <a:solidFill>
              <a:schemeClr val="accent6"/>
            </a:solidFill>
            <a:prstDash val="solid"/>
          </a:ln>
        </p:spPr>
      </p:sp>
      <p:sp>
        <p:nvSpPr>
          <p:cNvPr id="29" name="Icon badge 168"/>
          <p:cNvSpPr/>
          <p:nvPr/>
        </p:nvSpPr>
        <p:spPr>
          <a:xfrm>
            <a:off x="731520" y="4023360"/>
            <a:ext cx="548640" cy="548640"/>
          </a:xfrm>
          <a:prstGeom prst="ellipse">
            <a:avLst/>
          </a:prstGeom>
          <a:solidFill>
            <a:schemeClr val="accent4">
              <a:alpha val="22000"/>
            </a:schemeClr>
          </a:solidFill>
          <a:ln w="9525">
            <a:solidFill>
              <a:schemeClr val="accent4"/>
            </a:solidFill>
            <a:prstDash val="solid"/>
          </a:ln>
        </p:spPr>
      </p:sp>
      <p:pic>
        <p:nvPicPr>
          <p:cNvPr id="30" name="Image 4" descr="Bell icon">    </p:cNvPr>
          <p:cNvPicPr>
            <a:picLocks noChangeAspect="1"/>
          </p:cNvPicPr>
          <p:nvPr/>
        </p:nvPicPr>
        <p:blipFill>
          <a:blip r:embed="rId5"/>
          <a:stretch>
            <a:fillRect/>
          </a:stretch>
        </p:blipFill>
        <p:spPr>
          <a:xfrm>
            <a:off x="868680" y="4160520"/>
            <a:ext cx="274320" cy="274320"/>
          </a:xfrm>
          <a:prstGeom prst="rect">
            <a:avLst/>
          </a:prstGeom>
        </p:spPr>
      </p:pic>
      <p:sp>
        <p:nvSpPr>
          <p:cNvPr id="31" name="Text 23"/>
          <p:cNvSpPr txBox="1"/>
          <p:nvPr/>
        </p:nvSpPr>
        <p:spPr>
          <a:xfrm>
            <a:off x="2587752" y="402336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5</a:t>
            </a:r>
            <a:endParaRPr lang="en-US" sz="1800" dirty="0"/>
          </a:p>
        </p:txBody>
      </p:sp>
      <p:sp>
        <p:nvSpPr>
          <p:cNvPr id="32" name="Text 24"/>
          <p:cNvSpPr txBox="1"/>
          <p:nvPr/>
        </p:nvSpPr>
        <p:spPr>
          <a:xfrm>
            <a:off x="731520" y="4709160"/>
            <a:ext cx="2221992" cy="685800"/>
          </a:xfrm>
          <a:prstGeom prst="rect">
            <a:avLst/>
          </a:prstGeom>
          <a:noFill/>
          <a:ln/>
        </p:spPr>
        <p:txBody>
          <a:bodyPr wrap="square" lIns="0" tIns="0" rIns="0" bIns="0" rtlCol="0" anchor="t"/>
          <a:lstStyle/>
          <a:p>
            <a:pPr indent="0" marL="0">
              <a:buNone/>
            </a:pPr>
            <a:r>
              <a:rPr lang="en-US" sz="1600" b="1" dirty="0">
                <a:solidFill>
                  <a:schemeClr val="tx1"/>
                </a:solidFill>
              </a:rPr>
              <a:t>Dashboard and Alerts</a:t>
            </a:r>
            <a:endParaRPr lang="en-US" sz="1600" dirty="0"/>
          </a:p>
        </p:txBody>
      </p:sp>
      <p:sp>
        <p:nvSpPr>
          <p:cNvPr id="33" name="Text 25"/>
          <p:cNvSpPr txBox="1"/>
          <p:nvPr/>
        </p:nvSpPr>
        <p:spPr>
          <a:xfrm>
            <a:off x="731520" y="5440680"/>
            <a:ext cx="2221992" cy="640080"/>
          </a:xfrm>
          <a:prstGeom prst="rect">
            <a:avLst/>
          </a:prstGeom>
          <a:noFill/>
          <a:ln/>
        </p:spPr>
        <p:txBody>
          <a:bodyPr wrap="square" lIns="0" tIns="0" rIns="0" bIns="0" rtlCol="0" anchor="t"/>
          <a:lstStyle/>
          <a:p>
            <a:pPr indent="0" marL="0">
              <a:buNone/>
            </a:pPr>
            <a:r>
              <a:rPr lang="en-US" sz="1400" dirty="0">
                <a:solidFill>
                  <a:schemeClr val="tx2"/>
                </a:solidFill>
              </a:rPr>
              <a:t>Monitor cases, units and hospitals; view alerts.</a:t>
            </a:r>
            <a:endParaRPr lang="en-US" sz="1400" dirty="0"/>
          </a:p>
        </p:txBody>
      </p:sp>
      <p:sp>
        <p:nvSpPr>
          <p:cNvPr id="34" name="Module 6"/>
          <p:cNvSpPr/>
          <p:nvPr/>
        </p:nvSpPr>
        <p:spPr>
          <a:xfrm>
            <a:off x="3383280" y="3840480"/>
            <a:ext cx="2587752" cy="2331720"/>
          </a:xfrm>
          <a:prstGeom prst="roundRect">
            <a:avLst>
              <a:gd name="adj" fmla="val 3922"/>
            </a:avLst>
          </a:prstGeom>
          <a:solidFill>
            <a:schemeClr val="bg2"/>
          </a:solidFill>
          <a:ln w="9525">
            <a:solidFill>
              <a:schemeClr val="accent6"/>
            </a:solidFill>
            <a:prstDash val="solid"/>
          </a:ln>
        </p:spPr>
      </p:sp>
      <p:sp>
        <p:nvSpPr>
          <p:cNvPr id="35" name="Icon badge 169"/>
          <p:cNvSpPr/>
          <p:nvPr/>
        </p:nvSpPr>
        <p:spPr>
          <a:xfrm>
            <a:off x="3566160" y="4023360"/>
            <a:ext cx="548640" cy="548640"/>
          </a:xfrm>
          <a:prstGeom prst="ellipse">
            <a:avLst/>
          </a:prstGeom>
          <a:solidFill>
            <a:schemeClr val="accent2">
              <a:alpha val="22000"/>
            </a:schemeClr>
          </a:solidFill>
          <a:ln w="9525">
            <a:solidFill>
              <a:schemeClr val="accent2"/>
            </a:solidFill>
            <a:prstDash val="solid"/>
          </a:ln>
        </p:spPr>
      </p:sp>
      <p:pic>
        <p:nvPicPr>
          <p:cNvPr id="36" name="Image 5" descr="ChartLine icon">    </p:cNvPr>
          <p:cNvPicPr>
            <a:picLocks noChangeAspect="1"/>
          </p:cNvPicPr>
          <p:nvPr/>
        </p:nvPicPr>
        <p:blipFill>
          <a:blip r:embed="rId6"/>
          <a:stretch>
            <a:fillRect/>
          </a:stretch>
        </p:blipFill>
        <p:spPr>
          <a:xfrm>
            <a:off x="3703320" y="4160520"/>
            <a:ext cx="274320" cy="274320"/>
          </a:xfrm>
          <a:prstGeom prst="rect">
            <a:avLst/>
          </a:prstGeom>
        </p:spPr>
      </p:pic>
      <p:sp>
        <p:nvSpPr>
          <p:cNvPr id="37" name="Text 28"/>
          <p:cNvSpPr txBox="1"/>
          <p:nvPr/>
        </p:nvSpPr>
        <p:spPr>
          <a:xfrm>
            <a:off x="5422392" y="402336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6</a:t>
            </a:r>
            <a:endParaRPr lang="en-US" sz="1800" dirty="0"/>
          </a:p>
        </p:txBody>
      </p:sp>
      <p:sp>
        <p:nvSpPr>
          <p:cNvPr id="38" name="Text 29"/>
          <p:cNvSpPr txBox="1"/>
          <p:nvPr/>
        </p:nvSpPr>
        <p:spPr>
          <a:xfrm>
            <a:off x="3566160" y="4709160"/>
            <a:ext cx="2221992" cy="685800"/>
          </a:xfrm>
          <a:prstGeom prst="rect">
            <a:avLst/>
          </a:prstGeom>
          <a:noFill/>
          <a:ln/>
        </p:spPr>
        <p:txBody>
          <a:bodyPr wrap="square" lIns="0" tIns="0" rIns="0" bIns="0" rtlCol="0" anchor="t"/>
          <a:lstStyle/>
          <a:p>
            <a:pPr indent="0" marL="0">
              <a:buNone/>
            </a:pPr>
            <a:r>
              <a:rPr lang="en-US" sz="1600" b="1" dirty="0">
                <a:solidFill>
                  <a:schemeClr val="tx1"/>
                </a:solidFill>
              </a:rPr>
              <a:t>Patient Records and Analytics</a:t>
            </a:r>
            <a:endParaRPr lang="en-US" sz="1600" dirty="0"/>
          </a:p>
        </p:txBody>
      </p:sp>
      <p:sp>
        <p:nvSpPr>
          <p:cNvPr id="39" name="Text 30"/>
          <p:cNvSpPr txBox="1"/>
          <p:nvPr/>
        </p:nvSpPr>
        <p:spPr>
          <a:xfrm>
            <a:off x="3566160" y="5440680"/>
            <a:ext cx="2221992" cy="640080"/>
          </a:xfrm>
          <a:prstGeom prst="rect">
            <a:avLst/>
          </a:prstGeom>
          <a:noFill/>
          <a:ln/>
        </p:spPr>
        <p:txBody>
          <a:bodyPr wrap="square" lIns="0" tIns="0" rIns="0" bIns="0" rtlCol="0" anchor="t"/>
          <a:lstStyle/>
          <a:p>
            <a:pPr indent="0" marL="0">
              <a:buNone/>
            </a:pPr>
            <a:r>
              <a:rPr lang="en-US" sz="1400" dirty="0">
                <a:solidFill>
                  <a:schemeClr val="tx2"/>
                </a:solidFill>
              </a:rPr>
              <a:t>Review stored records with charts.</a:t>
            </a:r>
            <a:endParaRPr lang="en-US" sz="1400" dirty="0"/>
          </a:p>
        </p:txBody>
      </p:sp>
      <p:sp>
        <p:nvSpPr>
          <p:cNvPr id="40" name="Module 7"/>
          <p:cNvSpPr/>
          <p:nvPr/>
        </p:nvSpPr>
        <p:spPr>
          <a:xfrm>
            <a:off x="6217920" y="3840480"/>
            <a:ext cx="2587752" cy="2331720"/>
          </a:xfrm>
          <a:prstGeom prst="roundRect">
            <a:avLst>
              <a:gd name="adj" fmla="val 3922"/>
            </a:avLst>
          </a:prstGeom>
          <a:solidFill>
            <a:schemeClr val="bg2"/>
          </a:solidFill>
          <a:ln w="9525">
            <a:solidFill>
              <a:schemeClr val="accent6"/>
            </a:solidFill>
            <a:prstDash val="solid"/>
          </a:ln>
        </p:spPr>
      </p:sp>
      <p:sp>
        <p:nvSpPr>
          <p:cNvPr id="41" name="Icon badge 170"/>
          <p:cNvSpPr/>
          <p:nvPr/>
        </p:nvSpPr>
        <p:spPr>
          <a:xfrm>
            <a:off x="6400800" y="4023360"/>
            <a:ext cx="548640" cy="548640"/>
          </a:xfrm>
          <a:prstGeom prst="ellipse">
            <a:avLst/>
          </a:prstGeom>
          <a:solidFill>
            <a:schemeClr val="accent5">
              <a:alpha val="22000"/>
            </a:schemeClr>
          </a:solidFill>
          <a:ln w="9525">
            <a:solidFill>
              <a:schemeClr val="accent5"/>
            </a:solidFill>
            <a:prstDash val="solid"/>
          </a:ln>
        </p:spPr>
      </p:sp>
      <p:pic>
        <p:nvPicPr>
          <p:cNvPr id="42" name="Image 6" descr="PlayCircle icon">    </p:cNvPr>
          <p:cNvPicPr>
            <a:picLocks noChangeAspect="1"/>
          </p:cNvPicPr>
          <p:nvPr/>
        </p:nvPicPr>
        <p:blipFill>
          <a:blip r:embed="rId7"/>
          <a:stretch>
            <a:fillRect/>
          </a:stretch>
        </p:blipFill>
        <p:spPr>
          <a:xfrm>
            <a:off x="6537960" y="4160520"/>
            <a:ext cx="274320" cy="274320"/>
          </a:xfrm>
          <a:prstGeom prst="rect">
            <a:avLst/>
          </a:prstGeom>
        </p:spPr>
      </p:pic>
      <p:sp>
        <p:nvSpPr>
          <p:cNvPr id="43" name="Text 33"/>
          <p:cNvSpPr txBox="1"/>
          <p:nvPr/>
        </p:nvSpPr>
        <p:spPr>
          <a:xfrm>
            <a:off x="8257032" y="4023360"/>
            <a:ext cx="365760" cy="365760"/>
          </a:xfrm>
          <a:prstGeom prst="rect">
            <a:avLst/>
          </a:prstGeom>
          <a:noFill/>
          <a:ln/>
        </p:spPr>
        <p:txBody>
          <a:bodyPr wrap="square" lIns="0" tIns="0" rIns="0" bIns="0" rtlCol="0" anchor="t"/>
          <a:lstStyle/>
          <a:p>
            <a:pPr algn="r" indent="0" marL="0">
              <a:buNone/>
            </a:pPr>
            <a:r>
              <a:rPr lang="en-US" sz="1800" b="1" dirty="0">
                <a:solidFill>
                  <a:schemeClr val="accent6"/>
                </a:solidFill>
              </a:rPr>
              <a:t>7</a:t>
            </a:r>
            <a:endParaRPr lang="en-US" sz="1800" dirty="0"/>
          </a:p>
        </p:txBody>
      </p:sp>
      <p:sp>
        <p:nvSpPr>
          <p:cNvPr id="44" name="Text 34"/>
          <p:cNvSpPr txBox="1"/>
          <p:nvPr/>
        </p:nvSpPr>
        <p:spPr>
          <a:xfrm>
            <a:off x="6400800" y="4709160"/>
            <a:ext cx="2221992" cy="685800"/>
          </a:xfrm>
          <a:prstGeom prst="rect">
            <a:avLst/>
          </a:prstGeom>
          <a:noFill/>
          <a:ln/>
        </p:spPr>
        <p:txBody>
          <a:bodyPr wrap="square" lIns="0" tIns="0" rIns="0" bIns="0" rtlCol="0" anchor="t"/>
          <a:lstStyle/>
          <a:p>
            <a:pPr indent="0" marL="0">
              <a:buNone/>
            </a:pPr>
            <a:r>
              <a:rPr lang="en-US" sz="1600" b="1" dirty="0">
                <a:solidFill>
                  <a:schemeClr val="tx1"/>
                </a:solidFill>
              </a:rPr>
              <a:t>Emergency Simulation</a:t>
            </a:r>
            <a:endParaRPr lang="en-US" sz="1600" dirty="0"/>
          </a:p>
        </p:txBody>
      </p:sp>
      <p:sp>
        <p:nvSpPr>
          <p:cNvPr id="45" name="Text 35"/>
          <p:cNvSpPr txBox="1"/>
          <p:nvPr/>
        </p:nvSpPr>
        <p:spPr>
          <a:xfrm>
            <a:off x="6400800" y="5440680"/>
            <a:ext cx="2221992" cy="640080"/>
          </a:xfrm>
          <a:prstGeom prst="rect">
            <a:avLst/>
          </a:prstGeom>
          <a:noFill/>
          <a:ln/>
        </p:spPr>
        <p:txBody>
          <a:bodyPr wrap="square" lIns="0" tIns="0" rIns="0" bIns="0" rtlCol="0" anchor="t"/>
          <a:lstStyle/>
          <a:p>
            <a:pPr indent="0" marL="0">
              <a:buNone/>
            </a:pPr>
            <a:r>
              <a:rPr lang="en-US" sz="1400" dirty="0">
                <a:solidFill>
                  <a:schemeClr val="tx2"/>
                </a:solidFill>
              </a:rPr>
              <a:t>Run demo emergencies to test the workflow.</a:t>
            </a:r>
            <a:endParaRPr lang="en-US" sz="1400" dirty="0"/>
          </a:p>
        </p:txBody>
      </p:sp>
      <p:sp>
        <p:nvSpPr>
          <p:cNvPr id="46" name="Shared platform note"/>
          <p:cNvSpPr/>
          <p:nvPr/>
        </p:nvSpPr>
        <p:spPr>
          <a:xfrm>
            <a:off x="9052560" y="3840480"/>
            <a:ext cx="2587752" cy="2331720"/>
          </a:xfrm>
          <a:prstGeom prst="roundRect">
            <a:avLst>
              <a:gd name="adj" fmla="val 3922"/>
            </a:avLst>
          </a:prstGeom>
          <a:solidFill>
            <a:schemeClr val="bg1"/>
          </a:solidFill>
          <a:ln w="12700">
            <a:solidFill>
              <a:schemeClr val="accent2"/>
            </a:solidFill>
            <a:prstDash val="dash"/>
          </a:ln>
        </p:spPr>
      </p:sp>
      <p:sp>
        <p:nvSpPr>
          <p:cNvPr id="47" name="Icon badge 171"/>
          <p:cNvSpPr/>
          <p:nvPr/>
        </p:nvSpPr>
        <p:spPr>
          <a:xfrm>
            <a:off x="9235440" y="4023360"/>
            <a:ext cx="548640" cy="548640"/>
          </a:xfrm>
          <a:prstGeom prst="ellipse">
            <a:avLst/>
          </a:prstGeom>
          <a:solidFill>
            <a:schemeClr val="accent2">
              <a:alpha val="22000"/>
            </a:schemeClr>
          </a:solidFill>
          <a:ln w="9525">
            <a:solidFill>
              <a:schemeClr val="accent2"/>
            </a:solidFill>
            <a:prstDash val="solid"/>
          </a:ln>
        </p:spPr>
      </p:sp>
      <p:pic>
        <p:nvPicPr>
          <p:cNvPr id="48" name="Image 7" descr="LayerGroup icon">    </p:cNvPr>
          <p:cNvPicPr>
            <a:picLocks noChangeAspect="1"/>
          </p:cNvPicPr>
          <p:nvPr/>
        </p:nvPicPr>
        <p:blipFill>
          <a:blip r:embed="rId8"/>
          <a:stretch>
            <a:fillRect/>
          </a:stretch>
        </p:blipFill>
        <p:spPr>
          <a:xfrm>
            <a:off x="9372600" y="4160520"/>
            <a:ext cx="274320" cy="274320"/>
          </a:xfrm>
          <a:prstGeom prst="rect">
            <a:avLst/>
          </a:prstGeom>
        </p:spPr>
      </p:pic>
      <p:sp>
        <p:nvSpPr>
          <p:cNvPr id="49" name="Text 38"/>
          <p:cNvSpPr txBox="1"/>
          <p:nvPr/>
        </p:nvSpPr>
        <p:spPr>
          <a:xfrm>
            <a:off x="9235440" y="4709160"/>
            <a:ext cx="2221992" cy="365760"/>
          </a:xfrm>
          <a:prstGeom prst="rect">
            <a:avLst/>
          </a:prstGeom>
          <a:noFill/>
          <a:ln/>
        </p:spPr>
        <p:txBody>
          <a:bodyPr wrap="square" lIns="0" tIns="0" rIns="0" bIns="0" rtlCol="0" anchor="t"/>
          <a:lstStyle/>
          <a:p>
            <a:pPr indent="0" marL="0">
              <a:buNone/>
            </a:pPr>
            <a:r>
              <a:rPr lang="en-US" sz="1600" b="1" dirty="0">
                <a:solidFill>
                  <a:schemeClr val="accent2"/>
                </a:solidFill>
              </a:rPr>
              <a:t>Shared platform</a:t>
            </a:r>
            <a:endParaRPr lang="en-US" sz="1600" dirty="0"/>
          </a:p>
        </p:txBody>
      </p:sp>
      <p:sp>
        <p:nvSpPr>
          <p:cNvPr id="50" name="Text 39"/>
          <p:cNvSpPr txBox="1"/>
          <p:nvPr/>
        </p:nvSpPr>
        <p:spPr>
          <a:xfrm>
            <a:off x="9235440" y="5120640"/>
            <a:ext cx="2221992" cy="960120"/>
          </a:xfrm>
          <a:prstGeom prst="rect">
            <a:avLst/>
          </a:prstGeom>
          <a:noFill/>
          <a:ln/>
        </p:spPr>
        <p:txBody>
          <a:bodyPr wrap="square" lIns="0" tIns="0" rIns="0" bIns="0" rtlCol="0" anchor="t"/>
          <a:lstStyle/>
          <a:p>
            <a:pPr indent="0" marL="0">
              <a:buNone/>
            </a:pPr>
            <a:r>
              <a:rPr lang="en-US" sz="1400" dirty="0">
                <a:solidFill>
                  <a:schemeClr val="tx2"/>
                </a:solidFill>
              </a:rPr>
              <a:t>All modules use one React front end, FastAPI back end and SQLite database.</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TECHNOLOGY STACK</a:t>
            </a:r>
            <a:endParaRPr lang="en-US" sz="3200" dirty="0"/>
          </a:p>
        </p:txBody>
      </p:sp>
      <p:sp>
        <p:nvSpPr>
          <p:cNvPr id="4" name="Frontend layer"/>
          <p:cNvSpPr/>
          <p:nvPr/>
        </p:nvSpPr>
        <p:spPr>
          <a:xfrm>
            <a:off x="548640" y="1280160"/>
            <a:ext cx="1920240" cy="1371600"/>
          </a:xfrm>
          <a:prstGeom prst="roundRect">
            <a:avLst>
              <a:gd name="adj" fmla="val 6667"/>
            </a:avLst>
          </a:prstGeom>
          <a:solidFill>
            <a:schemeClr val="accent2">
              <a:alpha val="15000"/>
            </a:schemeClr>
          </a:solidFill>
          <a:ln w="15875">
            <a:solidFill>
              <a:schemeClr val="accent2"/>
            </a:solidFill>
            <a:prstDash val="solid"/>
          </a:ln>
        </p:spPr>
      </p:sp>
      <p:sp>
        <p:nvSpPr>
          <p:cNvPr id="5" name="Icon badge 172"/>
          <p:cNvSpPr/>
          <p:nvPr/>
        </p:nvSpPr>
        <p:spPr>
          <a:xfrm>
            <a:off x="1234440" y="1463040"/>
            <a:ext cx="548640" cy="548640"/>
          </a:xfrm>
          <a:prstGeom prst="ellipse">
            <a:avLst/>
          </a:prstGeom>
          <a:solidFill>
            <a:schemeClr val="accent2">
              <a:alpha val="22000"/>
            </a:schemeClr>
          </a:solidFill>
          <a:ln w="9525">
            <a:solidFill>
              <a:schemeClr val="accent2"/>
            </a:solidFill>
            <a:prstDash val="solid"/>
          </a:ln>
        </p:spPr>
      </p:sp>
      <p:pic>
        <p:nvPicPr>
          <p:cNvPr id="6" name="Image 0" descr="React icon">    </p:cNvPr>
          <p:cNvPicPr>
            <a:picLocks noChangeAspect="1"/>
          </p:cNvPicPr>
          <p:nvPr/>
        </p:nvPicPr>
        <p:blipFill>
          <a:blip r:embed="rId1"/>
          <a:stretch>
            <a:fillRect/>
          </a:stretch>
        </p:blipFill>
        <p:spPr>
          <a:xfrm>
            <a:off x="1371600" y="1600200"/>
            <a:ext cx="274320" cy="274320"/>
          </a:xfrm>
          <a:prstGeom prst="rect">
            <a:avLst/>
          </a:prstGeom>
        </p:spPr>
      </p:pic>
      <p:sp>
        <p:nvSpPr>
          <p:cNvPr id="7" name="Text 3"/>
          <p:cNvSpPr txBox="1"/>
          <p:nvPr/>
        </p:nvSpPr>
        <p:spPr>
          <a:xfrm>
            <a:off x="548640" y="2103120"/>
            <a:ext cx="1920240" cy="365760"/>
          </a:xfrm>
          <a:prstGeom prst="rect">
            <a:avLst/>
          </a:prstGeom>
          <a:noFill/>
          <a:ln/>
        </p:spPr>
        <p:txBody>
          <a:bodyPr wrap="square" lIns="0" tIns="0" rIns="0" bIns="0" rtlCol="0" anchor="t"/>
          <a:lstStyle/>
          <a:p>
            <a:pPr algn="ctr" indent="0" marL="0">
              <a:buNone/>
            </a:pPr>
            <a:r>
              <a:rPr lang="en-US" sz="1800" b="1" dirty="0">
                <a:solidFill>
                  <a:schemeClr val="accent2"/>
                </a:solidFill>
              </a:rPr>
              <a:t>Frontend</a:t>
            </a:r>
            <a:endParaRPr lang="en-US" sz="1800" dirty="0"/>
          </a:p>
        </p:txBody>
      </p:sp>
      <p:sp>
        <p:nvSpPr>
          <p:cNvPr id="8" name="React"/>
          <p:cNvSpPr/>
          <p:nvPr/>
        </p:nvSpPr>
        <p:spPr>
          <a:xfrm>
            <a:off x="2697480" y="1280160"/>
            <a:ext cx="1645920" cy="1371600"/>
          </a:xfrm>
          <a:prstGeom prst="roundRect">
            <a:avLst>
              <a:gd name="adj" fmla="val 6667"/>
            </a:avLst>
          </a:prstGeom>
          <a:solidFill>
            <a:schemeClr val="bg2"/>
          </a:solidFill>
          <a:ln w="9525">
            <a:solidFill>
              <a:schemeClr val="accent6"/>
            </a:solidFill>
            <a:prstDash val="solid"/>
          </a:ln>
        </p:spPr>
      </p:sp>
      <p:sp>
        <p:nvSpPr>
          <p:cNvPr id="9" name="Text 5"/>
          <p:cNvSpPr txBox="1"/>
          <p:nvPr/>
        </p:nvSpPr>
        <p:spPr>
          <a:xfrm>
            <a:off x="2788920" y="160020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React</a:t>
            </a:r>
            <a:endParaRPr lang="en-US" sz="1600" dirty="0"/>
          </a:p>
        </p:txBody>
      </p:sp>
      <p:sp>
        <p:nvSpPr>
          <p:cNvPr id="10" name="Text 6"/>
          <p:cNvSpPr txBox="1"/>
          <p:nvPr/>
        </p:nvSpPr>
        <p:spPr>
          <a:xfrm>
            <a:off x="2788920" y="20116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UI components</a:t>
            </a:r>
            <a:endParaRPr lang="en-US" sz="1200" dirty="0"/>
          </a:p>
        </p:txBody>
      </p:sp>
      <p:sp>
        <p:nvSpPr>
          <p:cNvPr id="11" name="Vite"/>
          <p:cNvSpPr/>
          <p:nvPr/>
        </p:nvSpPr>
        <p:spPr>
          <a:xfrm>
            <a:off x="4526280" y="1280160"/>
            <a:ext cx="1645920" cy="1371600"/>
          </a:xfrm>
          <a:prstGeom prst="roundRect">
            <a:avLst>
              <a:gd name="adj" fmla="val 6667"/>
            </a:avLst>
          </a:prstGeom>
          <a:solidFill>
            <a:schemeClr val="bg2"/>
          </a:solidFill>
          <a:ln w="9525">
            <a:solidFill>
              <a:schemeClr val="accent6"/>
            </a:solidFill>
            <a:prstDash val="solid"/>
          </a:ln>
        </p:spPr>
      </p:sp>
      <p:sp>
        <p:nvSpPr>
          <p:cNvPr id="12" name="Text 8"/>
          <p:cNvSpPr txBox="1"/>
          <p:nvPr/>
        </p:nvSpPr>
        <p:spPr>
          <a:xfrm>
            <a:off x="4617720" y="160020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Vite</a:t>
            </a:r>
            <a:endParaRPr lang="en-US" sz="1600" dirty="0"/>
          </a:p>
        </p:txBody>
      </p:sp>
      <p:sp>
        <p:nvSpPr>
          <p:cNvPr id="13" name="Text 9"/>
          <p:cNvSpPr txBox="1"/>
          <p:nvPr/>
        </p:nvSpPr>
        <p:spPr>
          <a:xfrm>
            <a:off x="4617720" y="20116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Dev server and build</a:t>
            </a:r>
            <a:endParaRPr lang="en-US" sz="1200" dirty="0"/>
          </a:p>
        </p:txBody>
      </p:sp>
      <p:sp>
        <p:nvSpPr>
          <p:cNvPr id="14" name="React Router"/>
          <p:cNvSpPr/>
          <p:nvPr/>
        </p:nvSpPr>
        <p:spPr>
          <a:xfrm>
            <a:off x="6355080" y="1280160"/>
            <a:ext cx="1645920" cy="1371600"/>
          </a:xfrm>
          <a:prstGeom prst="roundRect">
            <a:avLst>
              <a:gd name="adj" fmla="val 6667"/>
            </a:avLst>
          </a:prstGeom>
          <a:solidFill>
            <a:schemeClr val="bg2"/>
          </a:solidFill>
          <a:ln w="9525">
            <a:solidFill>
              <a:schemeClr val="accent6"/>
            </a:solidFill>
            <a:prstDash val="solid"/>
          </a:ln>
        </p:spPr>
      </p:sp>
      <p:sp>
        <p:nvSpPr>
          <p:cNvPr id="15" name="Text 11"/>
          <p:cNvSpPr txBox="1"/>
          <p:nvPr/>
        </p:nvSpPr>
        <p:spPr>
          <a:xfrm>
            <a:off x="6446520" y="160020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React Router</a:t>
            </a:r>
            <a:endParaRPr lang="en-US" sz="1600" dirty="0"/>
          </a:p>
        </p:txBody>
      </p:sp>
      <p:sp>
        <p:nvSpPr>
          <p:cNvPr id="16" name="Text 12"/>
          <p:cNvSpPr txBox="1"/>
          <p:nvPr/>
        </p:nvSpPr>
        <p:spPr>
          <a:xfrm>
            <a:off x="6446520" y="20116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Page navigation</a:t>
            </a:r>
            <a:endParaRPr lang="en-US" sz="1200" dirty="0"/>
          </a:p>
        </p:txBody>
      </p:sp>
      <p:sp>
        <p:nvSpPr>
          <p:cNvPr id="17" name="Recharts"/>
          <p:cNvSpPr/>
          <p:nvPr/>
        </p:nvSpPr>
        <p:spPr>
          <a:xfrm>
            <a:off x="8183880" y="1280160"/>
            <a:ext cx="1645920" cy="1371600"/>
          </a:xfrm>
          <a:prstGeom prst="roundRect">
            <a:avLst>
              <a:gd name="adj" fmla="val 6667"/>
            </a:avLst>
          </a:prstGeom>
          <a:solidFill>
            <a:schemeClr val="bg2"/>
          </a:solidFill>
          <a:ln w="9525">
            <a:solidFill>
              <a:schemeClr val="accent6"/>
            </a:solidFill>
            <a:prstDash val="solid"/>
          </a:ln>
        </p:spPr>
      </p:sp>
      <p:sp>
        <p:nvSpPr>
          <p:cNvPr id="18" name="Text 14"/>
          <p:cNvSpPr txBox="1"/>
          <p:nvPr/>
        </p:nvSpPr>
        <p:spPr>
          <a:xfrm>
            <a:off x="8275320" y="160020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Recharts</a:t>
            </a:r>
            <a:endParaRPr lang="en-US" sz="1600" dirty="0"/>
          </a:p>
        </p:txBody>
      </p:sp>
      <p:sp>
        <p:nvSpPr>
          <p:cNvPr id="19" name="Text 15"/>
          <p:cNvSpPr txBox="1"/>
          <p:nvPr/>
        </p:nvSpPr>
        <p:spPr>
          <a:xfrm>
            <a:off x="8275320" y="20116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Charts</a:t>
            </a:r>
            <a:endParaRPr lang="en-US" sz="1200" dirty="0"/>
          </a:p>
        </p:txBody>
      </p:sp>
      <p:sp>
        <p:nvSpPr>
          <p:cNvPr id="20" name="Leaflet"/>
          <p:cNvSpPr/>
          <p:nvPr/>
        </p:nvSpPr>
        <p:spPr>
          <a:xfrm>
            <a:off x="10012680" y="1280160"/>
            <a:ext cx="1645920" cy="1371600"/>
          </a:xfrm>
          <a:prstGeom prst="roundRect">
            <a:avLst>
              <a:gd name="adj" fmla="val 6667"/>
            </a:avLst>
          </a:prstGeom>
          <a:solidFill>
            <a:schemeClr val="bg2"/>
          </a:solidFill>
          <a:ln w="9525">
            <a:solidFill>
              <a:schemeClr val="accent6"/>
            </a:solidFill>
            <a:prstDash val="solid"/>
          </a:ln>
        </p:spPr>
      </p:sp>
      <p:sp>
        <p:nvSpPr>
          <p:cNvPr id="21" name="Text 17"/>
          <p:cNvSpPr txBox="1"/>
          <p:nvPr/>
        </p:nvSpPr>
        <p:spPr>
          <a:xfrm>
            <a:off x="10104120" y="160020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Leaflet</a:t>
            </a:r>
            <a:endParaRPr lang="en-US" sz="1600" dirty="0"/>
          </a:p>
        </p:txBody>
      </p:sp>
      <p:sp>
        <p:nvSpPr>
          <p:cNvPr id="22" name="Text 18"/>
          <p:cNvSpPr txBox="1"/>
          <p:nvPr/>
        </p:nvSpPr>
        <p:spPr>
          <a:xfrm>
            <a:off x="10104120" y="201168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Maps (where configured)</a:t>
            </a:r>
            <a:endParaRPr lang="en-US" sz="1200" dirty="0"/>
          </a:p>
        </p:txBody>
      </p:sp>
      <p:sp>
        <p:nvSpPr>
          <p:cNvPr id="23" name="Arrow 173"/>
          <p:cNvSpPr/>
          <p:nvPr/>
        </p:nvSpPr>
        <p:spPr>
          <a:xfrm>
            <a:off x="5486400" y="2651760"/>
            <a:ext cx="0" cy="320040"/>
          </a:xfrm>
          <a:prstGeom prst="line">
            <a:avLst/>
          </a:prstGeom>
          <a:noFill/>
          <a:ln w="19050">
            <a:solidFill>
              <a:schemeClr val="accent2"/>
            </a:solidFill>
            <a:prstDash val="solid"/>
            <a:tailEnd type="triangle"/>
          </a:ln>
        </p:spPr>
      </p:sp>
      <p:sp>
        <p:nvSpPr>
          <p:cNvPr id="24" name="Backend layer"/>
          <p:cNvSpPr/>
          <p:nvPr/>
        </p:nvSpPr>
        <p:spPr>
          <a:xfrm>
            <a:off x="548640" y="2971800"/>
            <a:ext cx="1920240" cy="1371600"/>
          </a:xfrm>
          <a:prstGeom prst="roundRect">
            <a:avLst>
              <a:gd name="adj" fmla="val 6667"/>
            </a:avLst>
          </a:prstGeom>
          <a:solidFill>
            <a:schemeClr val="accent1">
              <a:alpha val="15000"/>
            </a:schemeClr>
          </a:solidFill>
          <a:ln w="15875">
            <a:solidFill>
              <a:schemeClr val="accent1"/>
            </a:solidFill>
            <a:prstDash val="solid"/>
          </a:ln>
        </p:spPr>
      </p:sp>
      <p:sp>
        <p:nvSpPr>
          <p:cNvPr id="25" name="Icon badge 174"/>
          <p:cNvSpPr/>
          <p:nvPr/>
        </p:nvSpPr>
        <p:spPr>
          <a:xfrm>
            <a:off x="1234440" y="3154680"/>
            <a:ext cx="548640" cy="548640"/>
          </a:xfrm>
          <a:prstGeom prst="ellipse">
            <a:avLst/>
          </a:prstGeom>
          <a:solidFill>
            <a:schemeClr val="accent1">
              <a:alpha val="22000"/>
            </a:schemeClr>
          </a:solidFill>
          <a:ln w="9525">
            <a:solidFill>
              <a:schemeClr val="accent1"/>
            </a:solidFill>
            <a:prstDash val="solid"/>
          </a:ln>
        </p:spPr>
      </p:sp>
      <p:pic>
        <p:nvPicPr>
          <p:cNvPr id="26" name="Image 1" descr="Server icon">    </p:cNvPr>
          <p:cNvPicPr>
            <a:picLocks noChangeAspect="1"/>
          </p:cNvPicPr>
          <p:nvPr/>
        </p:nvPicPr>
        <p:blipFill>
          <a:blip r:embed="rId2"/>
          <a:stretch>
            <a:fillRect/>
          </a:stretch>
        </p:blipFill>
        <p:spPr>
          <a:xfrm>
            <a:off x="1371600" y="3291840"/>
            <a:ext cx="274320" cy="274320"/>
          </a:xfrm>
          <a:prstGeom prst="rect">
            <a:avLst/>
          </a:prstGeom>
        </p:spPr>
      </p:pic>
      <p:sp>
        <p:nvSpPr>
          <p:cNvPr id="27" name="Text 22"/>
          <p:cNvSpPr txBox="1"/>
          <p:nvPr/>
        </p:nvSpPr>
        <p:spPr>
          <a:xfrm>
            <a:off x="548640" y="3794760"/>
            <a:ext cx="1920240" cy="365760"/>
          </a:xfrm>
          <a:prstGeom prst="rect">
            <a:avLst/>
          </a:prstGeom>
          <a:noFill/>
          <a:ln/>
        </p:spPr>
        <p:txBody>
          <a:bodyPr wrap="square" lIns="0" tIns="0" rIns="0" bIns="0" rtlCol="0" anchor="t"/>
          <a:lstStyle/>
          <a:p>
            <a:pPr algn="ctr" indent="0" marL="0">
              <a:buNone/>
            </a:pPr>
            <a:r>
              <a:rPr lang="en-US" sz="1800" b="1" dirty="0">
                <a:solidFill>
                  <a:schemeClr val="accent1"/>
                </a:solidFill>
              </a:rPr>
              <a:t>Backend</a:t>
            </a:r>
            <a:endParaRPr lang="en-US" sz="1800" dirty="0"/>
          </a:p>
        </p:txBody>
      </p:sp>
      <p:sp>
        <p:nvSpPr>
          <p:cNvPr id="28" name="Python"/>
          <p:cNvSpPr/>
          <p:nvPr/>
        </p:nvSpPr>
        <p:spPr>
          <a:xfrm>
            <a:off x="2697480" y="2971800"/>
            <a:ext cx="1645920" cy="1371600"/>
          </a:xfrm>
          <a:prstGeom prst="roundRect">
            <a:avLst>
              <a:gd name="adj" fmla="val 6667"/>
            </a:avLst>
          </a:prstGeom>
          <a:solidFill>
            <a:schemeClr val="bg2"/>
          </a:solidFill>
          <a:ln w="9525">
            <a:solidFill>
              <a:schemeClr val="accent6"/>
            </a:solidFill>
            <a:prstDash val="solid"/>
          </a:ln>
        </p:spPr>
      </p:sp>
      <p:sp>
        <p:nvSpPr>
          <p:cNvPr id="29" name="Text 24"/>
          <p:cNvSpPr txBox="1"/>
          <p:nvPr/>
        </p:nvSpPr>
        <p:spPr>
          <a:xfrm>
            <a:off x="2788920" y="329184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Python</a:t>
            </a:r>
            <a:endParaRPr lang="en-US" sz="1600" dirty="0"/>
          </a:p>
        </p:txBody>
      </p:sp>
      <p:sp>
        <p:nvSpPr>
          <p:cNvPr id="30" name="Text 25"/>
          <p:cNvSpPr txBox="1"/>
          <p:nvPr/>
        </p:nvSpPr>
        <p:spPr>
          <a:xfrm>
            <a:off x="2788920" y="370332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Language</a:t>
            </a:r>
            <a:endParaRPr lang="en-US" sz="1200" dirty="0"/>
          </a:p>
        </p:txBody>
      </p:sp>
      <p:sp>
        <p:nvSpPr>
          <p:cNvPr id="31" name="FastAPI"/>
          <p:cNvSpPr/>
          <p:nvPr/>
        </p:nvSpPr>
        <p:spPr>
          <a:xfrm>
            <a:off x="4526280" y="2971800"/>
            <a:ext cx="1645920" cy="1371600"/>
          </a:xfrm>
          <a:prstGeom prst="roundRect">
            <a:avLst>
              <a:gd name="adj" fmla="val 6667"/>
            </a:avLst>
          </a:prstGeom>
          <a:solidFill>
            <a:schemeClr val="bg2"/>
          </a:solidFill>
          <a:ln w="9525">
            <a:solidFill>
              <a:schemeClr val="accent6"/>
            </a:solidFill>
            <a:prstDash val="solid"/>
          </a:ln>
        </p:spPr>
      </p:sp>
      <p:sp>
        <p:nvSpPr>
          <p:cNvPr id="32" name="Text 27"/>
          <p:cNvSpPr txBox="1"/>
          <p:nvPr/>
        </p:nvSpPr>
        <p:spPr>
          <a:xfrm>
            <a:off x="4617720" y="329184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FastAPI</a:t>
            </a:r>
            <a:endParaRPr lang="en-US" sz="1600" dirty="0"/>
          </a:p>
        </p:txBody>
      </p:sp>
      <p:sp>
        <p:nvSpPr>
          <p:cNvPr id="33" name="Text 28"/>
          <p:cNvSpPr txBox="1"/>
          <p:nvPr/>
        </p:nvSpPr>
        <p:spPr>
          <a:xfrm>
            <a:off x="4617720" y="370332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REST API services</a:t>
            </a:r>
            <a:endParaRPr lang="en-US" sz="1200" dirty="0"/>
          </a:p>
        </p:txBody>
      </p:sp>
      <p:sp>
        <p:nvSpPr>
          <p:cNvPr id="34" name="Uvicorn"/>
          <p:cNvSpPr/>
          <p:nvPr/>
        </p:nvSpPr>
        <p:spPr>
          <a:xfrm>
            <a:off x="6355080" y="2971800"/>
            <a:ext cx="1645920" cy="1371600"/>
          </a:xfrm>
          <a:prstGeom prst="roundRect">
            <a:avLst>
              <a:gd name="adj" fmla="val 6667"/>
            </a:avLst>
          </a:prstGeom>
          <a:solidFill>
            <a:schemeClr val="bg2"/>
          </a:solidFill>
          <a:ln w="9525">
            <a:solidFill>
              <a:schemeClr val="accent6"/>
            </a:solidFill>
            <a:prstDash val="solid"/>
          </a:ln>
        </p:spPr>
      </p:sp>
      <p:sp>
        <p:nvSpPr>
          <p:cNvPr id="35" name="Text 30"/>
          <p:cNvSpPr txBox="1"/>
          <p:nvPr/>
        </p:nvSpPr>
        <p:spPr>
          <a:xfrm>
            <a:off x="6446520" y="329184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Uvicorn</a:t>
            </a:r>
            <a:endParaRPr lang="en-US" sz="1600" dirty="0"/>
          </a:p>
        </p:txBody>
      </p:sp>
      <p:sp>
        <p:nvSpPr>
          <p:cNvPr id="36" name="Text 31"/>
          <p:cNvSpPr txBox="1"/>
          <p:nvPr/>
        </p:nvSpPr>
        <p:spPr>
          <a:xfrm>
            <a:off x="6446520" y="370332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Runs the API</a:t>
            </a:r>
            <a:endParaRPr lang="en-US" sz="1200" dirty="0"/>
          </a:p>
        </p:txBody>
      </p:sp>
      <p:sp>
        <p:nvSpPr>
          <p:cNvPr id="37" name="Pydantic"/>
          <p:cNvSpPr/>
          <p:nvPr/>
        </p:nvSpPr>
        <p:spPr>
          <a:xfrm>
            <a:off x="8183880" y="2971800"/>
            <a:ext cx="1645920" cy="1371600"/>
          </a:xfrm>
          <a:prstGeom prst="roundRect">
            <a:avLst>
              <a:gd name="adj" fmla="val 6667"/>
            </a:avLst>
          </a:prstGeom>
          <a:solidFill>
            <a:schemeClr val="bg2"/>
          </a:solidFill>
          <a:ln w="9525">
            <a:solidFill>
              <a:schemeClr val="accent6"/>
            </a:solidFill>
            <a:prstDash val="solid"/>
          </a:ln>
        </p:spPr>
      </p:sp>
      <p:sp>
        <p:nvSpPr>
          <p:cNvPr id="38" name="Text 33"/>
          <p:cNvSpPr txBox="1"/>
          <p:nvPr/>
        </p:nvSpPr>
        <p:spPr>
          <a:xfrm>
            <a:off x="8275320" y="329184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Pydantic</a:t>
            </a:r>
            <a:endParaRPr lang="en-US" sz="1600" dirty="0"/>
          </a:p>
        </p:txBody>
      </p:sp>
      <p:sp>
        <p:nvSpPr>
          <p:cNvPr id="39" name="Text 34"/>
          <p:cNvSpPr txBox="1"/>
          <p:nvPr/>
        </p:nvSpPr>
        <p:spPr>
          <a:xfrm>
            <a:off x="8275320" y="370332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Request validation</a:t>
            </a:r>
            <a:endParaRPr lang="en-US" sz="1200" dirty="0"/>
          </a:p>
        </p:txBody>
      </p:sp>
      <p:sp>
        <p:nvSpPr>
          <p:cNvPr id="40" name="Arrow 175"/>
          <p:cNvSpPr/>
          <p:nvPr/>
        </p:nvSpPr>
        <p:spPr>
          <a:xfrm>
            <a:off x="5486400" y="4343400"/>
            <a:ext cx="0" cy="320040"/>
          </a:xfrm>
          <a:prstGeom prst="line">
            <a:avLst/>
          </a:prstGeom>
          <a:noFill/>
          <a:ln w="19050">
            <a:solidFill>
              <a:schemeClr val="accent2"/>
            </a:solidFill>
            <a:prstDash val="solid"/>
            <a:tailEnd type="triangle"/>
          </a:ln>
        </p:spPr>
      </p:sp>
      <p:sp>
        <p:nvSpPr>
          <p:cNvPr id="41" name="Data layer"/>
          <p:cNvSpPr/>
          <p:nvPr/>
        </p:nvSpPr>
        <p:spPr>
          <a:xfrm>
            <a:off x="548640" y="4663440"/>
            <a:ext cx="1920240" cy="1371600"/>
          </a:xfrm>
          <a:prstGeom prst="roundRect">
            <a:avLst>
              <a:gd name="adj" fmla="val 6667"/>
            </a:avLst>
          </a:prstGeom>
          <a:solidFill>
            <a:schemeClr val="accent4">
              <a:alpha val="15000"/>
            </a:schemeClr>
          </a:solidFill>
          <a:ln w="15875">
            <a:solidFill>
              <a:schemeClr val="accent4"/>
            </a:solidFill>
            <a:prstDash val="solid"/>
          </a:ln>
        </p:spPr>
      </p:sp>
      <p:sp>
        <p:nvSpPr>
          <p:cNvPr id="42" name="Icon badge 176"/>
          <p:cNvSpPr/>
          <p:nvPr/>
        </p:nvSpPr>
        <p:spPr>
          <a:xfrm>
            <a:off x="1234440" y="4846320"/>
            <a:ext cx="548640" cy="548640"/>
          </a:xfrm>
          <a:prstGeom prst="ellipse">
            <a:avLst/>
          </a:prstGeom>
          <a:solidFill>
            <a:schemeClr val="accent4">
              <a:alpha val="22000"/>
            </a:schemeClr>
          </a:solidFill>
          <a:ln w="9525">
            <a:solidFill>
              <a:schemeClr val="accent4"/>
            </a:solidFill>
            <a:prstDash val="solid"/>
          </a:ln>
        </p:spPr>
      </p:sp>
      <p:pic>
        <p:nvPicPr>
          <p:cNvPr id="43" name="Image 2" descr="Database icon">    </p:cNvPr>
          <p:cNvPicPr>
            <a:picLocks noChangeAspect="1"/>
          </p:cNvPicPr>
          <p:nvPr/>
        </p:nvPicPr>
        <p:blipFill>
          <a:blip r:embed="rId3"/>
          <a:stretch>
            <a:fillRect/>
          </a:stretch>
        </p:blipFill>
        <p:spPr>
          <a:xfrm>
            <a:off x="1371600" y="4983480"/>
            <a:ext cx="274320" cy="274320"/>
          </a:xfrm>
          <a:prstGeom prst="rect">
            <a:avLst/>
          </a:prstGeom>
        </p:spPr>
      </p:pic>
      <p:sp>
        <p:nvSpPr>
          <p:cNvPr id="44" name="Text 38"/>
          <p:cNvSpPr txBox="1"/>
          <p:nvPr/>
        </p:nvSpPr>
        <p:spPr>
          <a:xfrm>
            <a:off x="548640" y="5486400"/>
            <a:ext cx="1920240" cy="365760"/>
          </a:xfrm>
          <a:prstGeom prst="rect">
            <a:avLst/>
          </a:prstGeom>
          <a:noFill/>
          <a:ln/>
        </p:spPr>
        <p:txBody>
          <a:bodyPr wrap="square" lIns="0" tIns="0" rIns="0" bIns="0" rtlCol="0" anchor="t"/>
          <a:lstStyle/>
          <a:p>
            <a:pPr algn="ctr" indent="0" marL="0">
              <a:buNone/>
            </a:pPr>
            <a:r>
              <a:rPr lang="en-US" sz="1800" b="1" dirty="0">
                <a:solidFill>
                  <a:schemeClr val="accent4"/>
                </a:solidFill>
              </a:rPr>
              <a:t>Data</a:t>
            </a:r>
            <a:endParaRPr lang="en-US" sz="1800" dirty="0"/>
          </a:p>
        </p:txBody>
      </p:sp>
      <p:sp>
        <p:nvSpPr>
          <p:cNvPr id="45" name="SQLAlchemy"/>
          <p:cNvSpPr/>
          <p:nvPr/>
        </p:nvSpPr>
        <p:spPr>
          <a:xfrm>
            <a:off x="2697480" y="4663440"/>
            <a:ext cx="1645920" cy="1371600"/>
          </a:xfrm>
          <a:prstGeom prst="roundRect">
            <a:avLst>
              <a:gd name="adj" fmla="val 6667"/>
            </a:avLst>
          </a:prstGeom>
          <a:solidFill>
            <a:schemeClr val="bg2"/>
          </a:solidFill>
          <a:ln w="9525">
            <a:solidFill>
              <a:schemeClr val="accent6"/>
            </a:solidFill>
            <a:prstDash val="solid"/>
          </a:ln>
        </p:spPr>
      </p:sp>
      <p:sp>
        <p:nvSpPr>
          <p:cNvPr id="46" name="Text 40"/>
          <p:cNvSpPr txBox="1"/>
          <p:nvPr/>
        </p:nvSpPr>
        <p:spPr>
          <a:xfrm>
            <a:off x="2788920" y="498348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SQLAlchemy</a:t>
            </a:r>
            <a:endParaRPr lang="en-US" sz="1600" dirty="0"/>
          </a:p>
        </p:txBody>
      </p:sp>
      <p:sp>
        <p:nvSpPr>
          <p:cNvPr id="47" name="Text 41"/>
          <p:cNvSpPr txBox="1"/>
          <p:nvPr/>
        </p:nvSpPr>
        <p:spPr>
          <a:xfrm>
            <a:off x="2788920" y="539496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Database access</a:t>
            </a:r>
            <a:endParaRPr lang="en-US" sz="1200" dirty="0"/>
          </a:p>
        </p:txBody>
      </p:sp>
      <p:sp>
        <p:nvSpPr>
          <p:cNvPr id="48" name="SQLite"/>
          <p:cNvSpPr/>
          <p:nvPr/>
        </p:nvSpPr>
        <p:spPr>
          <a:xfrm>
            <a:off x="4526280" y="4663440"/>
            <a:ext cx="1645920" cy="1371600"/>
          </a:xfrm>
          <a:prstGeom prst="roundRect">
            <a:avLst>
              <a:gd name="adj" fmla="val 6667"/>
            </a:avLst>
          </a:prstGeom>
          <a:solidFill>
            <a:schemeClr val="bg2"/>
          </a:solidFill>
          <a:ln w="9525">
            <a:solidFill>
              <a:schemeClr val="accent6"/>
            </a:solidFill>
            <a:prstDash val="solid"/>
          </a:ln>
        </p:spPr>
      </p:sp>
      <p:sp>
        <p:nvSpPr>
          <p:cNvPr id="49" name="Text 43"/>
          <p:cNvSpPr txBox="1"/>
          <p:nvPr/>
        </p:nvSpPr>
        <p:spPr>
          <a:xfrm>
            <a:off x="4617720" y="4983480"/>
            <a:ext cx="1463040" cy="365760"/>
          </a:xfrm>
          <a:prstGeom prst="rect">
            <a:avLst/>
          </a:prstGeom>
          <a:noFill/>
          <a:ln/>
        </p:spPr>
        <p:txBody>
          <a:bodyPr wrap="square" lIns="0" tIns="0" rIns="0" bIns="0" rtlCol="0" anchor="t"/>
          <a:lstStyle/>
          <a:p>
            <a:pPr algn="ctr" indent="0" marL="0">
              <a:buNone/>
            </a:pPr>
            <a:r>
              <a:rPr lang="en-US" sz="1600" b="1" dirty="0">
                <a:solidFill>
                  <a:schemeClr val="tx1"/>
                </a:solidFill>
              </a:rPr>
              <a:t>SQLite</a:t>
            </a:r>
            <a:endParaRPr lang="en-US" sz="1600" dirty="0"/>
          </a:p>
        </p:txBody>
      </p:sp>
      <p:sp>
        <p:nvSpPr>
          <p:cNvPr id="50" name="Text 44"/>
          <p:cNvSpPr txBox="1"/>
          <p:nvPr/>
        </p:nvSpPr>
        <p:spPr>
          <a:xfrm>
            <a:off x="4617720" y="5394960"/>
            <a:ext cx="1463040" cy="457200"/>
          </a:xfrm>
          <a:prstGeom prst="rect">
            <a:avLst/>
          </a:prstGeom>
          <a:noFill/>
          <a:ln/>
        </p:spPr>
        <p:txBody>
          <a:bodyPr wrap="square" lIns="0" tIns="0" rIns="0" bIns="0" rtlCol="0" anchor="t"/>
          <a:lstStyle/>
          <a:p>
            <a:pPr algn="ctr" indent="0" marL="0">
              <a:buNone/>
            </a:pPr>
            <a:r>
              <a:rPr lang="en-US" sz="1200" dirty="0">
                <a:solidFill>
                  <a:schemeClr val="tx2"/>
                </a:solidFill>
              </a:rPr>
              <a:t>Local persistence</a:t>
            </a:r>
            <a:endParaRPr lang="en-US" sz="1200" dirty="0"/>
          </a:p>
        </p:txBody>
      </p:sp>
      <p:sp>
        <p:nvSpPr>
          <p:cNvPr id="51" name="Text 45"/>
          <p:cNvSpPr txBox="1"/>
          <p:nvPr/>
        </p:nvSpPr>
        <p:spPr>
          <a:xfrm>
            <a:off x="5623560" y="2651760"/>
            <a:ext cx="1371600" cy="320040"/>
          </a:xfrm>
          <a:prstGeom prst="rect">
            <a:avLst/>
          </a:prstGeom>
          <a:noFill/>
          <a:ln/>
        </p:spPr>
        <p:txBody>
          <a:bodyPr wrap="square" lIns="0" tIns="0" rIns="0" bIns="0" rtlCol="0" anchor="ctr"/>
          <a:lstStyle/>
          <a:p>
            <a:pPr indent="0" marL="0">
              <a:buNone/>
            </a:pPr>
            <a:r>
              <a:rPr lang="en-US" sz="1200" i="1" dirty="0">
                <a:solidFill>
                  <a:schemeClr val="accent2"/>
                </a:solidFill>
              </a:rPr>
              <a:t>REST API</a:t>
            </a:r>
            <a:endParaRPr lang="en-US" sz="1200" dirty="0"/>
          </a:p>
        </p:txBody>
      </p:sp>
      <p:sp>
        <p:nvSpPr>
          <p:cNvPr id="52" name="Text 46"/>
          <p:cNvSpPr txBox="1"/>
          <p:nvPr/>
        </p:nvSpPr>
        <p:spPr>
          <a:xfrm>
            <a:off x="5623560" y="4343400"/>
            <a:ext cx="1828800" cy="320040"/>
          </a:xfrm>
          <a:prstGeom prst="rect">
            <a:avLst/>
          </a:prstGeom>
          <a:noFill/>
          <a:ln/>
        </p:spPr>
        <p:txBody>
          <a:bodyPr wrap="square" lIns="0" tIns="0" rIns="0" bIns="0" rtlCol="0" anchor="ctr"/>
          <a:lstStyle/>
          <a:p>
            <a:pPr indent="0" marL="0">
              <a:buNone/>
            </a:pPr>
            <a:r>
              <a:rPr lang="en-US" sz="1200" i="1" dirty="0">
                <a:solidFill>
                  <a:schemeClr val="accent2"/>
                </a:solidFill>
              </a:rPr>
              <a:t>Data access</a:t>
            </a:r>
            <a:endParaRPr lang="en-US" sz="12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IMPLEMENTATION AND DEMONSTRATION</a:t>
            </a:r>
            <a:endParaRPr lang="en-US" sz="3200" dirty="0"/>
          </a:p>
        </p:txBody>
      </p:sp>
      <p:sp>
        <p:nvSpPr>
          <p:cNvPr id="4" name="Setup panel"/>
          <p:cNvSpPr/>
          <p:nvPr/>
        </p:nvSpPr>
        <p:spPr>
          <a:xfrm>
            <a:off x="548640" y="1280160"/>
            <a:ext cx="5669280" cy="3108960"/>
          </a:xfrm>
          <a:prstGeom prst="roundRect">
            <a:avLst>
              <a:gd name="adj" fmla="val 2941"/>
            </a:avLst>
          </a:prstGeom>
          <a:solidFill>
            <a:schemeClr val="bg2"/>
          </a:solidFill>
          <a:ln w="9525">
            <a:solidFill>
              <a:schemeClr val="accent6"/>
            </a:solidFill>
            <a:prstDash val="solid"/>
          </a:ln>
        </p:spPr>
      </p:sp>
      <p:sp>
        <p:nvSpPr>
          <p:cNvPr id="5" name="Icon badge 177"/>
          <p:cNvSpPr/>
          <p:nvPr/>
        </p:nvSpPr>
        <p:spPr>
          <a:xfrm>
            <a:off x="777240" y="1463040"/>
            <a:ext cx="502920" cy="502920"/>
          </a:xfrm>
          <a:prstGeom prst="ellipse">
            <a:avLst/>
          </a:prstGeom>
          <a:solidFill>
            <a:schemeClr val="accent1">
              <a:alpha val="22000"/>
            </a:schemeClr>
          </a:solidFill>
          <a:ln w="9525">
            <a:solidFill>
              <a:schemeClr val="accent1"/>
            </a:solidFill>
            <a:prstDash val="solid"/>
          </a:ln>
        </p:spPr>
      </p:sp>
      <p:pic>
        <p:nvPicPr>
          <p:cNvPr id="6" name="Image 0" descr="LaptopCode icon">    </p:cNvPr>
          <p:cNvPicPr>
            <a:picLocks noChangeAspect="1"/>
          </p:cNvPicPr>
          <p:nvPr/>
        </p:nvPicPr>
        <p:blipFill>
          <a:blip r:embed="rId1"/>
          <a:stretch>
            <a:fillRect/>
          </a:stretch>
        </p:blipFill>
        <p:spPr>
          <a:xfrm>
            <a:off x="902970" y="1588770"/>
            <a:ext cx="251460" cy="251460"/>
          </a:xfrm>
          <a:prstGeom prst="rect">
            <a:avLst/>
          </a:prstGeom>
        </p:spPr>
      </p:pic>
      <p:sp>
        <p:nvSpPr>
          <p:cNvPr id="7" name="Text 3"/>
          <p:cNvSpPr txBox="1"/>
          <p:nvPr/>
        </p:nvSpPr>
        <p:spPr>
          <a:xfrm>
            <a:off x="1417320" y="1463040"/>
            <a:ext cx="4480560" cy="502920"/>
          </a:xfrm>
          <a:prstGeom prst="rect">
            <a:avLst/>
          </a:prstGeom>
          <a:noFill/>
          <a:ln/>
        </p:spPr>
        <p:txBody>
          <a:bodyPr wrap="square" lIns="0" tIns="0" rIns="0" bIns="0" rtlCol="0" anchor="ctr"/>
          <a:lstStyle/>
          <a:p>
            <a:pPr indent="0" marL="0">
              <a:buNone/>
            </a:pPr>
            <a:r>
              <a:rPr lang="en-US" sz="1800" b="1" dirty="0">
                <a:solidFill>
                  <a:schemeClr val="tx1"/>
                </a:solidFill>
              </a:rPr>
              <a:t>Local prototype setup</a:t>
            </a:r>
            <a:endParaRPr lang="en-US" sz="1800" dirty="0"/>
          </a:p>
        </p:txBody>
      </p:sp>
      <p:sp>
        <p:nvSpPr>
          <p:cNvPr id="8" name="Card 178"/>
          <p:cNvSpPr/>
          <p:nvPr/>
        </p:nvSpPr>
        <p:spPr>
          <a:xfrm>
            <a:off x="777240" y="2194560"/>
            <a:ext cx="5212080" cy="438912"/>
          </a:xfrm>
          <a:prstGeom prst="roundRect">
            <a:avLst>
              <a:gd name="adj" fmla="val 16667"/>
            </a:avLst>
          </a:prstGeom>
          <a:solidFill>
            <a:schemeClr val="bg1"/>
          </a:solidFill>
          <a:ln w="9525">
            <a:solidFill>
              <a:schemeClr val="accent6"/>
            </a:solidFill>
            <a:prstDash val="solid"/>
          </a:ln>
        </p:spPr>
      </p:sp>
      <p:sp>
        <p:nvSpPr>
          <p:cNvPr id="9" name="Text 5"/>
          <p:cNvSpPr txBox="1"/>
          <p:nvPr/>
        </p:nvSpPr>
        <p:spPr>
          <a:xfrm>
            <a:off x="914400" y="2194560"/>
            <a:ext cx="1737360" cy="438912"/>
          </a:xfrm>
          <a:prstGeom prst="rect">
            <a:avLst/>
          </a:prstGeom>
          <a:noFill/>
          <a:ln/>
        </p:spPr>
        <p:txBody>
          <a:bodyPr wrap="square" lIns="0" tIns="0" rIns="0" bIns="0" rtlCol="0" anchor="ctr"/>
          <a:lstStyle/>
          <a:p>
            <a:pPr indent="0" marL="0">
              <a:buNone/>
            </a:pPr>
            <a:r>
              <a:rPr lang="en-US" sz="1400" dirty="0">
                <a:solidFill>
                  <a:schemeClr val="tx2"/>
                </a:solidFill>
              </a:rPr>
              <a:t>Backend API</a:t>
            </a:r>
            <a:endParaRPr lang="en-US" sz="1400" dirty="0"/>
          </a:p>
        </p:txBody>
      </p:sp>
      <p:sp>
        <p:nvSpPr>
          <p:cNvPr id="10" name="Text 6"/>
          <p:cNvSpPr txBox="1"/>
          <p:nvPr/>
        </p:nvSpPr>
        <p:spPr>
          <a:xfrm>
            <a:off x="2651760" y="2194560"/>
            <a:ext cx="3291840" cy="438912"/>
          </a:xfrm>
          <a:prstGeom prst="rect">
            <a:avLst/>
          </a:prstGeom>
          <a:noFill/>
          <a:ln/>
        </p:spPr>
        <p:txBody>
          <a:bodyPr wrap="square" lIns="0" tIns="0" rIns="0" bIns="0" rtlCol="0" anchor="ctr"/>
          <a:lstStyle/>
          <a:p>
            <a:pPr indent="0" marL="0">
              <a:buNone/>
            </a:pPr>
            <a:r>
              <a:rPr lang="en-US" sz="1400" b="1" dirty="0">
                <a:solidFill>
                  <a:schemeClr val="accent2"/>
                </a:solidFill>
              </a:rPr>
              <a:t>http://127.0.0.1:8000</a:t>
            </a:r>
            <a:endParaRPr lang="en-US" sz="1400" dirty="0"/>
          </a:p>
        </p:txBody>
      </p:sp>
      <p:sp>
        <p:nvSpPr>
          <p:cNvPr id="11" name="Card 179"/>
          <p:cNvSpPr/>
          <p:nvPr/>
        </p:nvSpPr>
        <p:spPr>
          <a:xfrm>
            <a:off x="777240" y="2724912"/>
            <a:ext cx="5212080" cy="438912"/>
          </a:xfrm>
          <a:prstGeom prst="roundRect">
            <a:avLst>
              <a:gd name="adj" fmla="val 16667"/>
            </a:avLst>
          </a:prstGeom>
          <a:solidFill>
            <a:schemeClr val="bg1"/>
          </a:solidFill>
          <a:ln w="9525">
            <a:solidFill>
              <a:schemeClr val="accent6"/>
            </a:solidFill>
            <a:prstDash val="solid"/>
          </a:ln>
        </p:spPr>
      </p:sp>
      <p:sp>
        <p:nvSpPr>
          <p:cNvPr id="12" name="Text 8"/>
          <p:cNvSpPr txBox="1"/>
          <p:nvPr/>
        </p:nvSpPr>
        <p:spPr>
          <a:xfrm>
            <a:off x="914400" y="2724912"/>
            <a:ext cx="1737360" cy="438912"/>
          </a:xfrm>
          <a:prstGeom prst="rect">
            <a:avLst/>
          </a:prstGeom>
          <a:noFill/>
          <a:ln/>
        </p:spPr>
        <p:txBody>
          <a:bodyPr wrap="square" lIns="0" tIns="0" rIns="0" bIns="0" rtlCol="0" anchor="ctr"/>
          <a:lstStyle/>
          <a:p>
            <a:pPr indent="0" marL="0">
              <a:buNone/>
            </a:pPr>
            <a:r>
              <a:rPr lang="en-US" sz="1400" dirty="0">
                <a:solidFill>
                  <a:schemeClr val="tx2"/>
                </a:solidFill>
              </a:rPr>
              <a:t>Swagger docs</a:t>
            </a:r>
            <a:endParaRPr lang="en-US" sz="1400" dirty="0"/>
          </a:p>
        </p:txBody>
      </p:sp>
      <p:sp>
        <p:nvSpPr>
          <p:cNvPr id="13" name="Text 9"/>
          <p:cNvSpPr txBox="1"/>
          <p:nvPr/>
        </p:nvSpPr>
        <p:spPr>
          <a:xfrm>
            <a:off x="2651760" y="2724912"/>
            <a:ext cx="3291840" cy="438912"/>
          </a:xfrm>
          <a:prstGeom prst="rect">
            <a:avLst/>
          </a:prstGeom>
          <a:noFill/>
          <a:ln/>
        </p:spPr>
        <p:txBody>
          <a:bodyPr wrap="square" lIns="0" tIns="0" rIns="0" bIns="0" rtlCol="0" anchor="ctr"/>
          <a:lstStyle/>
          <a:p>
            <a:pPr indent="0" marL="0">
              <a:buNone/>
            </a:pPr>
            <a:r>
              <a:rPr lang="en-US" sz="1400" b="1" dirty="0">
                <a:solidFill>
                  <a:schemeClr val="accent2"/>
                </a:solidFill>
              </a:rPr>
              <a:t>http://127.0.0.1:8000/docs</a:t>
            </a:r>
            <a:endParaRPr lang="en-US" sz="1400" dirty="0"/>
          </a:p>
        </p:txBody>
      </p:sp>
      <p:sp>
        <p:nvSpPr>
          <p:cNvPr id="14" name="Card 180"/>
          <p:cNvSpPr/>
          <p:nvPr/>
        </p:nvSpPr>
        <p:spPr>
          <a:xfrm>
            <a:off x="777240" y="3255264"/>
            <a:ext cx="5212080" cy="438912"/>
          </a:xfrm>
          <a:prstGeom prst="roundRect">
            <a:avLst>
              <a:gd name="adj" fmla="val 16667"/>
            </a:avLst>
          </a:prstGeom>
          <a:solidFill>
            <a:schemeClr val="bg1"/>
          </a:solidFill>
          <a:ln w="9525">
            <a:solidFill>
              <a:schemeClr val="accent6"/>
            </a:solidFill>
            <a:prstDash val="solid"/>
          </a:ln>
        </p:spPr>
      </p:sp>
      <p:sp>
        <p:nvSpPr>
          <p:cNvPr id="15" name="Text 11"/>
          <p:cNvSpPr txBox="1"/>
          <p:nvPr/>
        </p:nvSpPr>
        <p:spPr>
          <a:xfrm>
            <a:off x="914400" y="3255264"/>
            <a:ext cx="1737360" cy="438912"/>
          </a:xfrm>
          <a:prstGeom prst="rect">
            <a:avLst/>
          </a:prstGeom>
          <a:noFill/>
          <a:ln/>
        </p:spPr>
        <p:txBody>
          <a:bodyPr wrap="square" lIns="0" tIns="0" rIns="0" bIns="0" rtlCol="0" anchor="ctr"/>
          <a:lstStyle/>
          <a:p>
            <a:pPr indent="0" marL="0">
              <a:buNone/>
            </a:pPr>
            <a:r>
              <a:rPr lang="en-US" sz="1400" dirty="0">
                <a:solidFill>
                  <a:schemeClr val="tx2"/>
                </a:solidFill>
              </a:rPr>
              <a:t>Frontend (typical)</a:t>
            </a:r>
            <a:endParaRPr lang="en-US" sz="1400" dirty="0"/>
          </a:p>
        </p:txBody>
      </p:sp>
      <p:sp>
        <p:nvSpPr>
          <p:cNvPr id="16" name="Text 12"/>
          <p:cNvSpPr txBox="1"/>
          <p:nvPr/>
        </p:nvSpPr>
        <p:spPr>
          <a:xfrm>
            <a:off x="2651760" y="3255264"/>
            <a:ext cx="3291840" cy="438912"/>
          </a:xfrm>
          <a:prstGeom prst="rect">
            <a:avLst/>
          </a:prstGeom>
          <a:noFill/>
          <a:ln/>
        </p:spPr>
        <p:txBody>
          <a:bodyPr wrap="square" lIns="0" tIns="0" rIns="0" bIns="0" rtlCol="0" anchor="ctr"/>
          <a:lstStyle/>
          <a:p>
            <a:pPr indent="0" marL="0">
              <a:buNone/>
            </a:pPr>
            <a:r>
              <a:rPr lang="en-US" sz="1400" b="1" dirty="0">
                <a:solidFill>
                  <a:schemeClr val="accent2"/>
                </a:solidFill>
              </a:rPr>
              <a:t>http://localhost:5173</a:t>
            </a:r>
            <a:endParaRPr lang="en-US" sz="1400" dirty="0"/>
          </a:p>
        </p:txBody>
      </p:sp>
      <p:sp>
        <p:nvSpPr>
          <p:cNvPr id="17" name="Card 181"/>
          <p:cNvSpPr/>
          <p:nvPr/>
        </p:nvSpPr>
        <p:spPr>
          <a:xfrm>
            <a:off x="777240" y="3785616"/>
            <a:ext cx="5212080" cy="438912"/>
          </a:xfrm>
          <a:prstGeom prst="roundRect">
            <a:avLst>
              <a:gd name="adj" fmla="val 16667"/>
            </a:avLst>
          </a:prstGeom>
          <a:solidFill>
            <a:schemeClr val="bg1"/>
          </a:solidFill>
          <a:ln w="9525">
            <a:solidFill>
              <a:schemeClr val="accent6"/>
            </a:solidFill>
            <a:prstDash val="solid"/>
          </a:ln>
        </p:spPr>
      </p:sp>
      <p:sp>
        <p:nvSpPr>
          <p:cNvPr id="18" name="Text 14"/>
          <p:cNvSpPr txBox="1"/>
          <p:nvPr/>
        </p:nvSpPr>
        <p:spPr>
          <a:xfrm>
            <a:off x="914400" y="3785616"/>
            <a:ext cx="1737360" cy="438912"/>
          </a:xfrm>
          <a:prstGeom prst="rect">
            <a:avLst/>
          </a:prstGeom>
          <a:noFill/>
          <a:ln/>
        </p:spPr>
        <p:txBody>
          <a:bodyPr wrap="square" lIns="0" tIns="0" rIns="0" bIns="0" rtlCol="0" anchor="ctr"/>
          <a:lstStyle/>
          <a:p>
            <a:pPr indent="0" marL="0">
              <a:buNone/>
            </a:pPr>
            <a:r>
              <a:rPr lang="en-US" sz="1400" dirty="0">
                <a:solidFill>
                  <a:schemeClr val="tx2"/>
                </a:solidFill>
              </a:rPr>
              <a:t>Database</a:t>
            </a:r>
            <a:endParaRPr lang="en-US" sz="1400" dirty="0"/>
          </a:p>
        </p:txBody>
      </p:sp>
      <p:sp>
        <p:nvSpPr>
          <p:cNvPr id="19" name="Text 15"/>
          <p:cNvSpPr txBox="1"/>
          <p:nvPr/>
        </p:nvSpPr>
        <p:spPr>
          <a:xfrm>
            <a:off x="2651760" y="3785616"/>
            <a:ext cx="3291840" cy="438912"/>
          </a:xfrm>
          <a:prstGeom prst="rect">
            <a:avLst/>
          </a:prstGeom>
          <a:noFill/>
          <a:ln/>
        </p:spPr>
        <p:txBody>
          <a:bodyPr wrap="square" lIns="0" tIns="0" rIns="0" bIns="0" rtlCol="0" anchor="ctr"/>
          <a:lstStyle/>
          <a:p>
            <a:pPr indent="0" marL="0">
              <a:buNone/>
            </a:pPr>
            <a:r>
              <a:rPr lang="en-US" sz="1400" b="1" dirty="0">
                <a:solidFill>
                  <a:schemeClr val="accent2"/>
                </a:solidFill>
              </a:rPr>
              <a:t>SQLite – local persistence</a:t>
            </a:r>
            <a:endParaRPr lang="en-US" sz="1400" dirty="0"/>
          </a:p>
        </p:txBody>
      </p:sp>
      <p:sp>
        <p:nvSpPr>
          <p:cNvPr id="20" name="Demo sequence panel"/>
          <p:cNvSpPr/>
          <p:nvPr/>
        </p:nvSpPr>
        <p:spPr>
          <a:xfrm>
            <a:off x="6492240" y="1280160"/>
            <a:ext cx="5148072" cy="3108960"/>
          </a:xfrm>
          <a:prstGeom prst="roundRect">
            <a:avLst>
              <a:gd name="adj" fmla="val 2941"/>
            </a:avLst>
          </a:prstGeom>
          <a:solidFill>
            <a:schemeClr val="bg2"/>
          </a:solidFill>
          <a:ln w="9525">
            <a:solidFill>
              <a:schemeClr val="accent6"/>
            </a:solidFill>
            <a:prstDash val="solid"/>
          </a:ln>
        </p:spPr>
      </p:sp>
      <p:sp>
        <p:nvSpPr>
          <p:cNvPr id="21" name="Icon badge 182"/>
          <p:cNvSpPr/>
          <p:nvPr/>
        </p:nvSpPr>
        <p:spPr>
          <a:xfrm>
            <a:off x="6720840" y="1463040"/>
            <a:ext cx="502920" cy="502920"/>
          </a:xfrm>
          <a:prstGeom prst="ellipse">
            <a:avLst/>
          </a:prstGeom>
          <a:solidFill>
            <a:schemeClr val="accent3">
              <a:alpha val="22000"/>
            </a:schemeClr>
          </a:solidFill>
          <a:ln w="9525">
            <a:solidFill>
              <a:schemeClr val="accent3"/>
            </a:solidFill>
            <a:prstDash val="solid"/>
          </a:ln>
        </p:spPr>
      </p:sp>
      <p:pic>
        <p:nvPicPr>
          <p:cNvPr id="22" name="Image 1" descr="PlayCircle icon">    </p:cNvPr>
          <p:cNvPicPr>
            <a:picLocks noChangeAspect="1"/>
          </p:cNvPicPr>
          <p:nvPr/>
        </p:nvPicPr>
        <p:blipFill>
          <a:blip r:embed="rId2"/>
          <a:stretch>
            <a:fillRect/>
          </a:stretch>
        </p:blipFill>
        <p:spPr>
          <a:xfrm>
            <a:off x="6846570" y="1588770"/>
            <a:ext cx="251460" cy="251460"/>
          </a:xfrm>
          <a:prstGeom prst="rect">
            <a:avLst/>
          </a:prstGeom>
        </p:spPr>
      </p:pic>
      <p:sp>
        <p:nvSpPr>
          <p:cNvPr id="23" name="Text 18"/>
          <p:cNvSpPr txBox="1"/>
          <p:nvPr/>
        </p:nvSpPr>
        <p:spPr>
          <a:xfrm>
            <a:off x="7360920" y="1463040"/>
            <a:ext cx="4114800" cy="502920"/>
          </a:xfrm>
          <a:prstGeom prst="rect">
            <a:avLst/>
          </a:prstGeom>
          <a:noFill/>
          <a:ln/>
        </p:spPr>
        <p:txBody>
          <a:bodyPr wrap="square" lIns="0" tIns="0" rIns="0" bIns="0" rtlCol="0" anchor="ctr"/>
          <a:lstStyle/>
          <a:p>
            <a:pPr indent="0" marL="0">
              <a:buNone/>
            </a:pPr>
            <a:r>
              <a:rPr lang="en-US" sz="1800" b="1" dirty="0">
                <a:solidFill>
                  <a:schemeClr val="tx1"/>
                </a:solidFill>
              </a:rPr>
              <a:t>Planned demonstration sequence</a:t>
            </a:r>
            <a:endParaRPr lang="en-US" sz="1800" dirty="0"/>
          </a:p>
        </p:txBody>
      </p:sp>
      <p:sp>
        <p:nvSpPr>
          <p:cNvPr id="24" name="Step 1"/>
          <p:cNvSpPr/>
          <p:nvPr/>
        </p:nvSpPr>
        <p:spPr>
          <a:xfrm>
            <a:off x="6766560" y="2148840"/>
            <a:ext cx="292608" cy="292608"/>
          </a:xfrm>
          <a:prstGeom prst="ellipse">
            <a:avLst/>
          </a:prstGeom>
          <a:solidFill>
            <a:schemeClr val="accent1"/>
          </a:solidFill>
          <a:ln w="6350">
            <a:solidFill>
              <a:schemeClr val="accent1"/>
            </a:solidFill>
            <a:prstDash val="solid"/>
          </a:ln>
        </p:spPr>
      </p:sp>
      <p:sp>
        <p:nvSpPr>
          <p:cNvPr id="25" name="Text 20"/>
          <p:cNvSpPr txBox="1"/>
          <p:nvPr/>
        </p:nvSpPr>
        <p:spPr>
          <a:xfrm>
            <a:off x="6766560" y="214884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6" name="Text 21"/>
          <p:cNvSpPr txBox="1"/>
          <p:nvPr/>
        </p:nvSpPr>
        <p:spPr>
          <a:xfrm>
            <a:off x="7223760" y="2148840"/>
            <a:ext cx="4206240" cy="292608"/>
          </a:xfrm>
          <a:prstGeom prst="rect">
            <a:avLst/>
          </a:prstGeom>
          <a:noFill/>
          <a:ln/>
        </p:spPr>
        <p:txBody>
          <a:bodyPr wrap="square" lIns="0" tIns="0" rIns="0" bIns="0" rtlCol="0" anchor="ctr"/>
          <a:lstStyle/>
          <a:p>
            <a:pPr indent="0" marL="0">
              <a:buNone/>
            </a:pPr>
            <a:r>
              <a:rPr lang="en-US" sz="1400" dirty="0">
                <a:solidFill>
                  <a:schemeClr val="tx1"/>
                </a:solidFill>
              </a:rPr>
              <a:t>Dashboard</a:t>
            </a:r>
            <a:endParaRPr lang="en-US" sz="1400" dirty="0"/>
          </a:p>
        </p:txBody>
      </p:sp>
      <p:sp>
        <p:nvSpPr>
          <p:cNvPr id="27" name="Step 2"/>
          <p:cNvSpPr/>
          <p:nvPr/>
        </p:nvSpPr>
        <p:spPr>
          <a:xfrm>
            <a:off x="6766560" y="2514600"/>
            <a:ext cx="292608" cy="292608"/>
          </a:xfrm>
          <a:prstGeom prst="ellipse">
            <a:avLst/>
          </a:prstGeom>
          <a:solidFill>
            <a:schemeClr val="accent1"/>
          </a:solidFill>
          <a:ln w="6350">
            <a:solidFill>
              <a:schemeClr val="accent1"/>
            </a:solidFill>
            <a:prstDash val="solid"/>
          </a:ln>
        </p:spPr>
      </p:sp>
      <p:sp>
        <p:nvSpPr>
          <p:cNvPr id="28" name="Text 23"/>
          <p:cNvSpPr txBox="1"/>
          <p:nvPr/>
        </p:nvSpPr>
        <p:spPr>
          <a:xfrm>
            <a:off x="6766560" y="251460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9" name="Text 24"/>
          <p:cNvSpPr txBox="1"/>
          <p:nvPr/>
        </p:nvSpPr>
        <p:spPr>
          <a:xfrm>
            <a:off x="7223760" y="2514600"/>
            <a:ext cx="4206240" cy="292608"/>
          </a:xfrm>
          <a:prstGeom prst="rect">
            <a:avLst/>
          </a:prstGeom>
          <a:noFill/>
          <a:ln/>
        </p:spPr>
        <p:txBody>
          <a:bodyPr wrap="square" lIns="0" tIns="0" rIns="0" bIns="0" rtlCol="0" anchor="ctr"/>
          <a:lstStyle/>
          <a:p>
            <a:pPr indent="0" marL="0">
              <a:buNone/>
            </a:pPr>
            <a:r>
              <a:rPr lang="en-US" sz="1400" dirty="0">
                <a:solidFill>
                  <a:schemeClr val="tx1"/>
                </a:solidFill>
              </a:rPr>
              <a:t>Emergency intake</a:t>
            </a:r>
            <a:endParaRPr lang="en-US" sz="1400" dirty="0"/>
          </a:p>
        </p:txBody>
      </p:sp>
      <p:sp>
        <p:nvSpPr>
          <p:cNvPr id="30" name="Step 3"/>
          <p:cNvSpPr/>
          <p:nvPr/>
        </p:nvSpPr>
        <p:spPr>
          <a:xfrm>
            <a:off x="6766560" y="2880360"/>
            <a:ext cx="292608" cy="292608"/>
          </a:xfrm>
          <a:prstGeom prst="ellipse">
            <a:avLst/>
          </a:prstGeom>
          <a:solidFill>
            <a:schemeClr val="accent1"/>
          </a:solidFill>
          <a:ln w="6350">
            <a:solidFill>
              <a:schemeClr val="accent1"/>
            </a:solidFill>
            <a:prstDash val="solid"/>
          </a:ln>
        </p:spPr>
      </p:sp>
      <p:sp>
        <p:nvSpPr>
          <p:cNvPr id="31" name="Text 26"/>
          <p:cNvSpPr txBox="1"/>
          <p:nvPr/>
        </p:nvSpPr>
        <p:spPr>
          <a:xfrm>
            <a:off x="6766560" y="288036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2" name="Text 27"/>
          <p:cNvSpPr txBox="1"/>
          <p:nvPr/>
        </p:nvSpPr>
        <p:spPr>
          <a:xfrm>
            <a:off x="7223760" y="2880360"/>
            <a:ext cx="4206240" cy="292608"/>
          </a:xfrm>
          <a:prstGeom prst="rect">
            <a:avLst/>
          </a:prstGeom>
          <a:noFill/>
          <a:ln/>
        </p:spPr>
        <p:txBody>
          <a:bodyPr wrap="square" lIns="0" tIns="0" rIns="0" bIns="0" rtlCol="0" anchor="ctr"/>
          <a:lstStyle/>
          <a:p>
            <a:pPr indent="0" marL="0">
              <a:buNone/>
            </a:pPr>
            <a:r>
              <a:rPr lang="en-US" sz="1400" dirty="0">
                <a:solidFill>
                  <a:schemeClr val="tx1"/>
                </a:solidFill>
              </a:rPr>
              <a:t>Severity output</a:t>
            </a:r>
            <a:endParaRPr lang="en-US" sz="1400" dirty="0"/>
          </a:p>
        </p:txBody>
      </p:sp>
      <p:sp>
        <p:nvSpPr>
          <p:cNvPr id="33" name="Step 4"/>
          <p:cNvSpPr/>
          <p:nvPr/>
        </p:nvSpPr>
        <p:spPr>
          <a:xfrm>
            <a:off x="6766560" y="3246120"/>
            <a:ext cx="292608" cy="292608"/>
          </a:xfrm>
          <a:prstGeom prst="ellipse">
            <a:avLst/>
          </a:prstGeom>
          <a:solidFill>
            <a:schemeClr val="accent1"/>
          </a:solidFill>
          <a:ln w="6350">
            <a:solidFill>
              <a:schemeClr val="accent1"/>
            </a:solidFill>
            <a:prstDash val="solid"/>
          </a:ln>
        </p:spPr>
      </p:sp>
      <p:sp>
        <p:nvSpPr>
          <p:cNvPr id="34" name="Text 29"/>
          <p:cNvSpPr txBox="1"/>
          <p:nvPr/>
        </p:nvSpPr>
        <p:spPr>
          <a:xfrm>
            <a:off x="6766560" y="32461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5" name="Text 30"/>
          <p:cNvSpPr txBox="1"/>
          <p:nvPr/>
        </p:nvSpPr>
        <p:spPr>
          <a:xfrm>
            <a:off x="7223760" y="3246120"/>
            <a:ext cx="4206240" cy="292608"/>
          </a:xfrm>
          <a:prstGeom prst="rect">
            <a:avLst/>
          </a:prstGeom>
          <a:noFill/>
          <a:ln/>
        </p:spPr>
        <p:txBody>
          <a:bodyPr wrap="square" lIns="0" tIns="0" rIns="0" bIns="0" rtlCol="0" anchor="ctr"/>
          <a:lstStyle/>
          <a:p>
            <a:pPr indent="0" marL="0">
              <a:buNone/>
            </a:pPr>
            <a:r>
              <a:rPr lang="en-US" sz="1400" dirty="0">
                <a:solidFill>
                  <a:schemeClr val="tx1"/>
                </a:solidFill>
              </a:rPr>
              <a:t>Ambulance recommendation</a:t>
            </a:r>
            <a:endParaRPr lang="en-US" sz="1400" dirty="0"/>
          </a:p>
        </p:txBody>
      </p:sp>
      <p:sp>
        <p:nvSpPr>
          <p:cNvPr id="36" name="Step 5"/>
          <p:cNvSpPr/>
          <p:nvPr/>
        </p:nvSpPr>
        <p:spPr>
          <a:xfrm>
            <a:off x="6766560" y="3611880"/>
            <a:ext cx="292608" cy="292608"/>
          </a:xfrm>
          <a:prstGeom prst="ellipse">
            <a:avLst/>
          </a:prstGeom>
          <a:solidFill>
            <a:schemeClr val="accent1"/>
          </a:solidFill>
          <a:ln w="6350">
            <a:solidFill>
              <a:schemeClr val="accent1"/>
            </a:solidFill>
            <a:prstDash val="solid"/>
          </a:ln>
        </p:spPr>
      </p:sp>
      <p:sp>
        <p:nvSpPr>
          <p:cNvPr id="37" name="Text 32"/>
          <p:cNvSpPr txBox="1"/>
          <p:nvPr/>
        </p:nvSpPr>
        <p:spPr>
          <a:xfrm>
            <a:off x="6766560" y="361188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8" name="Text 33"/>
          <p:cNvSpPr txBox="1"/>
          <p:nvPr/>
        </p:nvSpPr>
        <p:spPr>
          <a:xfrm>
            <a:off x="7223760" y="3611880"/>
            <a:ext cx="4206240" cy="292608"/>
          </a:xfrm>
          <a:prstGeom prst="rect">
            <a:avLst/>
          </a:prstGeom>
          <a:noFill/>
          <a:ln/>
        </p:spPr>
        <p:txBody>
          <a:bodyPr wrap="square" lIns="0" tIns="0" rIns="0" bIns="0" rtlCol="0" anchor="ctr"/>
          <a:lstStyle/>
          <a:p>
            <a:pPr indent="0" marL="0">
              <a:buNone/>
            </a:pPr>
            <a:r>
              <a:rPr lang="en-US" sz="1400" dirty="0">
                <a:solidFill>
                  <a:schemeClr val="tx1"/>
                </a:solidFill>
              </a:rPr>
              <a:t>Hospital recommendation</a:t>
            </a:r>
            <a:endParaRPr lang="en-US" sz="1400" dirty="0"/>
          </a:p>
        </p:txBody>
      </p:sp>
      <p:sp>
        <p:nvSpPr>
          <p:cNvPr id="39" name="Step 6"/>
          <p:cNvSpPr/>
          <p:nvPr/>
        </p:nvSpPr>
        <p:spPr>
          <a:xfrm>
            <a:off x="6766560" y="3977640"/>
            <a:ext cx="292608" cy="292608"/>
          </a:xfrm>
          <a:prstGeom prst="ellipse">
            <a:avLst/>
          </a:prstGeom>
          <a:solidFill>
            <a:schemeClr val="accent1"/>
          </a:solidFill>
          <a:ln w="6350">
            <a:solidFill>
              <a:schemeClr val="accent1"/>
            </a:solidFill>
            <a:prstDash val="solid"/>
          </a:ln>
        </p:spPr>
      </p:sp>
      <p:sp>
        <p:nvSpPr>
          <p:cNvPr id="40" name="Text 35"/>
          <p:cNvSpPr txBox="1"/>
          <p:nvPr/>
        </p:nvSpPr>
        <p:spPr>
          <a:xfrm>
            <a:off x="6766560" y="397764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1" name="Text 36"/>
          <p:cNvSpPr txBox="1"/>
          <p:nvPr/>
        </p:nvSpPr>
        <p:spPr>
          <a:xfrm>
            <a:off x="7223760" y="3977640"/>
            <a:ext cx="4206240" cy="292608"/>
          </a:xfrm>
          <a:prstGeom prst="rect">
            <a:avLst/>
          </a:prstGeom>
          <a:noFill/>
          <a:ln/>
        </p:spPr>
        <p:txBody>
          <a:bodyPr wrap="square" lIns="0" tIns="0" rIns="0" bIns="0" rtlCol="0" anchor="ctr"/>
          <a:lstStyle/>
          <a:p>
            <a:pPr indent="0" marL="0">
              <a:buNone/>
            </a:pPr>
            <a:r>
              <a:rPr lang="en-US" sz="1400" dirty="0">
                <a:solidFill>
                  <a:schemeClr val="tx1"/>
                </a:solidFill>
              </a:rPr>
              <a:t>Alerts and analytics</a:t>
            </a:r>
            <a:endParaRPr lang="en-US" sz="1400" dirty="0"/>
          </a:p>
        </p:txBody>
      </p:sp>
      <p:sp>
        <p:nvSpPr>
          <p:cNvPr id="42" name="Screenshot placeholder"/>
          <p:cNvSpPr/>
          <p:nvPr/>
        </p:nvSpPr>
        <p:spPr>
          <a:xfrm>
            <a:off x="548640" y="4617720"/>
            <a:ext cx="11091672" cy="1600200"/>
          </a:xfrm>
          <a:prstGeom prst="roundRect">
            <a:avLst>
              <a:gd name="adj" fmla="val 5714"/>
            </a:avLst>
          </a:prstGeom>
          <a:solidFill>
            <a:schemeClr val="bg1"/>
          </a:solidFill>
          <a:ln w="15875">
            <a:solidFill>
              <a:schemeClr val="accent4"/>
            </a:solidFill>
            <a:prstDash val="dash"/>
          </a:ln>
        </p:spPr>
      </p:sp>
      <p:sp>
        <p:nvSpPr>
          <p:cNvPr id="43" name="Icon badge 183"/>
          <p:cNvSpPr/>
          <p:nvPr/>
        </p:nvSpPr>
        <p:spPr>
          <a:xfrm>
            <a:off x="822960" y="5166360"/>
            <a:ext cx="502920" cy="502920"/>
          </a:xfrm>
          <a:prstGeom prst="ellipse">
            <a:avLst/>
          </a:prstGeom>
          <a:solidFill>
            <a:schemeClr val="accent4">
              <a:alpha val="22000"/>
            </a:schemeClr>
          </a:solidFill>
          <a:ln w="9525">
            <a:solidFill>
              <a:schemeClr val="accent4"/>
            </a:solidFill>
            <a:prstDash val="solid"/>
          </a:ln>
        </p:spPr>
      </p:sp>
      <p:pic>
        <p:nvPicPr>
          <p:cNvPr id="44" name="Image 2" descr="Image icon">    </p:cNvPr>
          <p:cNvPicPr>
            <a:picLocks noChangeAspect="1"/>
          </p:cNvPicPr>
          <p:nvPr/>
        </p:nvPicPr>
        <p:blipFill>
          <a:blip r:embed="rId3"/>
          <a:stretch>
            <a:fillRect/>
          </a:stretch>
        </p:blipFill>
        <p:spPr>
          <a:xfrm>
            <a:off x="948690" y="5292090"/>
            <a:ext cx="251460" cy="251460"/>
          </a:xfrm>
          <a:prstGeom prst="rect">
            <a:avLst/>
          </a:prstGeom>
        </p:spPr>
      </p:pic>
      <p:sp>
        <p:nvSpPr>
          <p:cNvPr id="45" name="Text 39"/>
          <p:cNvSpPr txBox="1"/>
          <p:nvPr/>
        </p:nvSpPr>
        <p:spPr>
          <a:xfrm>
            <a:off x="1554480" y="4846320"/>
            <a:ext cx="9875520" cy="411480"/>
          </a:xfrm>
          <a:prstGeom prst="rect">
            <a:avLst/>
          </a:prstGeom>
          <a:noFill/>
          <a:ln/>
        </p:spPr>
        <p:txBody>
          <a:bodyPr wrap="square" lIns="0" tIns="0" rIns="0" bIns="0" rtlCol="0" anchor="ctr"/>
          <a:lstStyle/>
          <a:p>
            <a:pPr indent="0" marL="0">
              <a:buNone/>
            </a:pPr>
            <a:r>
              <a:rPr lang="en-US" sz="1600" b="1" dirty="0">
                <a:solidFill>
                  <a:schemeClr val="accent4"/>
                </a:solidFill>
              </a:rPr>
              <a:t>[INSERT VERIFIED APPLICATION SCREENSHOTS HERE]</a:t>
            </a:r>
            <a:endParaRPr lang="en-US" sz="1600" dirty="0"/>
          </a:p>
        </p:txBody>
      </p:sp>
      <p:sp>
        <p:nvSpPr>
          <p:cNvPr id="46" name="Text 40"/>
          <p:cNvSpPr txBox="1"/>
          <p:nvPr/>
        </p:nvSpPr>
        <p:spPr>
          <a:xfrm>
            <a:off x="1554480" y="5303520"/>
            <a:ext cx="9875520" cy="731520"/>
          </a:xfrm>
          <a:prstGeom prst="rect">
            <a:avLst/>
          </a:prstGeom>
          <a:noFill/>
          <a:ln/>
        </p:spPr>
        <p:txBody>
          <a:bodyPr wrap="square" lIns="0" tIns="0" rIns="0" bIns="0" rtlCol="0" anchor="t"/>
          <a:lstStyle/>
          <a:p>
            <a:pPr indent="0" marL="0">
              <a:buNone/>
            </a:pPr>
            <a:r>
              <a:rPr lang="en-US" sz="1400" dirty="0">
                <a:solidFill>
                  <a:schemeClr val="tx2"/>
                </a:solidFill>
              </a:rPr>
              <a:t>No real screenshots were supplied. Add dashboard, intake, severity and recommendation screens from the running app; the title-slide dashboard is only a conceptual mockup.</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LIMITATIONS AND FUTURE ENHANCEMENTS</a:t>
            </a:r>
            <a:endParaRPr lang="en-US" sz="3200" dirty="0"/>
          </a:p>
        </p:txBody>
      </p:sp>
      <p:sp>
        <p:nvSpPr>
          <p:cNvPr id="4" name="Current limitations panel"/>
          <p:cNvSpPr/>
          <p:nvPr/>
        </p:nvSpPr>
        <p:spPr>
          <a:xfrm>
            <a:off x="548640" y="1280160"/>
            <a:ext cx="5394960" cy="4846320"/>
          </a:xfrm>
          <a:prstGeom prst="roundRect">
            <a:avLst>
              <a:gd name="adj" fmla="val 1887"/>
            </a:avLst>
          </a:prstGeom>
          <a:solidFill>
            <a:schemeClr val="bg2"/>
          </a:solidFill>
          <a:ln w="15875">
            <a:solidFill>
              <a:schemeClr val="accent4"/>
            </a:solidFill>
            <a:prstDash val="solid"/>
          </a:ln>
        </p:spPr>
      </p:sp>
      <p:sp>
        <p:nvSpPr>
          <p:cNvPr id="5" name="Icon badge 184"/>
          <p:cNvSpPr/>
          <p:nvPr/>
        </p:nvSpPr>
        <p:spPr>
          <a:xfrm>
            <a:off x="777240" y="1463040"/>
            <a:ext cx="548640" cy="548640"/>
          </a:xfrm>
          <a:prstGeom prst="ellipse">
            <a:avLst/>
          </a:prstGeom>
          <a:solidFill>
            <a:schemeClr val="accent4">
              <a:alpha val="22000"/>
            </a:schemeClr>
          </a:solidFill>
          <a:ln w="9525">
            <a:solidFill>
              <a:schemeClr val="accent4"/>
            </a:solidFill>
            <a:prstDash val="solid"/>
          </a:ln>
        </p:spPr>
      </p:sp>
      <p:pic>
        <p:nvPicPr>
          <p:cNvPr id="6" name="Image 0" descr="ExclamationTriangle icon">    </p:cNvPr>
          <p:cNvPicPr>
            <a:picLocks noChangeAspect="1"/>
          </p:cNvPicPr>
          <p:nvPr/>
        </p:nvPicPr>
        <p:blipFill>
          <a:blip r:embed="rId1"/>
          <a:stretch>
            <a:fillRect/>
          </a:stretch>
        </p:blipFill>
        <p:spPr>
          <a:xfrm>
            <a:off x="914400" y="1600200"/>
            <a:ext cx="274320" cy="274320"/>
          </a:xfrm>
          <a:prstGeom prst="rect">
            <a:avLst/>
          </a:prstGeom>
        </p:spPr>
      </p:pic>
      <p:sp>
        <p:nvSpPr>
          <p:cNvPr id="7" name="Text 3"/>
          <p:cNvSpPr txBox="1"/>
          <p:nvPr/>
        </p:nvSpPr>
        <p:spPr>
          <a:xfrm>
            <a:off x="1508760" y="1463040"/>
            <a:ext cx="4206240" cy="548640"/>
          </a:xfrm>
          <a:prstGeom prst="rect">
            <a:avLst/>
          </a:prstGeom>
          <a:noFill/>
          <a:ln/>
        </p:spPr>
        <p:txBody>
          <a:bodyPr wrap="square" lIns="0" tIns="0" rIns="0" bIns="0" rtlCol="0" anchor="ctr"/>
          <a:lstStyle/>
          <a:p>
            <a:pPr indent="0" marL="0">
              <a:buNone/>
            </a:pPr>
            <a:r>
              <a:rPr lang="en-US" sz="2000" b="1" dirty="0">
                <a:solidFill>
                  <a:schemeClr val="accent4"/>
                </a:solidFill>
              </a:rPr>
              <a:t>Current limitations</a:t>
            </a:r>
            <a:endParaRPr lang="en-US" sz="2000" dirty="0"/>
          </a:p>
        </p:txBody>
      </p:sp>
      <p:sp>
        <p:nvSpPr>
          <p:cNvPr id="8" name="Bullet dot"/>
          <p:cNvSpPr/>
          <p:nvPr/>
        </p:nvSpPr>
        <p:spPr>
          <a:xfrm>
            <a:off x="822960" y="2569464"/>
            <a:ext cx="146304" cy="146304"/>
          </a:xfrm>
          <a:prstGeom prst="ellipse">
            <a:avLst/>
          </a:prstGeom>
          <a:solidFill>
            <a:schemeClr val="accent4"/>
          </a:solidFill>
          <a:ln w="3175">
            <a:solidFill>
              <a:schemeClr val="accent4"/>
            </a:solidFill>
            <a:prstDash val="solid"/>
          </a:ln>
        </p:spPr>
      </p:sp>
      <p:sp>
        <p:nvSpPr>
          <p:cNvPr id="9" name="Text 5"/>
          <p:cNvSpPr txBox="1"/>
          <p:nvPr/>
        </p:nvSpPr>
        <p:spPr>
          <a:xfrm>
            <a:off x="1143000" y="2286000"/>
            <a:ext cx="4572000" cy="640080"/>
          </a:xfrm>
          <a:prstGeom prst="rect">
            <a:avLst/>
          </a:prstGeom>
          <a:noFill/>
          <a:ln/>
        </p:spPr>
        <p:txBody>
          <a:bodyPr wrap="square" lIns="0" tIns="0" rIns="0" bIns="0" rtlCol="0" anchor="ctr"/>
          <a:lstStyle/>
          <a:p>
            <a:pPr indent="0" marL="0">
              <a:buNone/>
            </a:pPr>
            <a:r>
              <a:rPr lang="en-US" sz="1400" dirty="0">
                <a:solidFill>
                  <a:schemeClr val="tx1"/>
                </a:solidFill>
              </a:rPr>
              <a:t>Local SQLite storage and demonstration seed data</a:t>
            </a:r>
            <a:endParaRPr lang="en-US" sz="1400" dirty="0"/>
          </a:p>
        </p:txBody>
      </p:sp>
      <p:sp>
        <p:nvSpPr>
          <p:cNvPr id="10" name="Bullet dot"/>
          <p:cNvSpPr/>
          <p:nvPr/>
        </p:nvSpPr>
        <p:spPr>
          <a:xfrm>
            <a:off x="822960" y="3282696"/>
            <a:ext cx="146304" cy="146304"/>
          </a:xfrm>
          <a:prstGeom prst="ellipse">
            <a:avLst/>
          </a:prstGeom>
          <a:solidFill>
            <a:schemeClr val="accent4"/>
          </a:solidFill>
          <a:ln w="3175">
            <a:solidFill>
              <a:schemeClr val="accent4"/>
            </a:solidFill>
            <a:prstDash val="solid"/>
          </a:ln>
        </p:spPr>
      </p:sp>
      <p:sp>
        <p:nvSpPr>
          <p:cNvPr id="11" name="Text 7"/>
          <p:cNvSpPr txBox="1"/>
          <p:nvPr/>
        </p:nvSpPr>
        <p:spPr>
          <a:xfrm>
            <a:off x="1143000" y="2999232"/>
            <a:ext cx="4572000" cy="640080"/>
          </a:xfrm>
          <a:prstGeom prst="rect">
            <a:avLst/>
          </a:prstGeom>
          <a:noFill/>
          <a:ln/>
        </p:spPr>
        <p:txBody>
          <a:bodyPr wrap="square" lIns="0" tIns="0" rIns="0" bIns="0" rtlCol="0" anchor="ctr"/>
          <a:lstStyle/>
          <a:p>
            <a:pPr indent="0" marL="0">
              <a:buNone/>
            </a:pPr>
            <a:r>
              <a:rPr lang="en-US" sz="1400" dirty="0">
                <a:solidFill>
                  <a:schemeClr val="tx1"/>
                </a:solidFill>
              </a:rPr>
              <a:t>Hard-coded example location coordinates</a:t>
            </a:r>
            <a:endParaRPr lang="en-US" sz="1400" dirty="0"/>
          </a:p>
        </p:txBody>
      </p:sp>
      <p:sp>
        <p:nvSpPr>
          <p:cNvPr id="12" name="Bullet dot"/>
          <p:cNvSpPr/>
          <p:nvPr/>
        </p:nvSpPr>
        <p:spPr>
          <a:xfrm>
            <a:off x="822960" y="3995928"/>
            <a:ext cx="146304" cy="146304"/>
          </a:xfrm>
          <a:prstGeom prst="ellipse">
            <a:avLst/>
          </a:prstGeom>
          <a:solidFill>
            <a:schemeClr val="accent4"/>
          </a:solidFill>
          <a:ln w="3175">
            <a:solidFill>
              <a:schemeClr val="accent4"/>
            </a:solidFill>
            <a:prstDash val="solid"/>
          </a:ln>
        </p:spPr>
      </p:sp>
      <p:sp>
        <p:nvSpPr>
          <p:cNvPr id="13" name="Text 9"/>
          <p:cNvSpPr txBox="1"/>
          <p:nvPr/>
        </p:nvSpPr>
        <p:spPr>
          <a:xfrm>
            <a:off x="1143000" y="3712464"/>
            <a:ext cx="4572000" cy="640080"/>
          </a:xfrm>
          <a:prstGeom prst="rect">
            <a:avLst/>
          </a:prstGeom>
          <a:noFill/>
          <a:ln/>
        </p:spPr>
        <p:txBody>
          <a:bodyPr wrap="square" lIns="0" tIns="0" rIns="0" bIns="0" rtlCol="0" anchor="ctr"/>
          <a:lstStyle/>
          <a:p>
            <a:pPr indent="0" marL="0">
              <a:buNone/>
            </a:pPr>
            <a:r>
              <a:rPr lang="en-US" sz="1400" dirty="0">
                <a:solidFill>
                  <a:schemeClr val="tx1"/>
                </a:solidFill>
              </a:rPr>
              <a:t>No live GPS tracking</a:t>
            </a:r>
            <a:endParaRPr lang="en-US" sz="1400" dirty="0"/>
          </a:p>
        </p:txBody>
      </p:sp>
      <p:sp>
        <p:nvSpPr>
          <p:cNvPr id="14" name="Bullet dot"/>
          <p:cNvSpPr/>
          <p:nvPr/>
        </p:nvSpPr>
        <p:spPr>
          <a:xfrm>
            <a:off x="822960" y="4709160"/>
            <a:ext cx="146304" cy="146304"/>
          </a:xfrm>
          <a:prstGeom prst="ellipse">
            <a:avLst/>
          </a:prstGeom>
          <a:solidFill>
            <a:schemeClr val="accent4"/>
          </a:solidFill>
          <a:ln w="3175">
            <a:solidFill>
              <a:schemeClr val="accent4"/>
            </a:solidFill>
            <a:prstDash val="solid"/>
          </a:ln>
        </p:spPr>
      </p:sp>
      <p:sp>
        <p:nvSpPr>
          <p:cNvPr id="15" name="Text 11"/>
          <p:cNvSpPr txBox="1"/>
          <p:nvPr/>
        </p:nvSpPr>
        <p:spPr>
          <a:xfrm>
            <a:off x="1143000" y="4425696"/>
            <a:ext cx="4572000" cy="640080"/>
          </a:xfrm>
          <a:prstGeom prst="rect">
            <a:avLst/>
          </a:prstGeom>
          <a:noFill/>
          <a:ln/>
        </p:spPr>
        <p:txBody>
          <a:bodyPr wrap="square" lIns="0" tIns="0" rIns="0" bIns="0" rtlCol="0" anchor="ctr"/>
          <a:lstStyle/>
          <a:p>
            <a:pPr indent="0" marL="0">
              <a:buNone/>
            </a:pPr>
            <a:r>
              <a:rPr lang="en-US" sz="1400" dirty="0">
                <a:solidFill>
                  <a:schemeClr val="tx1"/>
                </a:solidFill>
              </a:rPr>
              <a:t>No direct integration with hospital systems or emergency services</a:t>
            </a:r>
            <a:endParaRPr lang="en-US" sz="1400" dirty="0"/>
          </a:p>
        </p:txBody>
      </p:sp>
      <p:sp>
        <p:nvSpPr>
          <p:cNvPr id="16" name="Bullet dot"/>
          <p:cNvSpPr/>
          <p:nvPr/>
        </p:nvSpPr>
        <p:spPr>
          <a:xfrm>
            <a:off x="822960" y="5422392"/>
            <a:ext cx="146304" cy="146304"/>
          </a:xfrm>
          <a:prstGeom prst="ellipse">
            <a:avLst/>
          </a:prstGeom>
          <a:solidFill>
            <a:schemeClr val="accent4"/>
          </a:solidFill>
          <a:ln w="3175">
            <a:solidFill>
              <a:schemeClr val="accent4"/>
            </a:solidFill>
            <a:prstDash val="solid"/>
          </a:ln>
        </p:spPr>
      </p:sp>
      <p:sp>
        <p:nvSpPr>
          <p:cNvPr id="17" name="Text 13"/>
          <p:cNvSpPr txBox="1"/>
          <p:nvPr/>
        </p:nvSpPr>
        <p:spPr>
          <a:xfrm>
            <a:off x="1143000" y="5138928"/>
            <a:ext cx="4572000" cy="640080"/>
          </a:xfrm>
          <a:prstGeom prst="rect">
            <a:avLst/>
          </a:prstGeom>
          <a:noFill/>
          <a:ln/>
        </p:spPr>
        <p:txBody>
          <a:bodyPr wrap="square" lIns="0" tIns="0" rIns="0" bIns="0" rtlCol="0" anchor="ctr"/>
          <a:lstStyle/>
          <a:p>
            <a:pPr indent="0" marL="0">
              <a:buNone/>
            </a:pPr>
            <a:r>
              <a:rPr lang="en-US" sz="1400" dirty="0">
                <a:solidFill>
                  <a:schemeClr val="tx1"/>
                </a:solidFill>
              </a:rPr>
              <a:t>Scoring and allocation logic not clinically or operationally validated</a:t>
            </a:r>
            <a:endParaRPr lang="en-US" sz="1400" dirty="0"/>
          </a:p>
        </p:txBody>
      </p:sp>
      <p:sp>
        <p:nvSpPr>
          <p:cNvPr id="18" name="Future enhancements panel"/>
          <p:cNvSpPr/>
          <p:nvPr/>
        </p:nvSpPr>
        <p:spPr>
          <a:xfrm>
            <a:off x="6245352" y="1280160"/>
            <a:ext cx="5394960" cy="4846320"/>
          </a:xfrm>
          <a:prstGeom prst="roundRect">
            <a:avLst>
              <a:gd name="adj" fmla="val 1887"/>
            </a:avLst>
          </a:prstGeom>
          <a:solidFill>
            <a:schemeClr val="bg2"/>
          </a:solidFill>
          <a:ln w="15875">
            <a:solidFill>
              <a:schemeClr val="accent1"/>
            </a:solidFill>
            <a:prstDash val="solid"/>
          </a:ln>
        </p:spPr>
      </p:sp>
      <p:sp>
        <p:nvSpPr>
          <p:cNvPr id="19" name="Icon badge 185"/>
          <p:cNvSpPr/>
          <p:nvPr/>
        </p:nvSpPr>
        <p:spPr>
          <a:xfrm>
            <a:off x="6473952" y="1463040"/>
            <a:ext cx="548640" cy="548640"/>
          </a:xfrm>
          <a:prstGeom prst="ellipse">
            <a:avLst/>
          </a:prstGeom>
          <a:solidFill>
            <a:schemeClr val="accent1">
              <a:alpha val="22000"/>
            </a:schemeClr>
          </a:solidFill>
          <a:ln w="9525">
            <a:solidFill>
              <a:schemeClr val="accent1"/>
            </a:solidFill>
            <a:prstDash val="solid"/>
          </a:ln>
        </p:spPr>
      </p:sp>
      <p:pic>
        <p:nvPicPr>
          <p:cNvPr id="20" name="Image 1" descr="Rocket icon">    </p:cNvPr>
          <p:cNvPicPr>
            <a:picLocks noChangeAspect="1"/>
          </p:cNvPicPr>
          <p:nvPr/>
        </p:nvPicPr>
        <p:blipFill>
          <a:blip r:embed="rId2"/>
          <a:stretch>
            <a:fillRect/>
          </a:stretch>
        </p:blipFill>
        <p:spPr>
          <a:xfrm>
            <a:off x="6611112" y="1600200"/>
            <a:ext cx="274320" cy="274320"/>
          </a:xfrm>
          <a:prstGeom prst="rect">
            <a:avLst/>
          </a:prstGeom>
        </p:spPr>
      </p:pic>
      <p:sp>
        <p:nvSpPr>
          <p:cNvPr id="21" name="Text 16"/>
          <p:cNvSpPr txBox="1"/>
          <p:nvPr/>
        </p:nvSpPr>
        <p:spPr>
          <a:xfrm>
            <a:off x="7205472" y="1463040"/>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Future enhancements</a:t>
            </a:r>
            <a:endParaRPr lang="en-US" sz="2000" dirty="0"/>
          </a:p>
        </p:txBody>
      </p:sp>
      <p:sp>
        <p:nvSpPr>
          <p:cNvPr id="22" name="Bullet dot"/>
          <p:cNvSpPr/>
          <p:nvPr/>
        </p:nvSpPr>
        <p:spPr>
          <a:xfrm>
            <a:off x="6519672" y="2523744"/>
            <a:ext cx="146304" cy="146304"/>
          </a:xfrm>
          <a:prstGeom prst="ellipse">
            <a:avLst/>
          </a:prstGeom>
          <a:solidFill>
            <a:schemeClr val="accent1"/>
          </a:solidFill>
          <a:ln w="3175">
            <a:solidFill>
              <a:schemeClr val="accent1"/>
            </a:solidFill>
            <a:prstDash val="solid"/>
          </a:ln>
        </p:spPr>
      </p:sp>
      <p:sp>
        <p:nvSpPr>
          <p:cNvPr id="23" name="Text 18"/>
          <p:cNvSpPr txBox="1"/>
          <p:nvPr/>
        </p:nvSpPr>
        <p:spPr>
          <a:xfrm>
            <a:off x="6839712" y="2286000"/>
            <a:ext cx="4572000" cy="548640"/>
          </a:xfrm>
          <a:prstGeom prst="rect">
            <a:avLst/>
          </a:prstGeom>
          <a:noFill/>
          <a:ln/>
        </p:spPr>
        <p:txBody>
          <a:bodyPr wrap="square" lIns="0" tIns="0" rIns="0" bIns="0" rtlCol="0" anchor="ctr"/>
          <a:lstStyle/>
          <a:p>
            <a:pPr indent="0" marL="0">
              <a:buNone/>
            </a:pPr>
            <a:r>
              <a:rPr lang="en-US" sz="1400" dirty="0">
                <a:solidFill>
                  <a:schemeClr val="tx1"/>
                </a:solidFill>
              </a:rPr>
              <a:t>Secure backend and authentication</a:t>
            </a:r>
            <a:endParaRPr lang="en-US" sz="1400" dirty="0"/>
          </a:p>
        </p:txBody>
      </p:sp>
      <p:sp>
        <p:nvSpPr>
          <p:cNvPr id="24" name="Bullet dot"/>
          <p:cNvSpPr/>
          <p:nvPr/>
        </p:nvSpPr>
        <p:spPr>
          <a:xfrm>
            <a:off x="6519672" y="3145536"/>
            <a:ext cx="146304" cy="146304"/>
          </a:xfrm>
          <a:prstGeom prst="ellipse">
            <a:avLst/>
          </a:prstGeom>
          <a:solidFill>
            <a:schemeClr val="accent1"/>
          </a:solidFill>
          <a:ln w="3175">
            <a:solidFill>
              <a:schemeClr val="accent1"/>
            </a:solidFill>
            <a:prstDash val="solid"/>
          </a:ln>
        </p:spPr>
      </p:sp>
      <p:sp>
        <p:nvSpPr>
          <p:cNvPr id="25" name="Text 20"/>
          <p:cNvSpPr txBox="1"/>
          <p:nvPr/>
        </p:nvSpPr>
        <p:spPr>
          <a:xfrm>
            <a:off x="6839712" y="2907792"/>
            <a:ext cx="4572000" cy="548640"/>
          </a:xfrm>
          <a:prstGeom prst="rect">
            <a:avLst/>
          </a:prstGeom>
          <a:noFill/>
          <a:ln/>
        </p:spPr>
        <p:txBody>
          <a:bodyPr wrap="square" lIns="0" tIns="0" rIns="0" bIns="0" rtlCol="0" anchor="ctr"/>
          <a:lstStyle/>
          <a:p>
            <a:pPr indent="0" marL="0">
              <a:buNone/>
            </a:pPr>
            <a:r>
              <a:rPr lang="en-US" sz="1400" dirty="0">
                <a:solidFill>
                  <a:schemeClr val="tx1"/>
                </a:solidFill>
              </a:rPr>
              <a:t>Authorized hospital and ambulance system integrations</a:t>
            </a:r>
            <a:endParaRPr lang="en-US" sz="1400" dirty="0"/>
          </a:p>
        </p:txBody>
      </p:sp>
      <p:sp>
        <p:nvSpPr>
          <p:cNvPr id="26" name="Bullet dot"/>
          <p:cNvSpPr/>
          <p:nvPr/>
        </p:nvSpPr>
        <p:spPr>
          <a:xfrm>
            <a:off x="6519672" y="3767328"/>
            <a:ext cx="146304" cy="146304"/>
          </a:xfrm>
          <a:prstGeom prst="ellipse">
            <a:avLst/>
          </a:prstGeom>
          <a:solidFill>
            <a:schemeClr val="accent1"/>
          </a:solidFill>
          <a:ln w="3175">
            <a:solidFill>
              <a:schemeClr val="accent1"/>
            </a:solidFill>
            <a:prstDash val="solid"/>
          </a:ln>
        </p:spPr>
      </p:sp>
      <p:sp>
        <p:nvSpPr>
          <p:cNvPr id="27" name="Text 22"/>
          <p:cNvSpPr txBox="1"/>
          <p:nvPr/>
        </p:nvSpPr>
        <p:spPr>
          <a:xfrm>
            <a:off x="6839712" y="3529584"/>
            <a:ext cx="4572000" cy="548640"/>
          </a:xfrm>
          <a:prstGeom prst="rect">
            <a:avLst/>
          </a:prstGeom>
          <a:noFill/>
          <a:ln/>
        </p:spPr>
        <p:txBody>
          <a:bodyPr wrap="square" lIns="0" tIns="0" rIns="0" bIns="0" rtlCol="0" anchor="ctr"/>
          <a:lstStyle/>
          <a:p>
            <a:pPr indent="0" marL="0">
              <a:buNone/>
            </a:pPr>
            <a:r>
              <a:rPr lang="en-US" sz="1400" dirty="0">
                <a:solidFill>
                  <a:schemeClr val="tx1"/>
                </a:solidFill>
              </a:rPr>
              <a:t>Reliable live location and route information</a:t>
            </a:r>
            <a:endParaRPr lang="en-US" sz="1400" dirty="0"/>
          </a:p>
        </p:txBody>
      </p:sp>
      <p:sp>
        <p:nvSpPr>
          <p:cNvPr id="28" name="Bullet dot"/>
          <p:cNvSpPr/>
          <p:nvPr/>
        </p:nvSpPr>
        <p:spPr>
          <a:xfrm>
            <a:off x="6519672" y="4389120"/>
            <a:ext cx="146304" cy="146304"/>
          </a:xfrm>
          <a:prstGeom prst="ellipse">
            <a:avLst/>
          </a:prstGeom>
          <a:solidFill>
            <a:schemeClr val="accent1"/>
          </a:solidFill>
          <a:ln w="3175">
            <a:solidFill>
              <a:schemeClr val="accent1"/>
            </a:solidFill>
            <a:prstDash val="solid"/>
          </a:ln>
        </p:spPr>
      </p:sp>
      <p:sp>
        <p:nvSpPr>
          <p:cNvPr id="29" name="Text 24"/>
          <p:cNvSpPr txBox="1"/>
          <p:nvPr/>
        </p:nvSpPr>
        <p:spPr>
          <a:xfrm>
            <a:off x="6839712" y="4151376"/>
            <a:ext cx="4572000" cy="548640"/>
          </a:xfrm>
          <a:prstGeom prst="rect">
            <a:avLst/>
          </a:prstGeom>
          <a:noFill/>
          <a:ln/>
        </p:spPr>
        <p:txBody>
          <a:bodyPr wrap="square" lIns="0" tIns="0" rIns="0" bIns="0" rtlCol="0" anchor="ctr"/>
          <a:lstStyle/>
          <a:p>
            <a:pPr indent="0" marL="0">
              <a:buNone/>
            </a:pPr>
            <a:r>
              <a:rPr lang="en-US" sz="1400" dirty="0">
                <a:solidFill>
                  <a:schemeClr val="tx1"/>
                </a:solidFill>
              </a:rPr>
              <a:t>Improved monitoring and data protection</a:t>
            </a:r>
            <a:endParaRPr lang="en-US" sz="1400" dirty="0"/>
          </a:p>
        </p:txBody>
      </p:sp>
      <p:sp>
        <p:nvSpPr>
          <p:cNvPr id="30" name="Bullet dot"/>
          <p:cNvSpPr/>
          <p:nvPr/>
        </p:nvSpPr>
        <p:spPr>
          <a:xfrm>
            <a:off x="6519672" y="5010912"/>
            <a:ext cx="146304" cy="146304"/>
          </a:xfrm>
          <a:prstGeom prst="ellipse">
            <a:avLst/>
          </a:prstGeom>
          <a:solidFill>
            <a:schemeClr val="accent1"/>
          </a:solidFill>
          <a:ln w="3175">
            <a:solidFill>
              <a:schemeClr val="accent1"/>
            </a:solidFill>
            <a:prstDash val="solid"/>
          </a:ln>
        </p:spPr>
      </p:sp>
      <p:sp>
        <p:nvSpPr>
          <p:cNvPr id="31" name="Text 26"/>
          <p:cNvSpPr txBox="1"/>
          <p:nvPr/>
        </p:nvSpPr>
        <p:spPr>
          <a:xfrm>
            <a:off x="6839712" y="4773168"/>
            <a:ext cx="4572000" cy="548640"/>
          </a:xfrm>
          <a:prstGeom prst="rect">
            <a:avLst/>
          </a:prstGeom>
          <a:noFill/>
          <a:ln/>
        </p:spPr>
        <p:txBody>
          <a:bodyPr wrap="square" lIns="0" tIns="0" rIns="0" bIns="0" rtlCol="0" anchor="ctr"/>
          <a:lstStyle/>
          <a:p>
            <a:pPr indent="0" marL="0">
              <a:buNone/>
            </a:pPr>
            <a:r>
              <a:rPr lang="en-US" sz="1400" dirty="0">
                <a:solidFill>
                  <a:schemeClr val="tx1"/>
                </a:solidFill>
              </a:rPr>
              <a:t>Systematic testing and evaluation with qualified professionals</a:t>
            </a:r>
            <a:endParaRPr lang="en-US" sz="1400" dirty="0"/>
          </a:p>
        </p:txBody>
      </p:sp>
      <p:sp>
        <p:nvSpPr>
          <p:cNvPr id="32" name="Bullet dot"/>
          <p:cNvSpPr/>
          <p:nvPr/>
        </p:nvSpPr>
        <p:spPr>
          <a:xfrm>
            <a:off x="6519672" y="5632704"/>
            <a:ext cx="146304" cy="146304"/>
          </a:xfrm>
          <a:prstGeom prst="ellipse">
            <a:avLst/>
          </a:prstGeom>
          <a:solidFill>
            <a:schemeClr val="accent1"/>
          </a:solidFill>
          <a:ln w="3175">
            <a:solidFill>
              <a:schemeClr val="accent1"/>
            </a:solidFill>
            <a:prstDash val="solid"/>
          </a:ln>
        </p:spPr>
      </p:sp>
      <p:sp>
        <p:nvSpPr>
          <p:cNvPr id="33" name="Text 28"/>
          <p:cNvSpPr txBox="1"/>
          <p:nvPr/>
        </p:nvSpPr>
        <p:spPr>
          <a:xfrm>
            <a:off x="6839712" y="5394960"/>
            <a:ext cx="4572000" cy="548640"/>
          </a:xfrm>
          <a:prstGeom prst="rect">
            <a:avLst/>
          </a:prstGeom>
          <a:noFill/>
          <a:ln/>
        </p:spPr>
        <p:txBody>
          <a:bodyPr wrap="square" lIns="0" tIns="0" rIns="0" bIns="0" rtlCol="0" anchor="ctr"/>
          <a:lstStyle/>
          <a:p>
            <a:pPr indent="0" marL="0">
              <a:buNone/>
            </a:pPr>
            <a:r>
              <a:rPr lang="en-US" sz="1400" dirty="0">
                <a:solidFill>
                  <a:schemeClr val="tx1"/>
                </a:solidFill>
              </a:rPr>
              <a:t>Usability and accessibility improvements</a:t>
            </a:r>
            <a:endParaRPr lang="en-US" sz="14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CONCLUSION AND Q&amp;A</a:t>
            </a:r>
            <a:endParaRPr lang="en-US" sz="3200" dirty="0"/>
          </a:p>
        </p:txBody>
      </p:sp>
      <p:sp>
        <p:nvSpPr>
          <p:cNvPr id="4" name="Conclusion panel"/>
          <p:cNvSpPr/>
          <p:nvPr/>
        </p:nvSpPr>
        <p:spPr>
          <a:xfrm>
            <a:off x="548640" y="1280160"/>
            <a:ext cx="7040880" cy="4846320"/>
          </a:xfrm>
          <a:prstGeom prst="roundRect">
            <a:avLst>
              <a:gd name="adj" fmla="val 1887"/>
            </a:avLst>
          </a:prstGeom>
          <a:solidFill>
            <a:schemeClr val="bg2"/>
          </a:solidFill>
          <a:ln w="9525">
            <a:solidFill>
              <a:schemeClr val="accent6"/>
            </a:solidFill>
            <a:prstDash val="solid"/>
          </a:ln>
        </p:spPr>
      </p:sp>
      <p:sp>
        <p:nvSpPr>
          <p:cNvPr id="5" name="Text 2"/>
          <p:cNvSpPr txBox="1"/>
          <p:nvPr/>
        </p:nvSpPr>
        <p:spPr>
          <a:xfrm>
            <a:off x="822960" y="1463040"/>
            <a:ext cx="4572000" cy="411480"/>
          </a:xfrm>
          <a:prstGeom prst="rect">
            <a:avLst/>
          </a:prstGeom>
          <a:noFill/>
          <a:ln/>
        </p:spPr>
        <p:txBody>
          <a:bodyPr wrap="square" lIns="0" tIns="0" rIns="0" bIns="0" rtlCol="0" anchor="t"/>
          <a:lstStyle/>
          <a:p>
            <a:pPr indent="0" marL="0">
              <a:buNone/>
            </a:pPr>
            <a:r>
              <a:rPr lang="en-US" sz="2000" b="1" dirty="0">
                <a:solidFill>
                  <a:schemeClr val="accent2"/>
                </a:solidFill>
              </a:rPr>
              <a:t>Conclusion</a:t>
            </a:r>
            <a:endParaRPr lang="en-US" sz="2000" dirty="0"/>
          </a:p>
        </p:txBody>
      </p:sp>
      <p:sp>
        <p:nvSpPr>
          <p:cNvPr id="6" name="Icon badge 186"/>
          <p:cNvSpPr/>
          <p:nvPr/>
        </p:nvSpPr>
        <p:spPr>
          <a:xfrm>
            <a:off x="822960" y="2103120"/>
            <a:ext cx="548640" cy="548640"/>
          </a:xfrm>
          <a:prstGeom prst="ellipse">
            <a:avLst/>
          </a:prstGeom>
          <a:solidFill>
            <a:schemeClr val="accent1">
              <a:alpha val="22000"/>
            </a:schemeClr>
          </a:solidFill>
          <a:ln w="9525">
            <a:solidFill>
              <a:schemeClr val="accent1"/>
            </a:solidFill>
            <a:prstDash val="solid"/>
          </a:ln>
        </p:spPr>
      </p:sp>
      <p:pic>
        <p:nvPicPr>
          <p:cNvPr id="7" name="Image 0" descr="LayerGroup icon">    </p:cNvPr>
          <p:cNvPicPr>
            <a:picLocks noChangeAspect="1"/>
          </p:cNvPicPr>
          <p:nvPr/>
        </p:nvPicPr>
        <p:blipFill>
          <a:blip r:embed="rId1"/>
          <a:stretch>
            <a:fillRect/>
          </a:stretch>
        </p:blipFill>
        <p:spPr>
          <a:xfrm>
            <a:off x="960120" y="2240280"/>
            <a:ext cx="274320" cy="274320"/>
          </a:xfrm>
          <a:prstGeom prst="rect">
            <a:avLst/>
          </a:prstGeom>
        </p:spPr>
      </p:pic>
      <p:sp>
        <p:nvSpPr>
          <p:cNvPr id="8" name="Text 4"/>
          <p:cNvSpPr txBox="1"/>
          <p:nvPr/>
        </p:nvSpPr>
        <p:spPr>
          <a:xfrm>
            <a:off x="1554480" y="2057400"/>
            <a:ext cx="5760720" cy="640080"/>
          </a:xfrm>
          <a:prstGeom prst="rect">
            <a:avLst/>
          </a:prstGeom>
          <a:noFill/>
          <a:ln/>
        </p:spPr>
        <p:txBody>
          <a:bodyPr wrap="square" lIns="0" tIns="0" rIns="0" bIns="0" rtlCol="0" anchor="ctr"/>
          <a:lstStyle/>
          <a:p>
            <a:pPr indent="0" marL="0">
              <a:buNone/>
            </a:pPr>
            <a:r>
              <a:rPr lang="en-US" sz="1500" dirty="0">
                <a:solidFill>
                  <a:schemeClr val="tx1"/>
                </a:solidFill>
              </a:rPr>
              <a:t>Integrates emergency intake, rule-based severity analysis and resource allocation in one web application.</a:t>
            </a:r>
            <a:endParaRPr lang="en-US" sz="1500" dirty="0"/>
          </a:p>
        </p:txBody>
      </p:sp>
      <p:sp>
        <p:nvSpPr>
          <p:cNvPr id="9" name="Icon badge 187"/>
          <p:cNvSpPr/>
          <p:nvPr/>
        </p:nvSpPr>
        <p:spPr>
          <a:xfrm>
            <a:off x="822960" y="3017520"/>
            <a:ext cx="548640" cy="548640"/>
          </a:xfrm>
          <a:prstGeom prst="ellipse">
            <a:avLst/>
          </a:prstGeom>
          <a:solidFill>
            <a:schemeClr val="accent2">
              <a:alpha val="22000"/>
            </a:schemeClr>
          </a:solidFill>
          <a:ln w="9525">
            <a:solidFill>
              <a:schemeClr val="accent2"/>
            </a:solidFill>
            <a:prstDash val="solid"/>
          </a:ln>
        </p:spPr>
      </p:sp>
      <p:pic>
        <p:nvPicPr>
          <p:cNvPr id="10" name="Image 1" descr="Code icon">    </p:cNvPr>
          <p:cNvPicPr>
            <a:picLocks noChangeAspect="1"/>
          </p:cNvPicPr>
          <p:nvPr/>
        </p:nvPicPr>
        <p:blipFill>
          <a:blip r:embed="rId2"/>
          <a:stretch>
            <a:fillRect/>
          </a:stretch>
        </p:blipFill>
        <p:spPr>
          <a:xfrm>
            <a:off x="960120" y="3154680"/>
            <a:ext cx="274320" cy="274320"/>
          </a:xfrm>
          <a:prstGeom prst="rect">
            <a:avLst/>
          </a:prstGeom>
        </p:spPr>
      </p:pic>
      <p:sp>
        <p:nvSpPr>
          <p:cNvPr id="11" name="Text 6"/>
          <p:cNvSpPr txBox="1"/>
          <p:nvPr/>
        </p:nvSpPr>
        <p:spPr>
          <a:xfrm>
            <a:off x="1554480" y="2971800"/>
            <a:ext cx="5760720" cy="640080"/>
          </a:xfrm>
          <a:prstGeom prst="rect">
            <a:avLst/>
          </a:prstGeom>
          <a:noFill/>
          <a:ln/>
        </p:spPr>
        <p:txBody>
          <a:bodyPr wrap="square" lIns="0" tIns="0" rIns="0" bIns="0" rtlCol="0" anchor="ctr"/>
          <a:lstStyle/>
          <a:p>
            <a:pPr indent="0" marL="0">
              <a:buNone/>
            </a:pPr>
            <a:r>
              <a:rPr lang="en-US" sz="1500" dirty="0">
                <a:solidFill>
                  <a:schemeClr val="tx1"/>
                </a:solidFill>
              </a:rPr>
              <a:t>Demonstrates a full-stack design with React, FastAPI, SQLAlchemy and SQLite.</a:t>
            </a:r>
            <a:endParaRPr lang="en-US" sz="1500" dirty="0"/>
          </a:p>
        </p:txBody>
      </p:sp>
      <p:sp>
        <p:nvSpPr>
          <p:cNvPr id="12" name="Icon badge 188"/>
          <p:cNvSpPr/>
          <p:nvPr/>
        </p:nvSpPr>
        <p:spPr>
          <a:xfrm>
            <a:off x="822960" y="3931920"/>
            <a:ext cx="548640" cy="548640"/>
          </a:xfrm>
          <a:prstGeom prst="ellipse">
            <a:avLst/>
          </a:prstGeom>
          <a:solidFill>
            <a:schemeClr val="accent4">
              <a:alpha val="22000"/>
            </a:schemeClr>
          </a:solidFill>
          <a:ln w="9525">
            <a:solidFill>
              <a:schemeClr val="accent4"/>
            </a:solidFill>
            <a:prstDash val="solid"/>
          </a:ln>
        </p:spPr>
      </p:sp>
      <p:pic>
        <p:nvPicPr>
          <p:cNvPr id="13" name="Image 2" descr="Route icon">    </p:cNvPr>
          <p:cNvPicPr>
            <a:picLocks noChangeAspect="1"/>
          </p:cNvPicPr>
          <p:nvPr/>
        </p:nvPicPr>
        <p:blipFill>
          <a:blip r:embed="rId3"/>
          <a:stretch>
            <a:fillRect/>
          </a:stretch>
        </p:blipFill>
        <p:spPr>
          <a:xfrm>
            <a:off x="960120" y="4069080"/>
            <a:ext cx="274320" cy="274320"/>
          </a:xfrm>
          <a:prstGeom prst="rect">
            <a:avLst/>
          </a:prstGeom>
        </p:spPr>
      </p:pic>
      <p:sp>
        <p:nvSpPr>
          <p:cNvPr id="14" name="Text 8"/>
          <p:cNvSpPr txBox="1"/>
          <p:nvPr/>
        </p:nvSpPr>
        <p:spPr>
          <a:xfrm>
            <a:off x="1554480" y="3886200"/>
            <a:ext cx="5760720" cy="640080"/>
          </a:xfrm>
          <a:prstGeom prst="rect">
            <a:avLst/>
          </a:prstGeom>
          <a:noFill/>
          <a:ln/>
        </p:spPr>
        <p:txBody>
          <a:bodyPr wrap="square" lIns="0" tIns="0" rIns="0" bIns="0" rtlCol="0" anchor="ctr"/>
          <a:lstStyle/>
          <a:p>
            <a:pPr indent="0" marL="0">
              <a:buNone/>
            </a:pPr>
            <a:r>
              <a:rPr lang="en-US" sz="1500" dirty="0">
                <a:solidFill>
                  <a:schemeClr val="tx1"/>
                </a:solidFill>
              </a:rPr>
              <a:t>Provides a base for secure, validated and integrated future work.</a:t>
            </a:r>
            <a:endParaRPr lang="en-US" sz="1500" dirty="0"/>
          </a:p>
        </p:txBody>
      </p:sp>
      <p:sp>
        <p:nvSpPr>
          <p:cNvPr id="15" name="Prototype badge"/>
          <p:cNvSpPr/>
          <p:nvPr/>
        </p:nvSpPr>
        <p:spPr>
          <a:xfrm>
            <a:off x="822960" y="4983480"/>
            <a:ext cx="6492240" cy="822960"/>
          </a:xfrm>
          <a:prstGeom prst="roundRect">
            <a:avLst>
              <a:gd name="adj" fmla="val 11111"/>
            </a:avLst>
          </a:prstGeom>
          <a:solidFill>
            <a:schemeClr val="accent4">
              <a:alpha val="12000"/>
            </a:schemeClr>
          </a:solidFill>
          <a:ln w="12700">
            <a:solidFill>
              <a:schemeClr val="accent4"/>
            </a:solidFill>
            <a:prstDash val="solid"/>
          </a:ln>
        </p:spPr>
      </p:sp>
      <p:sp>
        <p:nvSpPr>
          <p:cNvPr id="16" name="Icon badge 189"/>
          <p:cNvSpPr/>
          <p:nvPr/>
        </p:nvSpPr>
        <p:spPr>
          <a:xfrm>
            <a:off x="1005840" y="5166360"/>
            <a:ext cx="457200" cy="457200"/>
          </a:xfrm>
          <a:prstGeom prst="ellipse">
            <a:avLst/>
          </a:prstGeom>
          <a:solidFill>
            <a:schemeClr val="accent4">
              <a:alpha val="22000"/>
            </a:schemeClr>
          </a:solidFill>
          <a:ln w="9525">
            <a:solidFill>
              <a:schemeClr val="accent4"/>
            </a:solidFill>
            <a:prstDash val="solid"/>
          </a:ln>
        </p:spPr>
      </p:sp>
      <p:pic>
        <p:nvPicPr>
          <p:cNvPr id="17" name="Image 3" descr="ExclamationTriangle icon">    </p:cNvPr>
          <p:cNvPicPr>
            <a:picLocks noChangeAspect="1"/>
          </p:cNvPicPr>
          <p:nvPr/>
        </p:nvPicPr>
        <p:blipFill>
          <a:blip r:embed="rId4"/>
          <a:stretch>
            <a:fillRect/>
          </a:stretch>
        </p:blipFill>
        <p:spPr>
          <a:xfrm>
            <a:off x="1120140" y="5280660"/>
            <a:ext cx="228600" cy="228600"/>
          </a:xfrm>
          <a:prstGeom prst="rect">
            <a:avLst/>
          </a:prstGeom>
        </p:spPr>
      </p:pic>
      <p:sp>
        <p:nvSpPr>
          <p:cNvPr id="18" name="Text 11"/>
          <p:cNvSpPr txBox="1"/>
          <p:nvPr/>
        </p:nvSpPr>
        <p:spPr>
          <a:xfrm>
            <a:off x="1645920" y="4983480"/>
            <a:ext cx="5577840" cy="822960"/>
          </a:xfrm>
          <a:prstGeom prst="rect">
            <a:avLst/>
          </a:prstGeom>
          <a:noFill/>
          <a:ln/>
        </p:spPr>
        <p:txBody>
          <a:bodyPr wrap="square" lIns="0" tIns="0" rIns="0" bIns="0" rtlCol="0" anchor="ctr"/>
          <a:lstStyle/>
          <a:p>
            <a:pPr indent="0" marL="0">
              <a:buNone/>
            </a:pPr>
            <a:r>
              <a:rPr lang="en-US" sz="1600" b="1" dirty="0">
                <a:solidFill>
                  <a:schemeClr val="tx1"/>
                </a:solidFill>
              </a:rPr>
              <a:t>Educational prototype – not a production clinical system.</a:t>
            </a:r>
            <a:endParaRPr lang="en-US" sz="1600" dirty="0"/>
          </a:p>
        </p:txBody>
      </p:sp>
      <p:sp>
        <p:nvSpPr>
          <p:cNvPr id="19" name="Thank you panel"/>
          <p:cNvSpPr/>
          <p:nvPr/>
        </p:nvSpPr>
        <p:spPr>
          <a:xfrm>
            <a:off x="7863840" y="1280160"/>
            <a:ext cx="3776472" cy="4846320"/>
          </a:xfrm>
          <a:prstGeom prst="roundRect">
            <a:avLst>
              <a:gd name="adj" fmla="val 2421"/>
            </a:avLst>
          </a:prstGeom>
          <a:solidFill>
            <a:schemeClr val="accent1">
              <a:alpha val="15000"/>
            </a:schemeClr>
          </a:solidFill>
          <a:ln w="19050">
            <a:solidFill>
              <a:schemeClr val="accent1"/>
            </a:solidFill>
            <a:prstDash val="solid"/>
          </a:ln>
        </p:spPr>
      </p:sp>
      <p:sp>
        <p:nvSpPr>
          <p:cNvPr id="20" name="Icon badge 190"/>
          <p:cNvSpPr/>
          <p:nvPr/>
        </p:nvSpPr>
        <p:spPr>
          <a:xfrm>
            <a:off x="9098280" y="2103120"/>
            <a:ext cx="1325880" cy="1325880"/>
          </a:xfrm>
          <a:prstGeom prst="ellipse">
            <a:avLst/>
          </a:prstGeom>
          <a:solidFill>
            <a:schemeClr val="accent1">
              <a:alpha val="22000"/>
            </a:schemeClr>
          </a:solidFill>
          <a:ln w="9525">
            <a:solidFill>
              <a:schemeClr val="accent1"/>
            </a:solidFill>
            <a:prstDash val="solid"/>
          </a:ln>
        </p:spPr>
      </p:sp>
      <p:pic>
        <p:nvPicPr>
          <p:cNvPr id="21" name="Image 4" descr="Handshake icon">    </p:cNvPr>
          <p:cNvPicPr>
            <a:picLocks noChangeAspect="1"/>
          </p:cNvPicPr>
          <p:nvPr/>
        </p:nvPicPr>
        <p:blipFill>
          <a:blip r:embed="rId5"/>
          <a:stretch>
            <a:fillRect/>
          </a:stretch>
        </p:blipFill>
        <p:spPr>
          <a:xfrm>
            <a:off x="9429750" y="2434590"/>
            <a:ext cx="662940" cy="662940"/>
          </a:xfrm>
          <a:prstGeom prst="rect">
            <a:avLst/>
          </a:prstGeom>
        </p:spPr>
      </p:pic>
      <p:sp>
        <p:nvSpPr>
          <p:cNvPr id="22" name="Text 14"/>
          <p:cNvSpPr txBox="1"/>
          <p:nvPr/>
        </p:nvSpPr>
        <p:spPr>
          <a:xfrm>
            <a:off x="7863840" y="3749040"/>
            <a:ext cx="3776472" cy="640080"/>
          </a:xfrm>
          <a:prstGeom prst="rect">
            <a:avLst/>
          </a:prstGeom>
          <a:noFill/>
          <a:ln/>
        </p:spPr>
        <p:txBody>
          <a:bodyPr wrap="square" lIns="0" tIns="0" rIns="0" bIns="0" rtlCol="0" anchor="t"/>
          <a:lstStyle/>
          <a:p>
            <a:pPr algn="ctr" indent="0" marL="0">
              <a:buNone/>
            </a:pPr>
            <a:r>
              <a:rPr lang="en-US" sz="3400" b="1" dirty="0">
                <a:solidFill>
                  <a:schemeClr val="accent1"/>
                </a:solidFill>
              </a:rPr>
              <a:t>THANK YOU</a:t>
            </a:r>
            <a:endParaRPr lang="en-US" sz="3400" dirty="0"/>
          </a:p>
        </p:txBody>
      </p:sp>
      <p:sp>
        <p:nvSpPr>
          <p:cNvPr id="23" name="Text 15"/>
          <p:cNvSpPr txBox="1"/>
          <p:nvPr/>
        </p:nvSpPr>
        <p:spPr>
          <a:xfrm>
            <a:off x="7863840" y="4434840"/>
            <a:ext cx="3776472" cy="457200"/>
          </a:xfrm>
          <a:prstGeom prst="rect">
            <a:avLst/>
          </a:prstGeom>
          <a:noFill/>
          <a:ln/>
        </p:spPr>
        <p:txBody>
          <a:bodyPr wrap="square" lIns="0" tIns="0" rIns="0" bIns="0" rtlCol="0" anchor="t"/>
          <a:lstStyle/>
          <a:p>
            <a:pPr algn="ctr" indent="0" marL="0">
              <a:buNone/>
            </a:pPr>
            <a:r>
              <a:rPr lang="en-US" sz="2000" dirty="0">
                <a:solidFill>
                  <a:schemeClr val="tx1"/>
                </a:solidFill>
              </a:rPr>
              <a:t>Questions &amp; Answers</a:t>
            </a:r>
            <a:endParaRPr lang="en-US" sz="2000" dirty="0"/>
          </a:p>
        </p:txBody>
      </p:sp>
      <p:sp>
        <p:nvSpPr>
          <p:cNvPr id="25" name="Slide Number Placeholder 0"/>
          <p:cNvSpPr>
            <a:spLocks noGrp="1"/>
          </p:cNvSpPr>
          <p:nvPr>
            <p:ph type="sldNum" sz="quarter" idx="4294967295"/>
          </p:nvPr>
        </p:nvSpPr>
        <p:spPr>
          <a:xfrm>
            <a:off x="10881360" y="6419088"/>
            <a:ext cx="75895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mergencyAI Dark">
  <a:themeElements>
    <a:clrScheme name="EmergencyAI Dark">
      <a:dk1>
        <a:srgbClr val="F1F5F9"/>
      </a:dk1>
      <a:lt1>
        <a:srgbClr val="0B1220"/>
      </a:lt1>
      <a:dk2>
        <a:srgbClr val="9FB3C8"/>
      </a:dk2>
      <a:lt2>
        <a:srgbClr val="111C36"/>
      </a:lt2>
      <a:accent1>
        <a:srgbClr val="14B8A6"/>
      </a:accent1>
      <a:accent2>
        <a:srgbClr val="22D3EE"/>
      </a:accent2>
      <a:accent3>
        <a:srgbClr val="EF4444"/>
      </a:accent3>
      <a:accent4>
        <a:srgbClr val="F59E0B"/>
      </a:accent4>
      <a:accent5>
        <a:srgbClr val="F97316"/>
      </a:accent5>
      <a:accent6>
        <a:srgbClr val="24406B"/>
      </a:accent6>
      <a:hlink>
        <a:srgbClr val="22D3EE"/>
      </a:hlink>
      <a:folHlink>
        <a:srgbClr val="9FB3C8"/>
      </a:folHlink>
    </a:clrScheme>
    <a:fontScheme name="EmergencyAI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EmergencyAI – AI-Based Emergency Response Coordination and Smart Hospital Resource Allocation System</dc:title>
  <dc:subject>PptxGenJS Presentation</dc:subject>
  <dc:creator>SAHANA A, SAHANA P</dc:creator>
  <cp:lastModifiedBy>SAHANA A, SAHANA P</cp:lastModifiedBy>
  <cp:revision>1</cp:revision>
  <dcterms:created xsi:type="dcterms:W3CDTF">2026-10-20T07:06:08Z</dcterms:created>
  <dcterms:modified xsi:type="dcterms:W3CDTF">2026-10-20T07:06:08Z</dcterms:modified>
</cp:coreProperties>
</file>